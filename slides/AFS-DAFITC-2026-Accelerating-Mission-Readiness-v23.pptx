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Michael Forrester, I lead AI Workforce Transformation at Accenture LearnVantage. Your department has decided that demonstrated competency is the standard. This session is about the only question that follows from it: how do you demonstrate it? Two demonstrations are coming. Whether you ever speak to me or to Accenture Federal Services again, I want you to leave with that one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tell you anything, I want to reflect back what you already know. The small S-numbers on these slides are source citations. The full list is at the back and in the leave-behind. GenAI.mil has reached nearly 1.7 million users, and your people have built more than a hundred thousand custom agents on it. That is an official self-report, not an audited figure. [CDAO Cameron Stanley, AWS Summit DC, reported by Defense One and Nextgov, July 1 and 2, 2026.] Agent Designer is the platform's own agent-building workbench, shipped in March, and those hundred thousand agents are being built by line personnel, not developers. That is not a force resisting AI. That is a force that started without waiting for permission. So the question is not whether to adopt AI. You already have. The question is what the next level looks like, and how you climb it deliberately.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stack you are being measured against right now. NSPM-11 was signed in June and organizes the national security enterprise around four pillars. It directs an update to the autonomy directive, standardized test and evaluation, and an AI curriculum for the national security workforce. [White House, NSPM-11, June 5, 2026.] The January strategy is why the pressure keeps rising: an AI-first warfighting force, seven pace-setting projects, and unusually aggressive data access language. [DoW AI strategy memoranda, January 9, 2026.] Your own department answered in April. The DAF AI Strategy, and an AI Talent Plan that sets baseline AI literacy across the entire force, which makes competency a requirement for everyone rather than a specialist track. [DAF AI Strategy, April 17, 2026; DAF AI Hiring and Talent Development Plan, April 28, 2026.] And SWFT with continuous authorization is the assurance side already moving at speed: continuous machine-readable evidence instead of a paper package. Later I will show you that same pattern applied to AI behavior. Four directives. One workforce question at the core of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not here to convince you AI matters. Your department settled that. The DAF AI Talent Plan, approved in April, sets a hard target: AI Competitive by 2027. It defines the two workforce tracks on the screen, specialists for depth and AI-enabled operators for breadth. And it changes how you measure success, from seat time to demonstrated competency. Hold onto that phrase. Everything I show today maps to that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the gap, and it is the reason I am standing here. You have already decided that demonstrated competency is the metric. Your plan says it in writing. What no directive tells you is how to measure it. That is what the next forty minutes are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this room used GenAI.mil this week and would tell me they are fluent. That belief is the challenge. Sixteen experienced open-source developers, 246 tasks on mature projects they averaged five years working in. Before starting they forecast AI would cut completion time by 24 percent. Afterwards they estimated it had cut it by 20 percent. It increased completion time by 19 percent. [METR, Measuring the Impact of Early-2025 AI on Experienced Open-Source Developer Productivity, July 2025, arXiv 2507.09089.] Say open-source developers on mature projects, not practitioners generally; the qualifier removes the obvious objection and makes the claim stronger. The experts were wrong too. Economists predicted 39 percent faster. Machine learning researchers predicted 38 percent faster. And this is the part to weight. METR redesigned the experiment in February 2026 rather than repeat it. Too many developers declined to take part because they did not want to work without AI, which biases the result; the pay rate had dropped from $150 to $50 an hour, and their own time-on-task measurements proved unreliable. [METR, We are Changing our Developer Productivity Experiment Design, 24 February 2026.] Do not say it could not be repeated. They chose to change the design because the signal was unreliable, and that distinction matters in a room that reads studies. Do not say time was measured by screen recording; the paper does not establish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plan says proven skills, not course completion. Your CFETPs already tell you how to prove a skill, task by task, graded by how much supervision it still needs. Nobody has pointed the second at the first. That is all this is. Note the shape: letters are knowledge, numbers are task performance, and a person carries both at once. A code like 1b is a real placement, knows the procedures and can do the simple parts. Level three is the one to sit on. Competent does not mean did it well. It means needs only a spot check of completed work. The scale grades by how much of someone else’s attention the work still consumes. Career Field Education and Training Plan, published by HQ USAF, one per Air Force Specialty Code. Placed in the AF Form 623 it becomes that Airman’s Job Qualification Standard, and a trainer and a certifier initial each task. The plain reading of the two scales: do they know the words, do they know the steps, do they understand the principles well enough to adapt, do they understand the theory well enough to troubleshoot. Expertise is the knowledge. Experience is its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and the words matter. Knowledge training is generalized knowledge. Necessary, not sufficient, and completion is all it can prove. General skill acquisition is skill that transfers, and it is valuable in its own right; assessment proves it. Context-specific outcomes are demonstrated competency in a specific situation, and only a capstone in your own environment proves that. Everything about the knife is knowledge: the hilt, how you hold it, whether it is for combat or utility. Encyclopedic. Using it to fillet a fish is skill: where to cut, where not to cut, how to keep it fresh. Fish in general. Filleting a marlin because you live near the ocean, or a trout because you live near fresh water, is the outcome. And the codes from the last slide map straight onto this: the letters are knowledge, the numbers are task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up one stage, because training is where this starts and where most of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all training is equal. A generic prompt-engineering course does not transfer to a targeting cell or a cyber-defense watch floor. The answer has to come out of your cleared corpus and cite the section, so the operator can check it. And it has to arrive during the task, not three weeks earlier in a classroom. Generic AI knowledge does not survive contact with a real task. You still need it, the same way you need to know how the weapon works before you ever fire it. The concrete version: if you are working on Kubernetes and your agent has no Kubernetes documentation, it cannot help you. A human being is no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This is the second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skill is worth having on its own, and I do not want the outcome argument to imply otherwise. Learning to fillet a fish generically is useful before you ever see the specific fish. Learning to fly a plane extrapolates to other planes; you still certify on each airframe, and the base still carries. We build the general so we can reach the specific. They are not the same thing, and outcome building gives you something general skill cannot. And keep your skills as deterministic as you can. Do not have the AI rename a file; have it call something that renames the file. Do not have the AI copy records between systems; have it write a script you can run again. This is true of people and of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training moment, and I want it framed on the person rather than the machine. What has this person taken? What do they know? What skills have they built, and what are they building next? That is the whole product question. This assesses them, builds a personalized path, and coaches at the point of need in the flow of the task, grounded in the cleared corpus with the section cited so they can check it. And this has to be hands-on. There is no version of this that is not hands-on. What it produces is reliable, repeatable training moments. And whoever handles your training owes you a dashboard. What this person is trained in. What they are good at. What they know. What they do not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stage. This is the one your plan is actually asking for. And a definition before the demonstrations, because I use the phrase throughout: a training moment is guidance the operator can trust, arriving during the task, grounded in cleared doctrine, and constrained so it cannot say what it should not. Reliable enough to repeat. What these demonstrations produce is reliable, repeatable training moments.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skill, different answer every time. Windows against Linux. Python against TypeScript. Statically typed against dynamically typed. The whole landscape changes from the operating system alone. Every one of these changes the answer. That is the competency your plan is actually asking for, and it is the one no course completion can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artefact. Their own workflow, not a sandbox exercise. Their own tools and their own corpus: doctrine and TTPs for operators, defensive playbooks and response procedures for cyber defenders. Measured against the workflow’s existing measures, which means the training provider does not get to define success. And evaluated by someone who can tell them whether they actually did it right. That is what makes it an outcome rather than a certificate. One more thing about the environment. In many cases we cannot get access to production, and not only that, we do not want to. Risk is high the minute we start touching production. So the capstone is simulated, and in many cases it is a git repository. Which gives you a buying rule: do not deal with a vendor who cannot give you a simulated, or real, in-your-environment production experience. A vendor who does not support that outcome does not understand that seat time will not help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task, same standard, measured twice. Before the path: knowledge b, procedures, can follow the steps. Task performance 2, partially proficient, needs help on the hardest parts. Assessed by an evaluator against the published standard. After the capstone: the same task, knowledge c, operating principles, knows why each step is needed. Task performance 3, competent, needs only a spot check. Same evaluator, same standard. Assessed before the task and after it. Fifteen minutes each. Not heavy. Same instrument both times, and the delta is the deliverable, not the certificate. And here is the line I want you to leave with. You already measure competency this way. Level three is not &amp;quot;did it well&amp;quot;, it is &amp;quot;needs only a spot check&amp;quot;. Your plan is not asking for a new kind of proof. It is asking why AI is the one skill we were going to take on self-report.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training moment, and it is the enforcement one. The failure mode is not the model. It is retrieval. When documents become vectors they lose their source permissions, so a system without role-aware retrieval will happily surface material a user was never cleared to see. OWASP added vector and embedding weaknesses as their own category this year, and prompt injection sits at number one. [OWASP Top 10 for LLM Applications, 2025.] So: redact before ingestion rather than after retrieval, filter retrieval by role at retrieval time, and log it. That maps to the framework and control catalogue you already operate under. [NIST AI RMF, AI 100-1; NIST SP 800-53 Rev. 5.] The same mechanism serves cyber defenders: the corpus becomes defensive playbooks and response procedures, and the enforcement layer does not change. Nothing here asked the model to behave. That is the point, and THE CORE IDEA later in the deck makes the argument this slide is the evidence for. When an agent calls a tool on your behalf, the call has to execute with your authority and your scope, not the application’s. If I log in and ask for something I have no clearance for, the answer has to be no, because the request is running as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Breadth. Adaptive digital training, self-paced role paths at scale. This is stage one and part of stage two: knowledge acquisition, and knowledge in the context of a specific workflow. Be careful here, because the obvious mapping is the wrong one. This is not the operator product. Both modes serve both tracks. The stage decides which you need, not whether the person is an operator or a specialist.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Depth. Hands-on, instructor-led, lab-based technical practice. This is stage two into stage three: deep immersion, capstones, outcome confirmation under expert evaluation. If you want to fillet a marlin specifically, under someone who can tell you whether you actually did it right, this is it. And the same paths serve cyber defenders; the corpus changes to defensive playbooks and response procedures, and the enforcement layer does not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has been about people. This is the seam. What follows is what is true about AI right now, because some of what you may still believe is no longer true, and each one changes how you train. Five of them, and each one changes how you train. Pilots do not fail because the models are weak. Buying or partnering beat building, about two to one. AI amplifies the system you already have. A guardrail the model enforces on itself is not a guardrail. And hallucinations are not unsolvable.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industry number you have heard is that ninety-five percent of enterprise AI pilots deliver nothing. I am not putting that number on a slide, because it came largely from fifty-two qualitative interviews and the authors themselves called it directionally accurate. [MIT Project NANDA, The GenAI Divide, July 2025.] What is well supported is the failure mode: generic tools bolted onto workflows nobody redesigned. Choosing the right technology is not the answer to this problem. Choosing the right process is, and then asking whether that process has to change because the tool changed. The same study found buying or partnering succeeded about twice as often as building, and that back-office work returned more than the sales and marketing pilots that took over half the budget. Gartner forecasts more than forty percent of agentic projects canceled by the end of 2027 on cost, unclear value, or inadequate risk controls. [Gartner, June 25, 2025. Forecast.] And the federal version of the same lesson, from GAO this April: agencies are not systematically capturing what they learn. [GAO-26-107859, April 13, 2026.] The contrast is not the model. PANDA, the Air Force predictive aircraft maintenance program, works because the workflow is bounded, the output is verifiable, and a maintainer stays in the loop. The programs GAO flagged could not use their own model outputs, because data rights were never negotiated at award, and nobody wrote down why. Whether anyone chose the workflow carefully and measured what happened is the whole difference. And the split behind all of this is BCG’s 10/20/70: roughly 10 percent algorithms, 20 percent technology and data, 70 percent people and process. Which is why this is a workforce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you choose. Seven questions. Is the workflow a bounded system rather than open-ended. Is there a verifiable output you can test repeatedly, against a measured baseline rather than an estimated one. What is the risk of a wrong answer, and notice I said risk, not cost. Is it actually cheaper or faster than the person doing it now. Is a human positioned to course-correct. Are data access, classification and compliance settled before the build rather than discovered at the end. And the seventh reframes the whole set. Is this workflow already automated. If it is, it is a strong AI candidate. If it is a manual process you have never figured out how to automate, that is where AI plus a human partner might get you to baseline. Either way you know which conversation you are in. There is real evidence behind the fourth one. An MIT CSAIL study found AI automation was economically viable in only about a quarter of roles where vision is the primary work. In the other three quarters the human was still cheaper. [MIT CSAIL, 2024.] Assume that gate moves. Gartner projects inference cost on a trillion-parameter model drops more than ninety percent by 2030. [Gartner, March 2026. Forecast.] But you are choosing a workflow this year, so run it against today's numbers. Two failures and it is not your beachhead. Pick a different one. Value and feasibility are standard use case ranking. Organizational readiness is ours, and it is the axis that decides whether a workflow that qualifies on paper survives contact with your environment. The full version gives you a defensible sequence; this is the version you can run in your own head this week, before you talk to anyone. It is in the leave-behind. Seven questions, and I want them short enough that you can run them in your head. Bounded or open-ended. Verifiable output. Low risk of a wrong answer, risk not cost. Cheaper or faster than the person doing it today. Can a human course-correct. Are data access, classification and compliance settled. And is the workflow already automated or automatable.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were bad at virtual machine management and then moved to cloud, cloud let you be bad at it at a scale you had never seen. You multiplied a bad manual process. AI does the same thing to a weak workflow. Same pattern in engineering. If you are already writing bad code, AI will help you write bad code roughly ten times faster. And you will not catch it, because the reason it was bad is that you did not have tests. Five non-functional requirements decide whether you are ready to be amplified: security, reliability, performance, cost effectiveness, operational excellence. Usually two or three dominate for any given organization. The other half is verifiability. You cannot automate a workflow whose output you cannot verify. If you cannot test the output at the speed the pipeline runs, you cannot know whether quality holds, and if you cannot do that without AI you will not be able to do it with AI. Code produces artifacts and artifacts can be tested, which is why software workflows are strong candidates. Data work earns its way in the same fashion, with evaluations as the testing analogue. Discernment and diligence are what verification actually is. They are the only defence against the measurement gap. And one honest complication. A dozen agents moving ten times faster than a human are worth nothing if every decision point chokes through one reviewer. Compliance regimes require human review and mission decisions require judgment AI does not have. The resolution is not to remove the human. Verification methodology is what eventually lets some decisions move without one, and that methodology does not exist yet for most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DoD defined trustworthy in 2020 as five principles: responsible, equitable, traceable, reliable, and governable. [DoD AI Ethics Principles, February 2020; DoD Responsible AI Strategy and Implementation Pathway, June 2022.] The one that governs AI you turn loose in a mission is governable: the system detects unintended behavior and can disengage on command. If the only thing stopping an AI from doing the wrong thing is its own promise in a system prompt, you do not have a guardrail. You have a request. It can be jailbroken, and it drifts as the model changes. A real guardrail lives in the infrastructure. The action is blocked before the model ever decides, and every attempt is logged. A model is probabilistic; the same input does not produce the same output twice. Deterministic software gives the same result every time. That is why a promise inside the model cannot be a control and a rule outside it can. There is a live example from earlier this year. A customer-facing ordering bot was asked to solve a student's programming homework before taking their order. It did, then asked if they were ready to order. [S20] Nothing in that system's instructions told it to do homework. Nothing stopped it either, because the only thing in the way was a request. And this is why guardrails are not a second subject in this talk. In a high-risk environment you cannot claim a measured outcome on a mission workflow unless the enforcement is deterministic. They are the reason the outcome is trustworthy. And we demonstrate it, three beats. A request inside policy executes. A request outside policy, where the operator pushes and the model agrees to answer anyway. Then the call is denied at the policy layer before it executes. On how bypassable a self-enforced guardrail is: large reasoning models acting as autonomous jailbreak agents reached a 97.14 percent jailbreak success rate across model combinations. [Nature Communications,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talk in one picture. Level one is an assistant that answers questions and touches nothing. Level two grounds those answers in your cleared corpus and cites the section. Level three lets it call your systems, one supervised action at a time. Level five alters systems of record, and it requires everything under it proven first. Level four is where I want your attention. A read-only autonomous agent runs continuously, watches, and briefs you, and it cannot alter a system of record. These levels are our synthesis. Treat them as mine, not as a citation. What the research does establish is the coupling underneath: autonomy, how independently a system acts, is a separate axis from agency, how far its writes reach. High autonomy with low agency captures most of the value while making a consequential wrong action structurally impossible. [Safin and Balta, fortiss, arXiv 2605.12105, May 2026.] The control posture in the right-hand column is your own language: doctrine directs that commanders calibrate autonomy to mission risk. [Air Force Doctrine Note 25-1, April 8, 2025.] The reason level four matters in this room is the cost of being wrong. Hand a warfighter information an agent fabricated and you have put people at risk. That is not an acceptable trade at any speed. Scan your own environment for anomalies and health trends, and the cost of a miss is low. It is not making changes. GenAI.mil put your force on levels one and two at scale. The next move is three and four, deliberately. Most organizations try to jump straight to five. That is the pattern behind the cancellation forecast. When risk is high, you stay on the loop and never out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training is necessary and it is not competency. General skill acquisition transfers and is worth having on its own. Context-specific outcomes, proven by a capstone in your environment, are what your plan is actually asking for. And what is true about AI right now, because it changes how you train: adoption fails on workflows nobody redesigned, the gate decides where to point this, AI amplifies what you already have, and a guardrail the model enforces on itself is not a guardrail. Three parts, in order. Knowledge to skill to outcome. You measure it with a capstone that demonstrates the outcome. And the things people believe about AI that are no longer true, hallucinations among them, which can be mitigated to a large degree when you run your own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lands. A force that reaches competency faster, on guidance grounded in its own doctrine, with AI it can trust because the guardrails are enforced, not requested. That is what employing AI safely at the digital edge looks like. Commercial power at mission speed. Accenture Federal Services delivers results that move the force forward. The demo you just saw runs live at booth 150, closest to the entrance. Come break it. Thank you. I will take questions now, and I am at the booth after this. And point at the leave-behind: it carries the gate as a worksheet, the proficiency codes, both learning paths, and every source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Leave-behind. Every number and claim on stage traces to one of these sources. Full citations and URLs in the run-of-show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Leave-behind. Every number and claim on stage traces to one of these sources. Full citations and URLs in the run-of-show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Leave-behind. Every number and claim on stage traces to one of these sources. Full citations and URLs in the run-of-show leave-behind.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svg"/><Relationship Id="rId4" Type="http://schemas.openxmlformats.org/officeDocument/2006/relationships/image" Target="../media/image-12-4.png"/><Relationship Id="rId5" Type="http://schemas.openxmlformats.org/officeDocument/2006/relationships/image" Target="../media/image-12-5.svg"/><Relationship Id="rId6" Type="http://schemas.openxmlformats.org/officeDocument/2006/relationships/image" Target="../media/image-12-6.png"/><Relationship Id="rId7" Type="http://schemas.openxmlformats.org/officeDocument/2006/relationships/image" Target="../media/image-12-7.sv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sv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sv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sv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svg"/><Relationship Id="rId4" Type="http://schemas.openxmlformats.org/officeDocument/2006/relationships/image" Target="../media/image-18-4.png"/><Relationship Id="rId5" Type="http://schemas.openxmlformats.org/officeDocument/2006/relationships/image" Target="../media/image-18-5.sv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sv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sv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svg"/><Relationship Id="rId4" Type="http://schemas.openxmlformats.org/officeDocument/2006/relationships/image" Target="../media/image-21-4.png"/><Relationship Id="rId5" Type="http://schemas.openxmlformats.org/officeDocument/2006/relationships/image" Target="../media/image-21-5.svg"/><Relationship Id="rId6" Type="http://schemas.openxmlformats.org/officeDocument/2006/relationships/image" Target="../media/image-21-6.png"/><Relationship Id="rId7" Type="http://schemas.openxmlformats.org/officeDocument/2006/relationships/image" Target="../media/image-21-7.svg"/><Relationship Id="rId8" Type="http://schemas.openxmlformats.org/officeDocument/2006/relationships/image" Target="../media/image-21-8.png"/><Relationship Id="rId9" Type="http://schemas.openxmlformats.org/officeDocument/2006/relationships/image" Target="../media/image-21-9.svg"/><Relationship Id="rId10" Type="http://schemas.openxmlformats.org/officeDocument/2006/relationships/image" Target="../media/image-21-10.png"/><Relationship Id="rId11" Type="http://schemas.openxmlformats.org/officeDocument/2006/relationships/image" Target="../media/image-21-11.svg"/><Relationship Id="rId12" Type="http://schemas.openxmlformats.org/officeDocument/2006/relationships/slideLayout" Target="../slideLayouts/slideLayout1.xml"/><Relationship Id="rId1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sv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sv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sv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sv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sv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sv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svg"/><Relationship Id="rId6" Type="http://schemas.openxmlformats.org/officeDocument/2006/relationships/image" Target="../media/image-28-6.png"/><Relationship Id="rId7" Type="http://schemas.openxmlformats.org/officeDocument/2006/relationships/image" Target="../media/image-28-7.svg"/><Relationship Id="rId8" Type="http://schemas.openxmlformats.org/officeDocument/2006/relationships/image" Target="../media/image-28-8.png"/><Relationship Id="rId9" Type="http://schemas.openxmlformats.org/officeDocument/2006/relationships/image" Target="../media/image-28-9.svg"/><Relationship Id="rId10" Type="http://schemas.openxmlformats.org/officeDocument/2006/relationships/slideLayout" Target="../slideLayouts/slideLayout1.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pic>
        <p:nvPicPr>
          <p:cNvPr id="3" name="Image 0" descr="preencoded.png">    </p:cNvPr>
          <p:cNvPicPr>
            <a:picLocks noChangeAspect="1"/>
          </p:cNvPicPr>
          <p:nvPr/>
        </p:nvPicPr>
        <p:blipFill>
          <a:blip r:embed="rId1">
            <a:alphaModFix amt="26000"/>
          </a:blip>
          <a:srcRect l="931" r="931" t="0" b="0"/>
          <a:stretch/>
        </p:blipFill>
        <p:spPr>
          <a:xfrm>
            <a:off x="0" y="0"/>
            <a:ext cx="18288000" cy="10287000"/>
          </a:xfrm>
          <a:prstGeom prst="rect">
            <a:avLst/>
          </a:prstGeom>
        </p:spPr>
      </p:pic>
      <p:pic>
        <p:nvPicPr>
          <p:cNvPr id="4" name="Image 1" descr="preencoded.png">    </p:cNvPr>
          <p:cNvPicPr>
            <a:picLocks noChangeAspect="1"/>
          </p:cNvPicPr>
          <p:nvPr/>
        </p:nvPicPr>
        <p:blipFill>
          <a:blip r:embed="rId2">
            <a:alphaModFix amt="12000"/>
            <a:extLst>
              <a:ext uri="{96DAC541-7B7A-43D3-8B79-37D633B846F1}">
                <asvg:svgBlip xmlns:asvg="http://schemas.microsoft.com/office/drawing/2016/SVG/main" r:embed="rId3"/>
              </a:ext>
            </a:extLst>
          </a:blip>
          <a:stretch>
            <a:fillRect/>
          </a:stretch>
        </p:blipFill>
        <p:spPr>
          <a:xfrm>
            <a:off x="8662194" y="1333500"/>
            <a:ext cx="10578307" cy="11239500"/>
          </a:xfrm>
          <a:prstGeom prst="rect">
            <a:avLst/>
          </a:prstGeom>
        </p:spPr>
      </p:pic>
      <p:pic>
        <p:nvPicPr>
          <p:cNvPr id="5" name="Image 2" descr="preencoded.png">    </p:cNvPr>
          <p:cNvPicPr>
            <a:picLocks noChangeAspect="1"/>
          </p:cNvPicPr>
          <p:nvPr/>
        </p:nvPicPr>
        <p:blipFill>
          <a:blip r:embed="rId4"/>
          <a:stretch>
            <a:fillRect/>
          </a:stretch>
        </p:blipFill>
        <p:spPr>
          <a:xfrm>
            <a:off x="1143000" y="762000"/>
            <a:ext cx="1590576" cy="419100"/>
          </a:xfrm>
          <a:prstGeom prst="rect">
            <a:avLst/>
          </a:prstGeom>
        </p:spPr>
      </p:pic>
      <p:sp>
        <p:nvSpPr>
          <p:cNvPr id="6" name="Text 1"/>
          <p:cNvSpPr/>
          <p:nvPr/>
        </p:nvSpPr>
        <p:spPr>
          <a:xfrm>
            <a:off x="1143000" y="4317008"/>
            <a:ext cx="176022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FFFFFF">
                    <a:alpha val="85000"/>
                  </a:srgbClr>
                </a:solidFill>
                <a:latin typeface="Arial" pitchFamily="34" charset="0"/>
                <a:ea typeface="Arial" pitchFamily="34" charset="-122"/>
                <a:cs typeface="Arial" pitchFamily="34" charset="-120"/>
              </a:rPr>
              <a:t>DAFITC 2026 / TRACK 4 / WEDNESDAY AUGUST 26</a:t>
            </a:r>
            <a:endParaRPr lang="en-US" sz="1800" dirty="0"/>
          </a:p>
        </p:txBody>
      </p:sp>
      <p:sp>
        <p:nvSpPr>
          <p:cNvPr id="7" name="Text 2"/>
          <p:cNvSpPr/>
          <p:nvPr/>
        </p:nvSpPr>
        <p:spPr>
          <a:xfrm>
            <a:off x="1143000" y="4892278"/>
            <a:ext cx="14912340" cy="1790700"/>
          </a:xfrm>
          <a:prstGeom prst="rect">
            <a:avLst/>
          </a:prstGeom>
          <a:noFill/>
          <a:ln/>
        </p:spPr>
        <p:txBody>
          <a:bodyPr wrap="square" lIns="25400" tIns="25400" rIns="25400" bIns="25400" rtlCol="0" anchor="t">
            <a:normAutofit/>
          </a:bodyPr>
          <a:lstStyle/>
          <a:p>
            <a:pPr algn="l" indent="0" marL="0">
              <a:lnSpc>
                <a:spcPct val="86792"/>
              </a:lnSpc>
              <a:buNone/>
            </a:pPr>
            <a:r>
              <a:rPr lang="en-US" sz="6900" b="1" spc="-138" kern="0" dirty="0">
                <a:solidFill>
                  <a:srgbClr val="FFFFFF"/>
                </a:solidFill>
                <a:latin typeface="Arial" pitchFamily="34" charset="0"/>
                <a:ea typeface="Arial" pitchFamily="34" charset="-122"/>
                <a:cs typeface="Arial" pitchFamily="34" charset="-120"/>
              </a:rPr>
              <a:t>Accelerating Mission Readiness with AI-Enabled Training</a:t>
            </a:r>
            <a:endParaRPr lang="en-US" sz="6900" dirty="0"/>
          </a:p>
        </p:txBody>
      </p:sp>
      <p:sp>
        <p:nvSpPr>
          <p:cNvPr id="8" name="Text 3"/>
          <p:cNvSpPr/>
          <p:nvPr/>
        </p:nvSpPr>
        <p:spPr>
          <a:xfrm>
            <a:off x="1143000" y="6854428"/>
            <a:ext cx="10988040" cy="89138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FFFFFF">
                    <a:alpha val="88000"/>
                  </a:srgbClr>
                </a:solidFill>
                <a:latin typeface="Arial" pitchFamily="34" charset="0"/>
                <a:ea typeface="Arial" pitchFamily="34" charset="-122"/>
                <a:cs typeface="Arial" pitchFamily="34" charset="-120"/>
              </a:rPr>
              <a:t>Building AI-fluent Airmen and Guardians at the intersection of intuition and machine intelligence</a:t>
            </a:r>
            <a:endParaRPr lang="en-US" sz="2400" dirty="0"/>
          </a:p>
        </p:txBody>
      </p:sp>
      <p:sp>
        <p:nvSpPr>
          <p:cNvPr id="9" name="Text 4"/>
          <p:cNvSpPr/>
          <p:nvPr/>
        </p:nvSpPr>
        <p:spPr>
          <a:xfrm>
            <a:off x="1143000" y="8450660"/>
            <a:ext cx="7456170" cy="495300"/>
          </a:xfrm>
          <a:prstGeom prst="rect">
            <a:avLst/>
          </a:prstGeom>
          <a:noFill/>
          <a:ln/>
        </p:spPr>
        <p:txBody>
          <a:bodyPr wrap="square" lIns="25400" tIns="25400" rIns="25400" bIns="25400" rtlCol="0" anchor="t">
            <a:normAutofit/>
          </a:bodyPr>
          <a:lstStyle/>
          <a:p>
            <a:pPr algn="l" indent="0" marL="0">
              <a:lnSpc>
                <a:spcPct val="138462"/>
              </a:lnSpc>
              <a:buNone/>
            </a:pPr>
            <a:r>
              <a:rPr lang="en-US" sz="2250" b="1" dirty="0">
                <a:solidFill>
                  <a:srgbClr val="FFFFFF"/>
                </a:solidFill>
                <a:latin typeface="Arial" pitchFamily="34" charset="0"/>
                <a:ea typeface="Arial" pitchFamily="34" charset="-122"/>
                <a:cs typeface="Arial" pitchFamily="34" charset="-120"/>
              </a:rPr>
              <a:t>Michael Forrester</a:t>
            </a:r>
            <a:endParaRPr lang="en-US" sz="2250" dirty="0"/>
          </a:p>
        </p:txBody>
      </p:sp>
      <p:sp>
        <p:nvSpPr>
          <p:cNvPr id="10" name="Text 5"/>
          <p:cNvSpPr/>
          <p:nvPr/>
        </p:nvSpPr>
        <p:spPr>
          <a:xfrm>
            <a:off x="1143000" y="8984060"/>
            <a:ext cx="7456170" cy="655241"/>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FFFFFF">
                    <a:alpha val="80000"/>
                  </a:srgbClr>
                </a:solidFill>
                <a:latin typeface="Arial" pitchFamily="34" charset="0"/>
                <a:ea typeface="Arial" pitchFamily="34" charset="-122"/>
                <a:cs typeface="Arial" pitchFamily="34" charset="-120"/>
              </a:rPr>
              <a:t>AI for Leadership and Organizations Business Stream Lead, Accenture LearnVantage</a:t>
            </a:r>
            <a:endParaRPr lang="en-US" sz="1800" dirty="0"/>
          </a:p>
        </p:txBody>
      </p:sp>
      <p:pic>
        <p:nvPicPr>
          <p:cNvPr id="11" name="Image 3" descr="preencoded.png">    </p:cNvPr>
          <p:cNvPicPr>
            <a:picLocks noChangeAspect="1"/>
          </p:cNvPicPr>
          <p:nvPr/>
        </p:nvPicPr>
        <p:blipFill>
          <a:blip r:embed="rId5"/>
          <a:stretch>
            <a:fillRect/>
          </a:stretch>
        </p:blipFill>
        <p:spPr>
          <a:xfrm>
            <a:off x="14158715" y="9279235"/>
            <a:ext cx="939899" cy="247650"/>
          </a:xfrm>
          <a:prstGeom prst="rect">
            <a:avLst/>
          </a:prstGeom>
        </p:spPr>
      </p:pic>
      <p:sp>
        <p:nvSpPr>
          <p:cNvPr id="12" name="Text 6"/>
          <p:cNvSpPr/>
          <p:nvPr/>
        </p:nvSpPr>
        <p:spPr>
          <a:xfrm>
            <a:off x="15193863" y="9205020"/>
            <a:ext cx="2146250"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dirty="0">
                <a:solidFill>
                  <a:srgbClr val="FFFFFF">
                    <a:alpha val="95000"/>
                  </a:srgbClr>
                </a:solidFill>
                <a:latin typeface="Arial" pitchFamily="34" charset="0"/>
                <a:ea typeface="Arial" pitchFamily="34" charset="-122"/>
                <a:cs typeface="Arial" pitchFamily="34" charset="-120"/>
              </a:rPr>
              <a:t>Federal Services</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5003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000"/>
            <a:extLst>
              <a:ext uri="{96DAC541-7B7A-43D3-8B79-37D633B846F1}">
                <asvg:svgBlip xmlns:asvg="http://schemas.microsoft.com/office/drawing/2016/SVG/main" r:embed="rId2"/>
              </a:ext>
            </a:extLst>
          </a:blip>
          <a:stretch>
            <a:fillRect/>
          </a:stretch>
        </p:blipFill>
        <p:spPr>
          <a:xfrm>
            <a:off x="10264676" y="2857500"/>
            <a:ext cx="8785324" cy="9334500"/>
          </a:xfrm>
          <a:prstGeom prst="rect">
            <a:avLst/>
          </a:prstGeom>
        </p:spPr>
      </p:pic>
      <p:sp>
        <p:nvSpPr>
          <p:cNvPr id="3" name="Text 0"/>
          <p:cNvSpPr/>
          <p:nvPr/>
        </p:nvSpPr>
        <p:spPr>
          <a:xfrm>
            <a:off x="1143000" y="800100"/>
            <a:ext cx="3978394"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DCAFFF"/>
                </a:solidFill>
                <a:latin typeface="Arial" pitchFamily="34" charset="0"/>
                <a:ea typeface="Arial" pitchFamily="34" charset="-122"/>
                <a:cs typeface="Arial" pitchFamily="34" charset="-120"/>
              </a:rPr>
              <a:t>WHERE YOU ALREADY ARE</a:t>
            </a:r>
            <a:endParaRPr lang="en-US" sz="1800" dirty="0"/>
          </a:p>
        </p:txBody>
      </p:sp>
      <p:pic>
        <p:nvPicPr>
          <p:cNvPr id="4" name="Image 1" descr="preencoded.png">    </p:cNvPr>
          <p:cNvPicPr>
            <a:picLocks noChangeAspect="1"/>
          </p:cNvPicPr>
          <p:nvPr/>
        </p:nvPicPr>
        <p:blipFill>
          <a:blip r:embed="rId3"/>
          <a:stretch>
            <a:fillRect/>
          </a:stretch>
        </p:blipFill>
        <p:spPr>
          <a:xfrm>
            <a:off x="16132870" y="849610"/>
            <a:ext cx="1012131" cy="266700"/>
          </a:xfrm>
          <a:prstGeom prst="rect">
            <a:avLst/>
          </a:prstGeom>
        </p:spPr>
      </p:pic>
      <p:sp>
        <p:nvSpPr>
          <p:cNvPr id="5" name="Text 1"/>
          <p:cNvSpPr/>
          <p:nvPr/>
        </p:nvSpPr>
        <p:spPr>
          <a:xfrm>
            <a:off x="1143000" y="1470620"/>
            <a:ext cx="1634490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FFFFFF"/>
                </a:solidFill>
                <a:latin typeface="Arial" pitchFamily="34" charset="0"/>
                <a:ea typeface="Arial" pitchFamily="34" charset="-122"/>
                <a:cs typeface="Arial" pitchFamily="34" charset="-120"/>
              </a:rPr>
              <a:t>You have already started. The question is what comes next.</a:t>
            </a:r>
            <a:endParaRPr lang="en-US" sz="4200" dirty="0"/>
          </a:p>
        </p:txBody>
      </p:sp>
      <p:sp>
        <p:nvSpPr>
          <p:cNvPr id="6" name="Text 2"/>
          <p:cNvSpPr/>
          <p:nvPr/>
        </p:nvSpPr>
        <p:spPr>
          <a:xfrm>
            <a:off x="1143000" y="4474468"/>
            <a:ext cx="2556183" cy="1276350"/>
          </a:xfrm>
          <a:prstGeom prst="rect">
            <a:avLst/>
          </a:prstGeom>
          <a:noFill/>
          <a:ln/>
        </p:spPr>
        <p:txBody>
          <a:bodyPr wrap="square" lIns="25400" tIns="25400" rIns="25400" bIns="25400" rtlCol="0" anchor="t">
            <a:normAutofit/>
          </a:bodyPr>
          <a:lstStyle/>
          <a:p>
            <a:pPr algn="l" indent="0" marL="0">
              <a:lnSpc>
                <a:spcPct val="70732"/>
              </a:lnSpc>
              <a:buNone/>
            </a:pPr>
            <a:r>
              <a:rPr lang="en-US" sz="8700" b="1" spc="-261" kern="0" dirty="0">
                <a:solidFill>
                  <a:srgbClr val="FFFFFF"/>
                </a:solidFill>
                <a:latin typeface="Arial" pitchFamily="34" charset="0"/>
                <a:ea typeface="Arial" pitchFamily="34" charset="-122"/>
                <a:cs typeface="Arial" pitchFamily="34" charset="-120"/>
              </a:rPr>
              <a:t>1.7M</a:t>
            </a:r>
            <a:endParaRPr lang="en-US" sz="8700" dirty="0"/>
          </a:p>
        </p:txBody>
      </p:sp>
      <p:sp>
        <p:nvSpPr>
          <p:cNvPr id="7" name="Text 3"/>
          <p:cNvSpPr/>
          <p:nvPr/>
        </p:nvSpPr>
        <p:spPr>
          <a:xfrm>
            <a:off x="1143000" y="5782568"/>
            <a:ext cx="5075428" cy="783828"/>
          </a:xfrm>
          <a:prstGeom prst="rect">
            <a:avLst/>
          </a:prstGeom>
          <a:noFill/>
          <a:ln/>
        </p:spPr>
        <p:txBody>
          <a:bodyPr wrap="square" lIns="25400" tIns="25400" rIns="25400" bIns="25400" rtlCol="0" anchor="t">
            <a:normAutofit/>
          </a:bodyPr>
          <a:lstStyle/>
          <a:p>
            <a:pPr algn="l" indent="0" marL="0">
              <a:lnSpc>
                <a:spcPct val="119847"/>
              </a:lnSpc>
              <a:buNone/>
            </a:pPr>
            <a:r>
              <a:rPr lang="en-US" sz="2175" dirty="0">
                <a:solidFill>
                  <a:srgbClr val="FFFFFF">
                    <a:alpha val="88000"/>
                  </a:srgbClr>
                </a:solidFill>
                <a:latin typeface="Arial" pitchFamily="34" charset="0"/>
                <a:ea typeface="Arial" pitchFamily="34" charset="-122"/>
                <a:cs typeface="Arial" pitchFamily="34" charset="-120"/>
              </a:rPr>
              <a:t>nearly 1.7 million users on GenAI.mil, July 2026 </a:t>
            </a:r>
            <a:pPr algn="l" indent="0" marL="0">
              <a:lnSpc>
                <a:spcPct val="119847"/>
              </a:lnSpc>
              <a:buNone/>
            </a:pPr>
            <a:r>
              <a:rPr lang="en-US" sz="1800" dirty="0">
                <a:solidFill>
                  <a:srgbClr val="DCAFFF"/>
                </a:solidFill>
                <a:latin typeface="Courier New" pitchFamily="34" charset="0"/>
                <a:ea typeface="Courier New" pitchFamily="34" charset="-122"/>
                <a:cs typeface="Courier New" pitchFamily="34" charset="-120"/>
              </a:rPr>
              <a:t>S8</a:t>
            </a:r>
            <a:endParaRPr lang="en-US" sz="2175" dirty="0"/>
          </a:p>
        </p:txBody>
      </p:sp>
      <p:sp>
        <p:nvSpPr>
          <p:cNvPr id="8" name="Text 4"/>
          <p:cNvSpPr/>
          <p:nvPr/>
        </p:nvSpPr>
        <p:spPr>
          <a:xfrm>
            <a:off x="6680200" y="4474468"/>
            <a:ext cx="4811464" cy="1276350"/>
          </a:xfrm>
          <a:prstGeom prst="rect">
            <a:avLst/>
          </a:prstGeom>
          <a:noFill/>
          <a:ln/>
        </p:spPr>
        <p:txBody>
          <a:bodyPr wrap="square" lIns="25400" tIns="25400" rIns="25400" bIns="25400" rtlCol="0" anchor="t">
            <a:normAutofit/>
          </a:bodyPr>
          <a:lstStyle/>
          <a:p>
            <a:pPr algn="l" indent="0" marL="0">
              <a:lnSpc>
                <a:spcPct val="70732"/>
              </a:lnSpc>
              <a:buNone/>
            </a:pPr>
            <a:r>
              <a:rPr lang="en-US" sz="8700" b="1" spc="-261" kern="0" dirty="0">
                <a:solidFill>
                  <a:srgbClr val="FFFFFF"/>
                </a:solidFill>
                <a:latin typeface="Arial" pitchFamily="34" charset="0"/>
                <a:ea typeface="Arial" pitchFamily="34" charset="-122"/>
                <a:cs typeface="Arial" pitchFamily="34" charset="-120"/>
              </a:rPr>
              <a:t>100,000+</a:t>
            </a:r>
            <a:endParaRPr lang="en-US" sz="8700" dirty="0"/>
          </a:p>
        </p:txBody>
      </p:sp>
      <p:sp>
        <p:nvSpPr>
          <p:cNvPr id="9" name="Text 5"/>
          <p:cNvSpPr/>
          <p:nvPr/>
        </p:nvSpPr>
        <p:spPr>
          <a:xfrm>
            <a:off x="6680200" y="5782568"/>
            <a:ext cx="5075428" cy="783828"/>
          </a:xfrm>
          <a:prstGeom prst="rect">
            <a:avLst/>
          </a:prstGeom>
          <a:noFill/>
          <a:ln/>
        </p:spPr>
        <p:txBody>
          <a:bodyPr wrap="square" lIns="25400" tIns="25400" rIns="25400" bIns="25400" rtlCol="0" anchor="t">
            <a:normAutofit/>
          </a:bodyPr>
          <a:lstStyle/>
          <a:p>
            <a:pPr algn="l" indent="0" marL="0">
              <a:lnSpc>
                <a:spcPct val="119847"/>
              </a:lnSpc>
              <a:buNone/>
            </a:pPr>
            <a:r>
              <a:rPr lang="en-US" sz="2175" dirty="0">
                <a:solidFill>
                  <a:srgbClr val="FFFFFF">
                    <a:alpha val="88000"/>
                  </a:srgbClr>
                </a:solidFill>
                <a:latin typeface="Arial" pitchFamily="34" charset="0"/>
                <a:ea typeface="Arial" pitchFamily="34" charset="-122"/>
                <a:cs typeface="Arial" pitchFamily="34" charset="-120"/>
              </a:rPr>
              <a:t>custom agents already built by your own people </a:t>
            </a:r>
            <a:pPr algn="l" indent="0" marL="0">
              <a:lnSpc>
                <a:spcPct val="119847"/>
              </a:lnSpc>
              <a:buNone/>
            </a:pPr>
            <a:r>
              <a:rPr lang="en-US" sz="1800" dirty="0">
                <a:solidFill>
                  <a:srgbClr val="DCAFFF"/>
                </a:solidFill>
                <a:latin typeface="Courier New" pitchFamily="34" charset="0"/>
                <a:ea typeface="Courier New" pitchFamily="34" charset="-122"/>
                <a:cs typeface="Courier New" pitchFamily="34" charset="-120"/>
              </a:rPr>
              <a:t>S8</a:t>
            </a:r>
            <a:endParaRPr lang="en-US" sz="2175" dirty="0"/>
          </a:p>
        </p:txBody>
      </p:sp>
      <p:sp>
        <p:nvSpPr>
          <p:cNvPr id="10" name="Text 6"/>
          <p:cNvSpPr/>
          <p:nvPr/>
        </p:nvSpPr>
        <p:spPr>
          <a:xfrm>
            <a:off x="12217401" y="5122168"/>
            <a:ext cx="3603060" cy="596900"/>
          </a:xfrm>
          <a:prstGeom prst="rect">
            <a:avLst/>
          </a:prstGeom>
          <a:noFill/>
          <a:ln/>
        </p:spPr>
        <p:txBody>
          <a:bodyPr wrap="square" lIns="25400" tIns="25400" rIns="25400" bIns="25400" rtlCol="0" anchor="t">
            <a:normAutofit/>
          </a:bodyPr>
          <a:lstStyle/>
          <a:p>
            <a:pPr algn="l" indent="0" marL="0">
              <a:lnSpc>
                <a:spcPct val="85714"/>
              </a:lnSpc>
              <a:buNone/>
            </a:pPr>
            <a:r>
              <a:rPr lang="en-US" sz="3900" b="1" spc="-78" kern="0" dirty="0">
                <a:solidFill>
                  <a:srgbClr val="FFFFFF"/>
                </a:solidFill>
                <a:latin typeface="Arial" pitchFamily="34" charset="0"/>
                <a:ea typeface="Arial" pitchFamily="34" charset="-122"/>
                <a:cs typeface="Arial" pitchFamily="34" charset="-120"/>
              </a:rPr>
              <a:t>Agent Designer</a:t>
            </a:r>
            <a:endParaRPr lang="en-US" sz="3900" dirty="0"/>
          </a:p>
        </p:txBody>
      </p:sp>
      <p:sp>
        <p:nvSpPr>
          <p:cNvPr id="11" name="Text 7"/>
          <p:cNvSpPr/>
          <p:nvPr/>
        </p:nvSpPr>
        <p:spPr>
          <a:xfrm>
            <a:off x="12217401" y="5782568"/>
            <a:ext cx="5075428" cy="783828"/>
          </a:xfrm>
          <a:prstGeom prst="rect">
            <a:avLst/>
          </a:prstGeom>
          <a:noFill/>
          <a:ln/>
        </p:spPr>
        <p:txBody>
          <a:bodyPr wrap="square" lIns="25400" tIns="25400" rIns="25400" bIns="25400" rtlCol="0" anchor="t">
            <a:normAutofit/>
          </a:bodyPr>
          <a:lstStyle/>
          <a:p>
            <a:pPr algn="l" indent="0" marL="0">
              <a:lnSpc>
                <a:spcPct val="119847"/>
              </a:lnSpc>
              <a:buNone/>
            </a:pPr>
            <a:r>
              <a:rPr lang="en-US" sz="2175" dirty="0">
                <a:solidFill>
                  <a:srgbClr val="FFFFFF">
                    <a:alpha val="88000"/>
                  </a:srgbClr>
                </a:solidFill>
                <a:latin typeface="Arial" pitchFamily="34" charset="0"/>
                <a:ea typeface="Arial" pitchFamily="34" charset="-122"/>
                <a:cs typeface="Arial" pitchFamily="34" charset="-120"/>
              </a:rPr>
              <a:t>shipped March 2026, for after-action reports and multi-step work </a:t>
            </a:r>
            <a:pPr algn="l" indent="0" marL="0">
              <a:lnSpc>
                <a:spcPct val="119847"/>
              </a:lnSpc>
              <a:buNone/>
            </a:pPr>
            <a:r>
              <a:rPr lang="en-US" sz="1800" dirty="0">
                <a:solidFill>
                  <a:srgbClr val="DCAFFF"/>
                </a:solidFill>
                <a:latin typeface="Courier New" pitchFamily="34" charset="0"/>
                <a:ea typeface="Courier New" pitchFamily="34" charset="-122"/>
                <a:cs typeface="Courier New" pitchFamily="34" charset="-120"/>
              </a:rPr>
              <a:t>S8</a:t>
            </a:r>
            <a:endParaRPr lang="en-US" sz="2175" dirty="0"/>
          </a:p>
        </p:txBody>
      </p:sp>
      <p:sp>
        <p:nvSpPr>
          <p:cNvPr id="12" name="Text 8"/>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60000"/>
                  </a:srgbClr>
                </a:solidFill>
                <a:latin typeface="Arial" pitchFamily="34" charset="0"/>
                <a:ea typeface="Arial" pitchFamily="34" charset="-122"/>
                <a:cs typeface="Arial" pitchFamily="34" charset="-120"/>
              </a:rPr>
              <a:t>DAFITC 2026</a:t>
            </a:r>
            <a:endParaRPr lang="en-US" sz="1800" dirty="0"/>
          </a:p>
        </p:txBody>
      </p:sp>
      <p:sp>
        <p:nvSpPr>
          <p:cNvPr id="13" name="Text 9"/>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35000"/>
                  </a:srgbClr>
                </a:solidFill>
                <a:latin typeface="Arial" pitchFamily="34" charset="0"/>
                <a:ea typeface="Arial" pitchFamily="34" charset="-122"/>
                <a:cs typeface="Arial" pitchFamily="34" charset="-120"/>
              </a:rPr>
              <a:t>/</a:t>
            </a:r>
            <a:endParaRPr lang="en-US" sz="1800" dirty="0"/>
          </a:p>
        </p:txBody>
      </p:sp>
      <p:sp>
        <p:nvSpPr>
          <p:cNvPr id="14" name="Text 10"/>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60000"/>
                  </a:srgbClr>
                </a:solidFill>
                <a:latin typeface="Arial" pitchFamily="34" charset="0"/>
                <a:ea typeface="Arial" pitchFamily="34" charset="-122"/>
                <a:cs typeface="Arial" pitchFamily="34" charset="-120"/>
              </a:rPr>
              <a:t>Track 4</a:t>
            </a:r>
            <a:endParaRPr lang="en-US" sz="1800" dirty="0"/>
          </a:p>
        </p:txBody>
      </p:sp>
      <p:sp>
        <p:nvSpPr>
          <p:cNvPr id="15" name="Text 11"/>
          <p:cNvSpPr/>
          <p:nvPr/>
        </p:nvSpPr>
        <p:spPr>
          <a:xfrm>
            <a:off x="8320107" y="9197380"/>
            <a:ext cx="8824893" cy="403820"/>
          </a:xfrm>
          <a:prstGeom prst="rect">
            <a:avLst/>
          </a:prstGeom>
          <a:noFill/>
          <a:ln/>
        </p:spPr>
        <p:txBody>
          <a:bodyPr wrap="square" lIns="25400" tIns="25400" rIns="25400" bIns="25400" rtlCol="0" anchor="t">
            <a:normAutofit/>
          </a:bodyPr>
          <a:lstStyle/>
          <a:p>
            <a:pPr algn="r" indent="0" marL="0">
              <a:lnSpc>
                <a:spcPct val="137143"/>
              </a:lnSpc>
              <a:buNone/>
            </a:pPr>
            <a:r>
              <a:rPr lang="en-US" sz="1800" dirty="0">
                <a:solidFill>
                  <a:srgbClr val="FFFFFF">
                    <a:alpha val="72000"/>
                  </a:srgbClr>
                </a:solidFill>
                <a:latin typeface="Arial" pitchFamily="34" charset="0"/>
                <a:ea typeface="Arial" pitchFamily="34" charset="-122"/>
                <a:cs typeface="Arial" pitchFamily="34" charset="-120"/>
              </a:rPr>
              <a:t>S-numbers are source citations. Full list at the back and in the leave-behind.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3081477"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THE REQUIREMENTS</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470620"/>
            <a:ext cx="1634490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What you are being asked to do, as of this summer</a:t>
            </a:r>
            <a:endParaRPr lang="en-US" sz="4200" dirty="0"/>
          </a:p>
        </p:txBody>
      </p:sp>
      <p:sp>
        <p:nvSpPr>
          <p:cNvPr id="5" name="Shape 2"/>
          <p:cNvSpPr/>
          <p:nvPr/>
        </p:nvSpPr>
        <p:spPr>
          <a:xfrm>
            <a:off x="1143000" y="3506986"/>
            <a:ext cx="3814763" cy="3084314"/>
          </a:xfrm>
          <a:prstGeom prst="rect">
            <a:avLst/>
          </a:prstGeom>
          <a:ln w="6350">
            <a:solidFill>
              <a:srgbClr val="E6E6E6"/>
            </a:solidFill>
            <a:prstDash val="solid"/>
          </a:ln>
        </p:spPr>
      </p:sp>
      <p:sp>
        <p:nvSpPr>
          <p:cNvPr id="6" name="Shape 3"/>
          <p:cNvSpPr/>
          <p:nvPr/>
        </p:nvSpPr>
        <p:spPr>
          <a:xfrm>
            <a:off x="1416050" y="3799086"/>
            <a:ext cx="457200" cy="381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sp>
        <p:nvSpPr>
          <p:cNvPr id="7" name="Text 4"/>
          <p:cNvSpPr/>
          <p:nvPr/>
        </p:nvSpPr>
        <p:spPr>
          <a:xfrm>
            <a:off x="1416050" y="3970536"/>
            <a:ext cx="3595529" cy="366713"/>
          </a:xfrm>
          <a:prstGeom prst="rect">
            <a:avLst/>
          </a:prstGeom>
          <a:noFill/>
          <a:ln/>
        </p:spPr>
        <p:txBody>
          <a:bodyPr wrap="square" lIns="25400" tIns="25400" rIns="25400" bIns="25400" rtlCol="0" anchor="t">
            <a:normAutofit/>
          </a:bodyPr>
          <a:lstStyle/>
          <a:p>
            <a:pPr algn="l" indent="0" marL="0">
              <a:lnSpc>
                <a:spcPct val="99519"/>
              </a:lnSpc>
              <a:buNone/>
            </a:pPr>
            <a:r>
              <a:rPr lang="en-US" sz="2250" b="1" spc="-45" kern="0" dirty="0">
                <a:solidFill>
                  <a:srgbClr val="000000"/>
                </a:solidFill>
                <a:latin typeface="Arial" pitchFamily="34" charset="0"/>
                <a:ea typeface="Arial" pitchFamily="34" charset="-122"/>
                <a:cs typeface="Arial" pitchFamily="34" charset="-120"/>
              </a:rPr>
              <a:t>NSPM-11, June 2026</a:t>
            </a:r>
            <a:endParaRPr lang="en-US" sz="2250" dirty="0"/>
          </a:p>
        </p:txBody>
      </p:sp>
      <p:sp>
        <p:nvSpPr>
          <p:cNvPr id="8" name="Text 5"/>
          <p:cNvSpPr/>
          <p:nvPr/>
        </p:nvSpPr>
        <p:spPr>
          <a:xfrm>
            <a:off x="1416050" y="4432499"/>
            <a:ext cx="3366723" cy="1904802"/>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4D4D4D"/>
                </a:solidFill>
                <a:latin typeface="Arial" pitchFamily="34" charset="0"/>
                <a:ea typeface="Arial" pitchFamily="34" charset="-122"/>
                <a:cs typeface="Arial" pitchFamily="34" charset="-120"/>
              </a:rPr>
              <a:t>Four pillars for the national security enterprise. Directs a DoDD 3000.09 update, standardized test and evaluation, an AI curriculum. </a:t>
            </a:r>
            <a:pPr algn="l" indent="0" marL="0">
              <a:lnSpc>
                <a:spcPct val="115714"/>
              </a:lnSpc>
              <a:buNone/>
            </a:pPr>
            <a:r>
              <a:rPr lang="en-US" sz="1800" dirty="0">
                <a:solidFill>
                  <a:srgbClr val="7500C0"/>
                </a:solidFill>
                <a:latin typeface="Courier New" pitchFamily="34" charset="0"/>
                <a:ea typeface="Courier New" pitchFamily="34" charset="-122"/>
                <a:cs typeface="Courier New" pitchFamily="34" charset="-120"/>
              </a:rPr>
              <a:t>S9</a:t>
            </a:r>
            <a:endParaRPr lang="en-US" sz="1800" dirty="0"/>
          </a:p>
        </p:txBody>
      </p:sp>
      <p:sp>
        <p:nvSpPr>
          <p:cNvPr id="9" name="Shape 6"/>
          <p:cNvSpPr/>
          <p:nvPr/>
        </p:nvSpPr>
        <p:spPr>
          <a:xfrm>
            <a:off x="5205413" y="3506986"/>
            <a:ext cx="3814763" cy="3084314"/>
          </a:xfrm>
          <a:prstGeom prst="rect">
            <a:avLst/>
          </a:prstGeom>
          <a:ln w="6350">
            <a:solidFill>
              <a:srgbClr val="E6E6E6"/>
            </a:solidFill>
            <a:prstDash val="solid"/>
          </a:ln>
        </p:spPr>
      </p:sp>
      <p:sp>
        <p:nvSpPr>
          <p:cNvPr id="10" name="Shape 7"/>
          <p:cNvSpPr/>
          <p:nvPr/>
        </p:nvSpPr>
        <p:spPr>
          <a:xfrm>
            <a:off x="5478463" y="3799086"/>
            <a:ext cx="457200" cy="381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sp>
        <p:nvSpPr>
          <p:cNvPr id="11" name="Text 8"/>
          <p:cNvSpPr/>
          <p:nvPr/>
        </p:nvSpPr>
        <p:spPr>
          <a:xfrm>
            <a:off x="5478463" y="3970536"/>
            <a:ext cx="3366723" cy="695325"/>
          </a:xfrm>
          <a:prstGeom prst="rect">
            <a:avLst/>
          </a:prstGeom>
          <a:noFill/>
          <a:ln/>
        </p:spPr>
        <p:txBody>
          <a:bodyPr wrap="square" lIns="25400" tIns="25400" rIns="25400" bIns="25400" rtlCol="0" anchor="t">
            <a:normAutofit/>
          </a:bodyPr>
          <a:lstStyle/>
          <a:p>
            <a:pPr algn="l" indent="0" marL="0">
              <a:lnSpc>
                <a:spcPct val="99519"/>
              </a:lnSpc>
              <a:buNone/>
            </a:pPr>
            <a:r>
              <a:rPr lang="en-US" sz="2250" b="1" spc="-45" kern="0" dirty="0">
                <a:solidFill>
                  <a:srgbClr val="000000"/>
                </a:solidFill>
                <a:latin typeface="Arial" pitchFamily="34" charset="0"/>
                <a:ea typeface="Arial" pitchFamily="34" charset="-122"/>
                <a:cs typeface="Arial" pitchFamily="34" charset="-120"/>
              </a:rPr>
              <a:t>DoW AI strategy, January 2026</a:t>
            </a:r>
            <a:endParaRPr lang="en-US" sz="2250" dirty="0"/>
          </a:p>
        </p:txBody>
      </p:sp>
      <p:sp>
        <p:nvSpPr>
          <p:cNvPr id="12" name="Text 9"/>
          <p:cNvSpPr/>
          <p:nvPr/>
        </p:nvSpPr>
        <p:spPr>
          <a:xfrm>
            <a:off x="5478463" y="4761111"/>
            <a:ext cx="3366723" cy="1287661"/>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4D4D4D"/>
                </a:solidFill>
                <a:latin typeface="Arial" pitchFamily="34" charset="0"/>
                <a:ea typeface="Arial" pitchFamily="34" charset="-122"/>
                <a:cs typeface="Arial" pitchFamily="34" charset="-120"/>
              </a:rPr>
              <a:t>AI-first warfighting force, seven Pace-Setting Projects, aggressive data access across classification levels. </a:t>
            </a:r>
            <a:pPr algn="l" indent="0" marL="0">
              <a:lnSpc>
                <a:spcPct val="115714"/>
              </a:lnSpc>
              <a:buNone/>
            </a:pPr>
            <a:r>
              <a:rPr lang="en-US" sz="1800" dirty="0">
                <a:solidFill>
                  <a:srgbClr val="7500C0"/>
                </a:solidFill>
                <a:latin typeface="Courier New" pitchFamily="34" charset="0"/>
                <a:ea typeface="Courier New" pitchFamily="34" charset="-122"/>
                <a:cs typeface="Courier New" pitchFamily="34" charset="-120"/>
              </a:rPr>
              <a:t>S10</a:t>
            </a:r>
            <a:endParaRPr lang="en-US" sz="1800" dirty="0"/>
          </a:p>
        </p:txBody>
      </p:sp>
      <p:sp>
        <p:nvSpPr>
          <p:cNvPr id="13" name="Shape 10"/>
          <p:cNvSpPr/>
          <p:nvPr/>
        </p:nvSpPr>
        <p:spPr>
          <a:xfrm>
            <a:off x="9267825" y="3506986"/>
            <a:ext cx="3814763" cy="3084314"/>
          </a:xfrm>
          <a:prstGeom prst="rect">
            <a:avLst/>
          </a:prstGeom>
          <a:ln w="6350">
            <a:solidFill>
              <a:srgbClr val="E6E6E6"/>
            </a:solidFill>
            <a:prstDash val="solid"/>
          </a:ln>
        </p:spPr>
      </p:sp>
      <p:sp>
        <p:nvSpPr>
          <p:cNvPr id="14" name="Shape 11"/>
          <p:cNvSpPr/>
          <p:nvPr/>
        </p:nvSpPr>
        <p:spPr>
          <a:xfrm>
            <a:off x="9540875" y="3799086"/>
            <a:ext cx="457200" cy="381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sp>
        <p:nvSpPr>
          <p:cNvPr id="15" name="Text 12"/>
          <p:cNvSpPr/>
          <p:nvPr/>
        </p:nvSpPr>
        <p:spPr>
          <a:xfrm>
            <a:off x="9540875" y="3970536"/>
            <a:ext cx="3366723" cy="695325"/>
          </a:xfrm>
          <a:prstGeom prst="rect">
            <a:avLst/>
          </a:prstGeom>
          <a:noFill/>
          <a:ln/>
        </p:spPr>
        <p:txBody>
          <a:bodyPr wrap="square" lIns="25400" tIns="25400" rIns="25400" bIns="25400" rtlCol="0" anchor="t">
            <a:normAutofit/>
          </a:bodyPr>
          <a:lstStyle/>
          <a:p>
            <a:pPr algn="l" indent="0" marL="0">
              <a:lnSpc>
                <a:spcPct val="99519"/>
              </a:lnSpc>
              <a:buNone/>
            </a:pPr>
            <a:r>
              <a:rPr lang="en-US" sz="2250" b="1" spc="-45" kern="0" dirty="0">
                <a:solidFill>
                  <a:srgbClr val="000000"/>
                </a:solidFill>
                <a:latin typeface="Arial" pitchFamily="34" charset="0"/>
                <a:ea typeface="Arial" pitchFamily="34" charset="-122"/>
                <a:cs typeface="Arial" pitchFamily="34" charset="-120"/>
              </a:rPr>
              <a:t>DAF AI Strategy and AI Talent Plan, April 2026</a:t>
            </a:r>
            <a:endParaRPr lang="en-US" sz="2250" dirty="0"/>
          </a:p>
        </p:txBody>
      </p:sp>
      <p:sp>
        <p:nvSpPr>
          <p:cNvPr id="16" name="Text 13"/>
          <p:cNvSpPr/>
          <p:nvPr/>
        </p:nvSpPr>
        <p:spPr>
          <a:xfrm>
            <a:off x="9540875" y="4761111"/>
            <a:ext cx="3366723" cy="1287661"/>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4D4D4D"/>
                </a:solidFill>
                <a:latin typeface="Arial" pitchFamily="34" charset="0"/>
                <a:ea typeface="Arial" pitchFamily="34" charset="-122"/>
                <a:cs typeface="Arial" pitchFamily="34" charset="-120"/>
              </a:rPr>
              <a:t>Baseline AI literacy across the entire force. Competency becomes everyone’s requirement. </a:t>
            </a:r>
            <a:pPr algn="l" indent="0" marL="0">
              <a:lnSpc>
                <a:spcPct val="115714"/>
              </a:lnSpc>
              <a:buNone/>
            </a:pPr>
            <a:r>
              <a:rPr lang="en-US" sz="1800" dirty="0">
                <a:solidFill>
                  <a:srgbClr val="7500C0"/>
                </a:solidFill>
                <a:latin typeface="Courier New" pitchFamily="34" charset="0"/>
                <a:ea typeface="Courier New" pitchFamily="34" charset="-122"/>
                <a:cs typeface="Courier New" pitchFamily="34" charset="-120"/>
              </a:rPr>
              <a:t>S11 S12</a:t>
            </a:r>
            <a:endParaRPr lang="en-US" sz="1800" dirty="0"/>
          </a:p>
        </p:txBody>
      </p:sp>
      <p:sp>
        <p:nvSpPr>
          <p:cNvPr id="17" name="Shape 14"/>
          <p:cNvSpPr/>
          <p:nvPr/>
        </p:nvSpPr>
        <p:spPr>
          <a:xfrm>
            <a:off x="13330238" y="3506986"/>
            <a:ext cx="3814763" cy="3084314"/>
          </a:xfrm>
          <a:prstGeom prst="rect">
            <a:avLst/>
          </a:prstGeom>
          <a:ln w="6350">
            <a:solidFill>
              <a:srgbClr val="E6E6E6"/>
            </a:solidFill>
            <a:prstDash val="solid"/>
          </a:ln>
        </p:spPr>
      </p:sp>
      <p:sp>
        <p:nvSpPr>
          <p:cNvPr id="18" name="Shape 15"/>
          <p:cNvSpPr/>
          <p:nvPr/>
        </p:nvSpPr>
        <p:spPr>
          <a:xfrm>
            <a:off x="13603288" y="3799086"/>
            <a:ext cx="457200" cy="381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sp>
        <p:nvSpPr>
          <p:cNvPr id="19" name="Text 16"/>
          <p:cNvSpPr/>
          <p:nvPr/>
        </p:nvSpPr>
        <p:spPr>
          <a:xfrm>
            <a:off x="13603288" y="3970536"/>
            <a:ext cx="3366723" cy="695325"/>
          </a:xfrm>
          <a:prstGeom prst="rect">
            <a:avLst/>
          </a:prstGeom>
          <a:noFill/>
          <a:ln/>
        </p:spPr>
        <p:txBody>
          <a:bodyPr wrap="square" lIns="25400" tIns="25400" rIns="25400" bIns="25400" rtlCol="0" anchor="t">
            <a:normAutofit/>
          </a:bodyPr>
          <a:lstStyle/>
          <a:p>
            <a:pPr algn="l" indent="0" marL="0">
              <a:lnSpc>
                <a:spcPct val="99519"/>
              </a:lnSpc>
              <a:buNone/>
            </a:pPr>
            <a:r>
              <a:rPr lang="en-US" sz="2250" b="1" spc="-45" kern="0" dirty="0">
                <a:solidFill>
                  <a:srgbClr val="000000"/>
                </a:solidFill>
                <a:latin typeface="Arial" pitchFamily="34" charset="0"/>
                <a:ea typeface="Arial" pitchFamily="34" charset="-122"/>
                <a:cs typeface="Arial" pitchFamily="34" charset="-120"/>
              </a:rPr>
              <a:t>SWFT and continuous authorization</a:t>
            </a:r>
            <a:endParaRPr lang="en-US" sz="2250" dirty="0"/>
          </a:p>
        </p:txBody>
      </p:sp>
      <p:sp>
        <p:nvSpPr>
          <p:cNvPr id="20" name="Text 17"/>
          <p:cNvSpPr/>
          <p:nvPr/>
        </p:nvSpPr>
        <p:spPr>
          <a:xfrm>
            <a:off x="13603288" y="4761111"/>
            <a:ext cx="3366723" cy="1287661"/>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4D4D4D"/>
                </a:solidFill>
                <a:latin typeface="Arial" pitchFamily="34" charset="0"/>
                <a:ea typeface="Arial" pitchFamily="34" charset="-122"/>
                <a:cs typeface="Arial" pitchFamily="34" charset="-120"/>
              </a:rPr>
              <a:t>Continuous machine-readable evidence replaces the paper package. Assurance, at speed. </a:t>
            </a:r>
            <a:pPr algn="l" indent="0" marL="0">
              <a:lnSpc>
                <a:spcPct val="115714"/>
              </a:lnSpc>
              <a:buNone/>
            </a:pPr>
            <a:r>
              <a:rPr lang="en-US" sz="1800" dirty="0">
                <a:solidFill>
                  <a:srgbClr val="7500C0"/>
                </a:solidFill>
                <a:latin typeface="Courier New" pitchFamily="34" charset="0"/>
                <a:ea typeface="Courier New" pitchFamily="34" charset="-122"/>
                <a:cs typeface="Courier New" pitchFamily="34" charset="-120"/>
              </a:rPr>
              <a:t>S5 S6</a:t>
            </a:r>
            <a:endParaRPr lang="en-US" sz="1800" dirty="0"/>
          </a:p>
        </p:txBody>
      </p:sp>
      <p:sp>
        <p:nvSpPr>
          <p:cNvPr id="21" name="Shape 18"/>
          <p:cNvSpPr/>
          <p:nvPr/>
        </p:nvSpPr>
        <p:spPr>
          <a:xfrm>
            <a:off x="1143000" y="8032552"/>
            <a:ext cx="16002000" cy="917178"/>
          </a:xfrm>
          <a:prstGeom prst="rect">
            <a:avLst/>
          </a:prstGeom>
          <a:solidFill>
            <a:srgbClr val="250038"/>
          </a:solidFill>
          <a:ln/>
        </p:spPr>
      </p:sp>
      <p:pic>
        <p:nvPicPr>
          <p:cNvPr id="22"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24000" y="8372079"/>
            <a:ext cx="228600" cy="238125"/>
          </a:xfrm>
          <a:prstGeom prst="rect">
            <a:avLst/>
          </a:prstGeom>
        </p:spPr>
      </p:pic>
      <p:sp>
        <p:nvSpPr>
          <p:cNvPr id="23" name="Text 19"/>
          <p:cNvSpPr/>
          <p:nvPr/>
        </p:nvSpPr>
        <p:spPr>
          <a:xfrm>
            <a:off x="1962150" y="8299252"/>
            <a:ext cx="9405739" cy="421878"/>
          </a:xfrm>
          <a:prstGeom prst="rect">
            <a:avLst/>
          </a:prstGeom>
          <a:noFill/>
          <a:ln/>
        </p:spPr>
        <p:txBody>
          <a:bodyPr wrap="square" lIns="25400" tIns="25400" rIns="25400" bIns="25400" rtlCol="0" anchor="t">
            <a:normAutofit/>
          </a:bodyPr>
          <a:lstStyle/>
          <a:p>
            <a:pPr algn="l" indent="0" marL="0">
              <a:lnSpc>
                <a:spcPct val="111944"/>
              </a:lnSpc>
              <a:buNone/>
            </a:pPr>
            <a:r>
              <a:rPr lang="en-US" sz="2325" b="1" dirty="0">
                <a:solidFill>
                  <a:srgbClr val="FFFFFF"/>
                </a:solidFill>
                <a:latin typeface="Arial" pitchFamily="34" charset="0"/>
                <a:ea typeface="Arial" pitchFamily="34" charset="-122"/>
                <a:cs typeface="Arial" pitchFamily="34" charset="-120"/>
              </a:rPr>
              <a:t>Four directives. One workforce question at the core of all of them.</a:t>
            </a:r>
            <a:endParaRPr lang="en-US" sz="2325" dirty="0"/>
          </a:p>
        </p:txBody>
      </p:sp>
      <p:sp>
        <p:nvSpPr>
          <p:cNvPr id="24" name="Text 20"/>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25" name="Text 21"/>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26" name="Text 22"/>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2115582"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THE MANDATE</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5304770" cy="1190228"/>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The Department of the Air Force has already decided AI fluency is a mission requirement, not an experiment</a:t>
            </a:r>
            <a:endParaRPr lang="en-US" sz="4200" dirty="0"/>
          </a:p>
        </p:txBody>
      </p:sp>
      <p:sp>
        <p:nvSpPr>
          <p:cNvPr id="5" name="Shape 2"/>
          <p:cNvSpPr/>
          <p:nvPr/>
        </p:nvSpPr>
        <p:spPr>
          <a:xfrm>
            <a:off x="1143000" y="4339233"/>
            <a:ext cx="3771900" cy="3332063"/>
          </a:xfrm>
          <a:prstGeom prst="rect">
            <a:avLst/>
          </a:prstGeom>
          <a:ln w="6350">
            <a:solidFill>
              <a:srgbClr val="E6E6E6"/>
            </a:solidFill>
            <a:prstDash val="solid"/>
          </a:ln>
        </p:spPr>
      </p:sp>
      <p:sp>
        <p:nvSpPr>
          <p:cNvPr id="6" name="Shape 3"/>
          <p:cNvSpPr/>
          <p:nvPr/>
        </p:nvSpPr>
        <p:spPr>
          <a:xfrm>
            <a:off x="1492250" y="4726583"/>
            <a:ext cx="533400" cy="381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sp>
        <p:nvSpPr>
          <p:cNvPr id="7" name="Text 4"/>
          <p:cNvSpPr/>
          <p:nvPr/>
        </p:nvSpPr>
        <p:spPr>
          <a:xfrm>
            <a:off x="1492250" y="4936133"/>
            <a:ext cx="338074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THE PLAN</a:t>
            </a:r>
            <a:endParaRPr lang="en-US" sz="1800" dirty="0"/>
          </a:p>
        </p:txBody>
      </p:sp>
      <p:sp>
        <p:nvSpPr>
          <p:cNvPr id="8" name="Text 5"/>
          <p:cNvSpPr/>
          <p:nvPr/>
        </p:nvSpPr>
        <p:spPr>
          <a:xfrm>
            <a:off x="1492250" y="5473303"/>
            <a:ext cx="3380740" cy="432395"/>
          </a:xfrm>
          <a:prstGeom prst="rect">
            <a:avLst/>
          </a:prstGeom>
          <a:noFill/>
          <a:ln/>
        </p:spPr>
        <p:txBody>
          <a:bodyPr wrap="square" lIns="25400" tIns="25400" rIns="25400" bIns="25400" rtlCol="0" anchor="t">
            <a:normAutofit/>
          </a:bodyPr>
          <a:lstStyle/>
          <a:p>
            <a:pPr algn="l" indent="0" marL="0">
              <a:lnSpc>
                <a:spcPct val="100161"/>
              </a:lnSpc>
              <a:buNone/>
            </a:pPr>
            <a:r>
              <a:rPr lang="en-US" sz="2700" b="1" spc="-54" kern="0" dirty="0">
                <a:solidFill>
                  <a:srgbClr val="000000"/>
                </a:solidFill>
                <a:latin typeface="Arial" pitchFamily="34" charset="0"/>
                <a:ea typeface="Arial" pitchFamily="34" charset="-122"/>
                <a:cs typeface="Arial" pitchFamily="34" charset="-120"/>
              </a:rPr>
              <a:t>DAF AI Talent Plan</a:t>
            </a:r>
            <a:endParaRPr lang="en-US" sz="2700" dirty="0"/>
          </a:p>
        </p:txBody>
      </p:sp>
      <p:sp>
        <p:nvSpPr>
          <p:cNvPr id="9" name="Text 6"/>
          <p:cNvSpPr/>
          <p:nvPr/>
        </p:nvSpPr>
        <p:spPr>
          <a:xfrm>
            <a:off x="1492250" y="6039049"/>
            <a:ext cx="3380740"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dirty="0">
                <a:solidFill>
                  <a:srgbClr val="4D4D4D"/>
                </a:solidFill>
                <a:latin typeface="Arial" pitchFamily="34" charset="0"/>
                <a:ea typeface="Arial" pitchFamily="34" charset="-122"/>
                <a:cs typeface="Arial" pitchFamily="34" charset="-120"/>
              </a:rPr>
              <a:t>April 2026 </a:t>
            </a:r>
            <a:pPr algn="l" indent="0" marL="0">
              <a:lnSpc>
                <a:spcPct val="141818"/>
              </a:lnSpc>
              <a:buNone/>
            </a:pPr>
            <a:r>
              <a:rPr lang="en-US" sz="1800" dirty="0">
                <a:solidFill>
                  <a:srgbClr val="7500C0"/>
                </a:solidFill>
                <a:latin typeface="Courier New" pitchFamily="34" charset="0"/>
                <a:ea typeface="Courier New" pitchFamily="34" charset="-122"/>
                <a:cs typeface="Courier New" pitchFamily="34" charset="-120"/>
              </a:rPr>
              <a:t>S1 S12</a:t>
            </a:r>
            <a:endParaRPr lang="en-US" sz="1950" dirty="0"/>
          </a:p>
        </p:txBody>
      </p:sp>
      <p:sp>
        <p:nvSpPr>
          <p:cNvPr id="10" name="Shape 7"/>
          <p:cNvSpPr/>
          <p:nvPr/>
        </p:nvSpPr>
        <p:spPr>
          <a:xfrm>
            <a:off x="5219700" y="4339233"/>
            <a:ext cx="3771900" cy="3332063"/>
          </a:xfrm>
          <a:prstGeom prst="rect">
            <a:avLst/>
          </a:prstGeom>
          <a:ln w="6350">
            <a:solidFill>
              <a:srgbClr val="E6E6E6"/>
            </a:solidFill>
            <a:prstDash val="solid"/>
          </a:ln>
        </p:spPr>
      </p:sp>
      <p:sp>
        <p:nvSpPr>
          <p:cNvPr id="11" name="Shape 8"/>
          <p:cNvSpPr/>
          <p:nvPr/>
        </p:nvSpPr>
        <p:spPr>
          <a:xfrm>
            <a:off x="5568950" y="4726583"/>
            <a:ext cx="533400" cy="381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sp>
        <p:nvSpPr>
          <p:cNvPr id="12" name="Text 9"/>
          <p:cNvSpPr/>
          <p:nvPr/>
        </p:nvSpPr>
        <p:spPr>
          <a:xfrm>
            <a:off x="5568950" y="4936133"/>
            <a:ext cx="338074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THE TARGET</a:t>
            </a:r>
            <a:endParaRPr lang="en-US" sz="1800" dirty="0"/>
          </a:p>
        </p:txBody>
      </p:sp>
      <p:sp>
        <p:nvSpPr>
          <p:cNvPr id="13" name="Text 10"/>
          <p:cNvSpPr/>
          <p:nvPr/>
        </p:nvSpPr>
        <p:spPr>
          <a:xfrm>
            <a:off x="5568950" y="5473303"/>
            <a:ext cx="3165602" cy="826691"/>
          </a:xfrm>
          <a:prstGeom prst="rect">
            <a:avLst/>
          </a:prstGeom>
          <a:noFill/>
          <a:ln/>
        </p:spPr>
        <p:txBody>
          <a:bodyPr wrap="square" lIns="25400" tIns="25400" rIns="25400" bIns="25400" rtlCol="0" anchor="t">
            <a:normAutofit/>
          </a:bodyPr>
          <a:lstStyle/>
          <a:p>
            <a:pPr algn="l" indent="0" marL="0">
              <a:lnSpc>
                <a:spcPct val="100161"/>
              </a:lnSpc>
              <a:buNone/>
            </a:pPr>
            <a:r>
              <a:rPr lang="en-US" sz="2700" b="1" spc="-54" kern="0" dirty="0">
                <a:solidFill>
                  <a:srgbClr val="7500C0"/>
                </a:solidFill>
                <a:latin typeface="Arial" pitchFamily="34" charset="0"/>
                <a:ea typeface="Arial" pitchFamily="34" charset="-122"/>
                <a:cs typeface="Arial" pitchFamily="34" charset="-120"/>
              </a:rPr>
              <a:t>AI Competitive by 2027</a:t>
            </a:r>
            <a:endParaRPr lang="en-US" sz="2700" dirty="0"/>
          </a:p>
        </p:txBody>
      </p:sp>
      <p:sp>
        <p:nvSpPr>
          <p:cNvPr id="14" name="Text 11"/>
          <p:cNvSpPr/>
          <p:nvPr/>
        </p:nvSpPr>
        <p:spPr>
          <a:xfrm>
            <a:off x="5568950" y="6433344"/>
            <a:ext cx="3380740"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dirty="0">
                <a:solidFill>
                  <a:srgbClr val="4D4D4D"/>
                </a:solidFill>
                <a:latin typeface="Arial" pitchFamily="34" charset="0"/>
                <a:ea typeface="Arial" pitchFamily="34" charset="-122"/>
                <a:cs typeface="Arial" pitchFamily="34" charset="-120"/>
              </a:rPr>
              <a:t>Set as a hard target </a:t>
            </a:r>
            <a:pPr algn="l" indent="0" marL="0">
              <a:lnSpc>
                <a:spcPct val="141818"/>
              </a:lnSpc>
              <a:buNone/>
            </a:pPr>
            <a:r>
              <a:rPr lang="en-US" sz="1800" dirty="0">
                <a:solidFill>
                  <a:srgbClr val="7500C0"/>
                </a:solidFill>
                <a:latin typeface="Courier New" pitchFamily="34" charset="0"/>
                <a:ea typeface="Courier New" pitchFamily="34" charset="-122"/>
                <a:cs typeface="Courier New" pitchFamily="34" charset="-120"/>
              </a:rPr>
              <a:t>S2</a:t>
            </a:r>
            <a:endParaRPr lang="en-US" sz="1950" dirty="0"/>
          </a:p>
        </p:txBody>
      </p:sp>
      <p:sp>
        <p:nvSpPr>
          <p:cNvPr id="15" name="Shape 12"/>
          <p:cNvSpPr/>
          <p:nvPr/>
        </p:nvSpPr>
        <p:spPr>
          <a:xfrm>
            <a:off x="9296400" y="4339233"/>
            <a:ext cx="3771900" cy="3332063"/>
          </a:xfrm>
          <a:prstGeom prst="rect">
            <a:avLst/>
          </a:prstGeom>
          <a:ln w="6350">
            <a:solidFill>
              <a:srgbClr val="E6E6E6"/>
            </a:solidFill>
            <a:prstDash val="solid"/>
          </a:ln>
        </p:spPr>
      </p:sp>
      <p:sp>
        <p:nvSpPr>
          <p:cNvPr id="16" name="Shape 13"/>
          <p:cNvSpPr/>
          <p:nvPr/>
        </p:nvSpPr>
        <p:spPr>
          <a:xfrm>
            <a:off x="9645650" y="4726583"/>
            <a:ext cx="533400" cy="381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sp>
        <p:nvSpPr>
          <p:cNvPr id="17" name="Text 14"/>
          <p:cNvSpPr/>
          <p:nvPr/>
        </p:nvSpPr>
        <p:spPr>
          <a:xfrm>
            <a:off x="9645650" y="4936133"/>
            <a:ext cx="338074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THE WORKFORCE</a:t>
            </a:r>
            <a:endParaRPr lang="en-US" sz="1800" dirty="0"/>
          </a:p>
        </p:txBody>
      </p:sp>
      <p:sp>
        <p:nvSpPr>
          <p:cNvPr id="18" name="Text 15"/>
          <p:cNvSpPr/>
          <p:nvPr/>
        </p:nvSpPr>
        <p:spPr>
          <a:xfrm>
            <a:off x="9645650" y="5473303"/>
            <a:ext cx="3380740" cy="395288"/>
          </a:xfrm>
          <a:prstGeom prst="rect">
            <a:avLst/>
          </a:prstGeom>
          <a:noFill/>
          <a:ln/>
        </p:spPr>
        <p:txBody>
          <a:bodyPr wrap="square" lIns="25400" tIns="25400" rIns="25400" bIns="25400" rtlCol="0" anchor="t">
            <a:normAutofit/>
          </a:bodyPr>
          <a:lstStyle/>
          <a:p>
            <a:pPr algn="l" indent="0" marL="0">
              <a:lnSpc>
                <a:spcPct val="108173"/>
              </a:lnSpc>
              <a:buNone/>
            </a:pPr>
            <a:r>
              <a:rPr lang="en-US" sz="2250" b="1" dirty="0">
                <a:solidFill>
                  <a:srgbClr val="000000"/>
                </a:solidFill>
                <a:latin typeface="Arial" pitchFamily="34" charset="0"/>
                <a:ea typeface="Arial" pitchFamily="34" charset="-122"/>
                <a:cs typeface="Arial" pitchFamily="34" charset="-120"/>
              </a:rPr>
              <a:t>AI specialists (depth)</a:t>
            </a:r>
            <a:endParaRPr lang="en-US" sz="2250" dirty="0"/>
          </a:p>
        </p:txBody>
      </p:sp>
      <p:sp>
        <p:nvSpPr>
          <p:cNvPr id="19" name="Text 16"/>
          <p:cNvSpPr/>
          <p:nvPr/>
        </p:nvSpPr>
        <p:spPr>
          <a:xfrm>
            <a:off x="9645650" y="6001941"/>
            <a:ext cx="3165602" cy="752475"/>
          </a:xfrm>
          <a:prstGeom prst="rect">
            <a:avLst/>
          </a:prstGeom>
          <a:noFill/>
          <a:ln/>
        </p:spPr>
        <p:txBody>
          <a:bodyPr wrap="square" lIns="25400" tIns="25400" rIns="25400" bIns="25400" rtlCol="0" anchor="t">
            <a:normAutofit/>
          </a:bodyPr>
          <a:lstStyle/>
          <a:p>
            <a:pPr algn="l" indent="0" marL="0">
              <a:lnSpc>
                <a:spcPct val="108173"/>
              </a:lnSpc>
              <a:buNone/>
            </a:pPr>
            <a:r>
              <a:rPr lang="en-US" sz="2250" b="1" dirty="0">
                <a:solidFill>
                  <a:srgbClr val="000000"/>
                </a:solidFill>
                <a:latin typeface="Arial" pitchFamily="34" charset="0"/>
                <a:ea typeface="Arial" pitchFamily="34" charset="-122"/>
                <a:cs typeface="Arial" pitchFamily="34" charset="-120"/>
              </a:rPr>
              <a:t>AI-enabled operators (breadth)</a:t>
            </a:r>
            <a:endParaRPr lang="en-US" sz="2250" dirty="0"/>
          </a:p>
        </p:txBody>
      </p:sp>
      <p:sp>
        <p:nvSpPr>
          <p:cNvPr id="20" name="Text 17"/>
          <p:cNvSpPr/>
          <p:nvPr/>
        </p:nvSpPr>
        <p:spPr>
          <a:xfrm>
            <a:off x="9645650" y="6887766"/>
            <a:ext cx="3380740"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dirty="0">
                <a:solidFill>
                  <a:srgbClr val="4D4D4D"/>
                </a:solidFill>
                <a:latin typeface="Arial" pitchFamily="34" charset="0"/>
                <a:ea typeface="Arial" pitchFamily="34" charset="-122"/>
                <a:cs typeface="Arial" pitchFamily="34" charset="-120"/>
              </a:rPr>
              <a:t>A dual-track model</a:t>
            </a:r>
            <a:endParaRPr lang="en-US" sz="1950" dirty="0"/>
          </a:p>
        </p:txBody>
      </p:sp>
      <p:sp>
        <p:nvSpPr>
          <p:cNvPr id="21" name="Shape 18"/>
          <p:cNvSpPr/>
          <p:nvPr/>
        </p:nvSpPr>
        <p:spPr>
          <a:xfrm>
            <a:off x="13373100" y="4339233"/>
            <a:ext cx="3771900" cy="3332063"/>
          </a:xfrm>
          <a:prstGeom prst="rect">
            <a:avLst/>
          </a:prstGeom>
          <a:ln w="6350">
            <a:solidFill>
              <a:srgbClr val="E6E6E6"/>
            </a:solidFill>
            <a:prstDash val="solid"/>
          </a:ln>
        </p:spPr>
      </p:sp>
      <p:sp>
        <p:nvSpPr>
          <p:cNvPr id="22" name="Shape 19"/>
          <p:cNvSpPr/>
          <p:nvPr/>
        </p:nvSpPr>
        <p:spPr>
          <a:xfrm>
            <a:off x="13722351" y="4726583"/>
            <a:ext cx="533400" cy="381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sp>
        <p:nvSpPr>
          <p:cNvPr id="23" name="Text 20"/>
          <p:cNvSpPr/>
          <p:nvPr/>
        </p:nvSpPr>
        <p:spPr>
          <a:xfrm>
            <a:off x="13722351" y="4936133"/>
            <a:ext cx="338074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THE METRIC</a:t>
            </a:r>
            <a:endParaRPr lang="en-US" sz="1800" dirty="0"/>
          </a:p>
        </p:txBody>
      </p:sp>
      <p:sp>
        <p:nvSpPr>
          <p:cNvPr id="24" name="Text 21"/>
          <p:cNvSpPr/>
          <p:nvPr/>
        </p:nvSpPr>
        <p:spPr>
          <a:xfrm>
            <a:off x="13722351" y="5473303"/>
            <a:ext cx="3165602" cy="826691"/>
          </a:xfrm>
          <a:prstGeom prst="rect">
            <a:avLst/>
          </a:prstGeom>
          <a:noFill/>
          <a:ln/>
        </p:spPr>
        <p:txBody>
          <a:bodyPr wrap="square" lIns="25400" tIns="25400" rIns="25400" bIns="25400" rtlCol="0" anchor="t">
            <a:normAutofit/>
          </a:bodyPr>
          <a:lstStyle/>
          <a:p>
            <a:pPr algn="l" indent="0" marL="0">
              <a:lnSpc>
                <a:spcPct val="100161"/>
              </a:lnSpc>
              <a:buNone/>
            </a:pPr>
            <a:r>
              <a:rPr lang="en-US" sz="2700" b="1" spc="-54" kern="0" dirty="0">
                <a:solidFill>
                  <a:srgbClr val="000000"/>
                </a:solidFill>
                <a:latin typeface="Arial" pitchFamily="34" charset="0"/>
                <a:ea typeface="Arial" pitchFamily="34" charset="-122"/>
                <a:cs typeface="Arial" pitchFamily="34" charset="-120"/>
              </a:rPr>
              <a:t>Demonstrated competency</a:t>
            </a:r>
            <a:endParaRPr lang="en-US" sz="2700" dirty="0"/>
          </a:p>
        </p:txBody>
      </p:sp>
      <p:sp>
        <p:nvSpPr>
          <p:cNvPr id="25" name="Text 22"/>
          <p:cNvSpPr/>
          <p:nvPr/>
        </p:nvSpPr>
        <p:spPr>
          <a:xfrm>
            <a:off x="13722351" y="6433344"/>
            <a:ext cx="3380740"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dirty="0">
                <a:solidFill>
                  <a:srgbClr val="4D4D4D"/>
                </a:solidFill>
                <a:latin typeface="Arial" pitchFamily="34" charset="0"/>
                <a:ea typeface="Arial" pitchFamily="34" charset="-122"/>
                <a:cs typeface="Arial" pitchFamily="34" charset="-120"/>
              </a:rPr>
              <a:t>Not course completion</a:t>
            </a:r>
            <a:endParaRPr lang="en-US" sz="1950" dirty="0"/>
          </a:p>
        </p:txBody>
      </p:sp>
      <p:sp>
        <p:nvSpPr>
          <p:cNvPr id="26" name="Text 23"/>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27" name="Text 24"/>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28" name="Text 25"/>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sp>
        <p:nvSpPr>
          <p:cNvPr id="3" name="Text 1"/>
          <p:cNvSpPr/>
          <p:nvPr/>
        </p:nvSpPr>
        <p:spPr>
          <a:xfrm>
            <a:off x="1143000" y="800100"/>
            <a:ext cx="1315145"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FFFFFF">
                    <a:alpha val="85000"/>
                  </a:srgbClr>
                </a:solidFill>
                <a:latin typeface="Arial" pitchFamily="34" charset="0"/>
                <a:ea typeface="Arial" pitchFamily="34" charset="-122"/>
                <a:cs typeface="Arial" pitchFamily="34" charset="-120"/>
              </a:rPr>
              <a:t>THE GAP</a:t>
            </a:r>
            <a:endParaRPr lang="en-US" sz="1800" dirty="0"/>
          </a:p>
        </p:txBody>
      </p:sp>
      <p:pic>
        <p:nvPicPr>
          <p:cNvPr id="4"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5" name="Text 2"/>
          <p:cNvSpPr/>
          <p:nvPr/>
        </p:nvSpPr>
        <p:spPr>
          <a:xfrm>
            <a:off x="1143000" y="3373041"/>
            <a:ext cx="15304770" cy="1446213"/>
          </a:xfrm>
          <a:prstGeom prst="rect">
            <a:avLst/>
          </a:prstGeom>
          <a:noFill/>
          <a:ln/>
        </p:spPr>
        <p:txBody>
          <a:bodyPr wrap="square" lIns="25400" tIns="25400" rIns="25400" bIns="25400" rtlCol="0" anchor="t">
            <a:normAutofit/>
          </a:bodyPr>
          <a:lstStyle/>
          <a:p>
            <a:pPr algn="l" indent="0" marL="0">
              <a:lnSpc>
                <a:spcPct val="97263"/>
              </a:lnSpc>
              <a:buNone/>
            </a:pPr>
            <a:r>
              <a:rPr lang="en-US" sz="4950" b="1" spc="-99" kern="0" dirty="0">
                <a:solidFill>
                  <a:srgbClr val="FFFFFF"/>
                </a:solidFill>
                <a:latin typeface="Arial" pitchFamily="34" charset="0"/>
                <a:ea typeface="Arial" pitchFamily="34" charset="-122"/>
                <a:cs typeface="Arial" pitchFamily="34" charset="-120"/>
              </a:rPr>
              <a:t>You have already decided that demonstrated competency is the metric.</a:t>
            </a:r>
            <a:endParaRPr lang="en-US" sz="4950" dirty="0"/>
          </a:p>
        </p:txBody>
      </p:sp>
      <p:sp>
        <p:nvSpPr>
          <p:cNvPr id="6" name="Text 3"/>
          <p:cNvSpPr/>
          <p:nvPr/>
        </p:nvSpPr>
        <p:spPr>
          <a:xfrm>
            <a:off x="1143000" y="5162154"/>
            <a:ext cx="16344900" cy="742156"/>
          </a:xfrm>
          <a:prstGeom prst="rect">
            <a:avLst/>
          </a:prstGeom>
          <a:noFill/>
          <a:ln/>
        </p:spPr>
        <p:txBody>
          <a:bodyPr wrap="square" lIns="25400" tIns="25400" rIns="25400" bIns="25400" rtlCol="0" anchor="t">
            <a:normAutofit/>
          </a:bodyPr>
          <a:lstStyle/>
          <a:p>
            <a:pPr algn="l" indent="0" marL="0">
              <a:lnSpc>
                <a:spcPct val="97263"/>
              </a:lnSpc>
              <a:buNone/>
            </a:pPr>
            <a:r>
              <a:rPr lang="en-US" sz="4950" b="1" spc="-99" kern="0" dirty="0">
                <a:solidFill>
                  <a:srgbClr val="FFFFFF"/>
                </a:solidFill>
                <a:latin typeface="Arial" pitchFamily="34" charset="0"/>
                <a:ea typeface="Arial" pitchFamily="34" charset="-122"/>
                <a:cs typeface="Arial" pitchFamily="34" charset="-120"/>
              </a:rPr>
              <a:t>No directive tells you how to measure it.</a:t>
            </a:r>
            <a:endParaRPr lang="en-US" sz="4950" dirty="0"/>
          </a:p>
        </p:txBody>
      </p:sp>
      <p:sp>
        <p:nvSpPr>
          <p:cNvPr id="7" name="Text 4"/>
          <p:cNvSpPr/>
          <p:nvPr/>
        </p:nvSpPr>
        <p:spPr>
          <a:xfrm>
            <a:off x="1143000" y="6247209"/>
            <a:ext cx="14668500" cy="533400"/>
          </a:xfrm>
          <a:prstGeom prst="rect">
            <a:avLst/>
          </a:prstGeom>
          <a:noFill/>
          <a:ln/>
        </p:spPr>
        <p:txBody>
          <a:bodyPr wrap="square" lIns="25400" tIns="25400" rIns="25400" bIns="25400" rtlCol="0" anchor="t">
            <a:normAutofit/>
          </a:bodyPr>
          <a:lstStyle/>
          <a:p>
            <a:pPr algn="l" indent="0" marL="0">
              <a:lnSpc>
                <a:spcPct val="113043"/>
              </a:lnSpc>
              <a:buNone/>
            </a:pPr>
            <a:r>
              <a:rPr lang="en-US" sz="3000" dirty="0">
                <a:solidFill>
                  <a:srgbClr val="FFFFFF">
                    <a:alpha val="90000"/>
                  </a:srgbClr>
                </a:solidFill>
                <a:latin typeface="Arial" pitchFamily="34" charset="0"/>
                <a:ea typeface="Arial" pitchFamily="34" charset="-122"/>
                <a:cs typeface="Arial" pitchFamily="34" charset="-120"/>
              </a:rPr>
              <a:t>That is what the next forty minutes are for.</a:t>
            </a:r>
            <a:endParaRPr lang="en-US" sz="3000" dirty="0"/>
          </a:p>
        </p:txBody>
      </p:sp>
      <p:sp>
        <p:nvSpPr>
          <p:cNvPr id="8" name="Text 5"/>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70000"/>
                  </a:srgbClr>
                </a:solidFill>
                <a:latin typeface="Arial" pitchFamily="34" charset="0"/>
                <a:ea typeface="Arial" pitchFamily="34" charset="-122"/>
                <a:cs typeface="Arial" pitchFamily="34" charset="-120"/>
              </a:rPr>
              <a:t>DAFITC 2026</a:t>
            </a:r>
            <a:endParaRPr lang="en-US" sz="1800" dirty="0"/>
          </a:p>
        </p:txBody>
      </p:sp>
      <p:sp>
        <p:nvSpPr>
          <p:cNvPr id="9" name="Text 6"/>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40000"/>
                  </a:srgbClr>
                </a:solidFill>
                <a:latin typeface="Arial" pitchFamily="34" charset="0"/>
                <a:ea typeface="Arial" pitchFamily="34" charset="-122"/>
                <a:cs typeface="Arial" pitchFamily="34" charset="-120"/>
              </a:rPr>
              <a:t>/</a:t>
            </a:r>
            <a:endParaRPr lang="en-US" sz="1800" dirty="0"/>
          </a:p>
        </p:txBody>
      </p:sp>
      <p:sp>
        <p:nvSpPr>
          <p:cNvPr id="10" name="Text 7"/>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70000"/>
                  </a:srgbClr>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3698448"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THE MEASUREMENT GAP</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634490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Competence with AI is the one thing people cannot self-assess</a:t>
            </a:r>
            <a:endParaRPr lang="en-US" sz="4200" dirty="0"/>
          </a:p>
        </p:txBody>
      </p:sp>
      <p:sp>
        <p:nvSpPr>
          <p:cNvPr id="5" name="Text 2"/>
          <p:cNvSpPr/>
          <p:nvPr/>
        </p:nvSpPr>
        <p:spPr>
          <a:xfrm>
            <a:off x="1143000" y="2907506"/>
            <a:ext cx="8507730" cy="914400"/>
          </a:xfrm>
          <a:prstGeom prst="rect">
            <a:avLst/>
          </a:prstGeom>
          <a:noFill/>
          <a:ln/>
        </p:spPr>
        <p:txBody>
          <a:bodyPr wrap="square" lIns="25400" tIns="25400" rIns="25400" bIns="25400" rtlCol="0" anchor="t">
            <a:normAutofit/>
          </a:bodyPr>
          <a:lstStyle/>
          <a:p>
            <a:pPr algn="l" indent="0" marL="0">
              <a:lnSpc>
                <a:spcPct val="70769"/>
              </a:lnSpc>
              <a:buNone/>
            </a:pPr>
            <a:r>
              <a:rPr lang="en-US" sz="6900" b="1" spc="-207" kern="0" dirty="0">
                <a:solidFill>
                  <a:srgbClr val="96968C"/>
                </a:solidFill>
                <a:latin typeface="Arial" pitchFamily="34" charset="0"/>
                <a:ea typeface="Arial" pitchFamily="34" charset="-122"/>
                <a:cs typeface="Arial" pitchFamily="34" charset="-120"/>
              </a:rPr>
              <a:t>20% faster</a:t>
            </a:r>
            <a:endParaRPr lang="en-US" sz="6900" dirty="0"/>
          </a:p>
        </p:txBody>
      </p:sp>
      <p:sp>
        <p:nvSpPr>
          <p:cNvPr id="6" name="Text 3"/>
          <p:cNvSpPr/>
          <p:nvPr/>
        </p:nvSpPr>
        <p:spPr>
          <a:xfrm>
            <a:off x="1143000" y="3879056"/>
            <a:ext cx="8507730" cy="386655"/>
          </a:xfrm>
          <a:prstGeom prst="rect">
            <a:avLst/>
          </a:prstGeom>
          <a:noFill/>
          <a:ln/>
        </p:spPr>
        <p:txBody>
          <a:bodyPr wrap="square" lIns="25400" tIns="25400" rIns="25400" bIns="25400" rtlCol="0" anchor="t">
            <a:normAutofit/>
          </a:bodyPr>
          <a:lstStyle/>
          <a:p>
            <a:pPr algn="l" indent="0" marL="0">
              <a:lnSpc>
                <a:spcPct val="105577"/>
              </a:lnSpc>
              <a:buNone/>
            </a:pPr>
            <a:r>
              <a:rPr lang="en-US" sz="2250" b="1" dirty="0">
                <a:solidFill>
                  <a:srgbClr val="000000"/>
                </a:solidFill>
                <a:latin typeface="Arial" pitchFamily="34" charset="0"/>
                <a:ea typeface="Arial" pitchFamily="34" charset="-122"/>
                <a:cs typeface="Arial" pitchFamily="34" charset="-120"/>
              </a:rPr>
              <a:t>Believed they were</a:t>
            </a:r>
            <a:endParaRPr lang="en-US" sz="2250" dirty="0"/>
          </a:p>
        </p:txBody>
      </p:sp>
      <p:sp>
        <p:nvSpPr>
          <p:cNvPr id="7" name="Text 4"/>
          <p:cNvSpPr/>
          <p:nvPr/>
        </p:nvSpPr>
        <p:spPr>
          <a:xfrm>
            <a:off x="9410700" y="2907506"/>
            <a:ext cx="8507730" cy="914400"/>
          </a:xfrm>
          <a:prstGeom prst="rect">
            <a:avLst/>
          </a:prstGeom>
          <a:noFill/>
          <a:ln/>
        </p:spPr>
        <p:txBody>
          <a:bodyPr wrap="square" lIns="25400" tIns="25400" rIns="25400" bIns="25400" rtlCol="0" anchor="t">
            <a:normAutofit/>
          </a:bodyPr>
          <a:lstStyle/>
          <a:p>
            <a:pPr algn="l" indent="0" marL="0">
              <a:lnSpc>
                <a:spcPct val="70769"/>
              </a:lnSpc>
              <a:buNone/>
            </a:pPr>
            <a:r>
              <a:rPr lang="en-US" sz="6900" b="1" spc="-207" kern="0" dirty="0">
                <a:solidFill>
                  <a:srgbClr val="A100FF"/>
                </a:solidFill>
                <a:latin typeface="Arial" pitchFamily="34" charset="0"/>
                <a:ea typeface="Arial" pitchFamily="34" charset="-122"/>
                <a:cs typeface="Arial" pitchFamily="34" charset="-120"/>
              </a:rPr>
              <a:t>19% slower</a:t>
            </a:r>
            <a:endParaRPr lang="en-US" sz="6900" dirty="0"/>
          </a:p>
        </p:txBody>
      </p:sp>
      <p:sp>
        <p:nvSpPr>
          <p:cNvPr id="8" name="Text 5"/>
          <p:cNvSpPr/>
          <p:nvPr/>
        </p:nvSpPr>
        <p:spPr>
          <a:xfrm>
            <a:off x="9410700" y="3879056"/>
            <a:ext cx="8507730" cy="386655"/>
          </a:xfrm>
          <a:prstGeom prst="rect">
            <a:avLst/>
          </a:prstGeom>
          <a:noFill/>
          <a:ln/>
        </p:spPr>
        <p:txBody>
          <a:bodyPr wrap="square" lIns="25400" tIns="25400" rIns="25400" bIns="25400" rtlCol="0" anchor="t">
            <a:normAutofit/>
          </a:bodyPr>
          <a:lstStyle/>
          <a:p>
            <a:pPr algn="l" indent="0" marL="0">
              <a:lnSpc>
                <a:spcPct val="105577"/>
              </a:lnSpc>
              <a:buNone/>
            </a:pPr>
            <a:r>
              <a:rPr lang="en-US" sz="2250" b="1" dirty="0">
                <a:solidFill>
                  <a:srgbClr val="000000"/>
                </a:solidFill>
                <a:latin typeface="Arial" pitchFamily="34" charset="0"/>
                <a:ea typeface="Arial" pitchFamily="34" charset="-122"/>
                <a:cs typeface="Arial" pitchFamily="34" charset="-120"/>
              </a:rPr>
              <a:t>Measured</a:t>
            </a:r>
            <a:endParaRPr lang="en-US" sz="2250" dirty="0"/>
          </a:p>
        </p:txBody>
      </p:sp>
      <p:sp>
        <p:nvSpPr>
          <p:cNvPr id="9" name="Shape 6"/>
          <p:cNvSpPr/>
          <p:nvPr/>
        </p:nvSpPr>
        <p:spPr>
          <a:xfrm>
            <a:off x="1143000" y="4494312"/>
            <a:ext cx="7810500" cy="2898378"/>
          </a:xfrm>
          <a:prstGeom prst="rect">
            <a:avLst/>
          </a:prstGeom>
          <a:solidFill>
            <a:srgbClr val="F4F4F2"/>
          </a:solidFill>
          <a:ln/>
        </p:spPr>
      </p:sp>
      <p:sp>
        <p:nvSpPr>
          <p:cNvPr id="10" name="Text 7"/>
          <p:cNvSpPr/>
          <p:nvPr/>
        </p:nvSpPr>
        <p:spPr>
          <a:xfrm>
            <a:off x="1428750" y="4722912"/>
            <a:ext cx="79629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THE STUDY</a:t>
            </a:r>
            <a:endParaRPr lang="en-US" sz="1800" dirty="0"/>
          </a:p>
        </p:txBody>
      </p:sp>
      <p:sp>
        <p:nvSpPr>
          <p:cNvPr id="11" name="Text 8"/>
          <p:cNvSpPr/>
          <p:nvPr/>
        </p:nvSpPr>
        <p:spPr>
          <a:xfrm>
            <a:off x="1428750" y="5202932"/>
            <a:ext cx="7456170" cy="1323082"/>
          </a:xfrm>
          <a:prstGeom prst="rect">
            <a:avLst/>
          </a:prstGeom>
          <a:noFill/>
          <a:ln/>
        </p:spPr>
        <p:txBody>
          <a:bodyPr wrap="square" lIns="25400" tIns="25400" rIns="25400" bIns="25400" rtlCol="0" anchor="t">
            <a:normAutofit/>
          </a:bodyPr>
          <a:lstStyle/>
          <a:p>
            <a:pPr algn="l" indent="0" marL="0">
              <a:lnSpc>
                <a:spcPct val="116860"/>
              </a:lnSpc>
              <a:buNone/>
            </a:pPr>
            <a:r>
              <a:rPr lang="en-US" sz="1875" dirty="0">
                <a:solidFill>
                  <a:srgbClr val="1A1A1A"/>
                </a:solidFill>
                <a:latin typeface="Arial" pitchFamily="34" charset="0"/>
                <a:ea typeface="Arial" pitchFamily="34" charset="-122"/>
                <a:cs typeface="Arial" pitchFamily="34" charset="-120"/>
              </a:rPr>
              <a:t>16 experienced open-source developers, 246 tasks on mature projects they averaged five years working in. They forecast AI would cut completion time by 24%. Afterwards they estimated it had cut it by 20%. It increased completion time by 19%. </a:t>
            </a:r>
            <a:pPr algn="l" indent="0" marL="0">
              <a:lnSpc>
                <a:spcPct val="116860"/>
              </a:lnSpc>
              <a:buNone/>
            </a:pPr>
            <a:r>
              <a:rPr lang="en-US" sz="1800" dirty="0">
                <a:solidFill>
                  <a:srgbClr val="7500C0"/>
                </a:solidFill>
                <a:latin typeface="Courier New" pitchFamily="34" charset="0"/>
                <a:ea typeface="Courier New" pitchFamily="34" charset="-122"/>
                <a:cs typeface="Courier New" pitchFamily="34" charset="-120"/>
              </a:rPr>
              <a:t>S7</a:t>
            </a:r>
            <a:endParaRPr lang="en-US" sz="1875" dirty="0"/>
          </a:p>
        </p:txBody>
      </p:sp>
      <p:sp>
        <p:nvSpPr>
          <p:cNvPr id="12" name="Shape 9"/>
          <p:cNvSpPr/>
          <p:nvPr/>
        </p:nvSpPr>
        <p:spPr>
          <a:xfrm>
            <a:off x="9334500" y="4494312"/>
            <a:ext cx="7810500" cy="2898378"/>
          </a:xfrm>
          <a:prstGeom prst="rect">
            <a:avLst/>
          </a:prstGeom>
          <a:solidFill>
            <a:srgbClr val="250038"/>
          </a:solidFill>
          <a:ln/>
        </p:spPr>
      </p:sp>
      <p:sp>
        <p:nvSpPr>
          <p:cNvPr id="13" name="Text 10"/>
          <p:cNvSpPr/>
          <p:nvPr/>
        </p:nvSpPr>
        <p:spPr>
          <a:xfrm>
            <a:off x="9620250" y="4722912"/>
            <a:ext cx="7456170" cy="769541"/>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DCAFFF"/>
                </a:solidFill>
                <a:latin typeface="Arial" pitchFamily="34" charset="0"/>
                <a:ea typeface="Arial" pitchFamily="34" charset="-122"/>
                <a:cs typeface="Arial" pitchFamily="34" charset="-120"/>
              </a:rPr>
              <a:t>AND THEY CHANGED THE DESIGN RATHER THAN REPEAT IT</a:t>
            </a:r>
            <a:endParaRPr lang="en-US" sz="1800" dirty="0"/>
          </a:p>
        </p:txBody>
      </p:sp>
      <p:sp>
        <p:nvSpPr>
          <p:cNvPr id="14" name="Text 11"/>
          <p:cNvSpPr/>
          <p:nvPr/>
        </p:nvSpPr>
        <p:spPr>
          <a:xfrm>
            <a:off x="9620250" y="5568653"/>
            <a:ext cx="7456170" cy="1633538"/>
          </a:xfrm>
          <a:prstGeom prst="rect">
            <a:avLst/>
          </a:prstGeom>
          <a:noFill/>
          <a:ln/>
        </p:spPr>
        <p:txBody>
          <a:bodyPr wrap="square" lIns="25400" tIns="25400" rIns="25400" bIns="25400" rtlCol="0" anchor="t">
            <a:normAutofit/>
          </a:bodyPr>
          <a:lstStyle/>
          <a:p>
            <a:pPr algn="l" indent="0" marL="0">
              <a:lnSpc>
                <a:spcPct val="116860"/>
              </a:lnSpc>
              <a:buNone/>
            </a:pPr>
            <a:r>
              <a:rPr lang="en-US" sz="1875" dirty="0">
                <a:solidFill>
                  <a:srgbClr val="FFFFFF"/>
                </a:solidFill>
                <a:latin typeface="Arial" pitchFamily="34" charset="0"/>
                <a:ea typeface="Arial" pitchFamily="34" charset="-122"/>
                <a:cs typeface="Arial" pitchFamily="34" charset="-120"/>
              </a:rPr>
              <a:t>METR redesigned the experiment in February 2026. Too many developers declined to take part because they did not want to work without AI, which biases the result. The pay rate had dropped from $150 to $50 an hour, and their own time-on-task measurements proved unreliable.</a:t>
            </a:r>
            <a:endParaRPr lang="en-US" sz="1875" dirty="0"/>
          </a:p>
        </p:txBody>
      </p:sp>
      <p:sp>
        <p:nvSpPr>
          <p:cNvPr id="15" name="Shape 12"/>
          <p:cNvSpPr/>
          <p:nvPr/>
        </p:nvSpPr>
        <p:spPr>
          <a:xfrm>
            <a:off x="1143000" y="7659390"/>
            <a:ext cx="16002000" cy="753368"/>
          </a:xfrm>
          <a:prstGeom prst="rect">
            <a:avLst/>
          </a:prstGeom>
          <a:solidFill>
            <a:srgbClr val="F1E4FF"/>
          </a:solidFill>
          <a:ln/>
        </p:spPr>
      </p:sp>
      <p:pic>
        <p:nvPicPr>
          <p:cNvPr id="1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47800" y="7936012"/>
            <a:ext cx="190500" cy="200025"/>
          </a:xfrm>
          <a:prstGeom prst="rect">
            <a:avLst/>
          </a:prstGeom>
        </p:spPr>
      </p:pic>
      <p:sp>
        <p:nvSpPr>
          <p:cNvPr id="17" name="Text 13"/>
          <p:cNvSpPr/>
          <p:nvPr/>
        </p:nvSpPr>
        <p:spPr>
          <a:xfrm>
            <a:off x="1847850" y="7868940"/>
            <a:ext cx="14403507" cy="372368"/>
          </a:xfrm>
          <a:prstGeom prst="rect">
            <a:avLst/>
          </a:prstGeom>
          <a:noFill/>
          <a:ln/>
        </p:spPr>
        <p:txBody>
          <a:bodyPr wrap="square" lIns="25400" tIns="25400" rIns="25400" bIns="25400" rtlCol="0" anchor="t">
            <a:normAutofit/>
          </a:bodyPr>
          <a:lstStyle/>
          <a:p>
            <a:pPr algn="l" indent="0" marL="0">
              <a:lnSpc>
                <a:spcPct val="112021"/>
              </a:lnSpc>
              <a:buNone/>
            </a:pPr>
            <a:r>
              <a:rPr lang="en-US" sz="2025" b="1" dirty="0">
                <a:solidFill>
                  <a:srgbClr val="250038"/>
                </a:solidFill>
                <a:latin typeface="Arial" pitchFamily="34" charset="0"/>
                <a:ea typeface="Arial" pitchFamily="34" charset="-122"/>
                <a:cs typeface="Arial" pitchFamily="34" charset="-120"/>
              </a:rPr>
              <a:t>The experts were wrong too. Economists predicted 39% faster. Machine learning researchers predicted 38% faster.</a:t>
            </a:r>
            <a:endParaRPr lang="en-US" sz="2025" dirty="0"/>
          </a:p>
        </p:txBody>
      </p:sp>
      <p:sp>
        <p:nvSpPr>
          <p:cNvPr id="18" name="Text 14"/>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19" name="Text 15"/>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20" name="Text 16"/>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5833239"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YOU ALREADY MEASURE COMPETENCY</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6482060" cy="1001911"/>
          </a:xfrm>
          <a:prstGeom prst="rect">
            <a:avLst/>
          </a:prstGeom>
          <a:noFill/>
          <a:ln/>
        </p:spPr>
        <p:txBody>
          <a:bodyPr wrap="square" lIns="25400" tIns="25400" rIns="25400" bIns="25400" rtlCol="0" anchor="t">
            <a:normAutofit/>
          </a:bodyPr>
          <a:lstStyle/>
          <a:p>
            <a:pPr algn="l" indent="0" marL="0">
              <a:lnSpc>
                <a:spcPct val="96076"/>
              </a:lnSpc>
              <a:buNone/>
            </a:pPr>
            <a:r>
              <a:rPr lang="en-US" sz="3450" b="1" spc="-69" kern="0" dirty="0">
                <a:solidFill>
                  <a:srgbClr val="000000"/>
                </a:solidFill>
                <a:latin typeface="Arial" pitchFamily="34" charset="0"/>
                <a:ea typeface="Arial" pitchFamily="34" charset="-122"/>
                <a:cs typeface="Arial" pitchFamily="34" charset="-120"/>
              </a:rPr>
              <a:t>Every task in every Career Field Education and Training Plan already carries a proficiency code</a:t>
            </a:r>
            <a:endParaRPr lang="en-US" sz="3450" dirty="0"/>
          </a:p>
        </p:txBody>
      </p:sp>
      <p:sp>
        <p:nvSpPr>
          <p:cNvPr id="5" name="Text 2"/>
          <p:cNvSpPr/>
          <p:nvPr/>
        </p:nvSpPr>
        <p:spPr>
          <a:xfrm>
            <a:off x="1143000" y="2682081"/>
            <a:ext cx="16482060" cy="650677"/>
          </a:xfrm>
          <a:prstGeom prst="rect">
            <a:avLst/>
          </a:prstGeom>
          <a:noFill/>
          <a:ln/>
        </p:spPr>
        <p:txBody>
          <a:bodyPr wrap="square" lIns="25400" tIns="25400" rIns="25400" bIns="25400" rtlCol="0" anchor="t">
            <a:normAutofit/>
          </a:bodyPr>
          <a:lstStyle/>
          <a:p>
            <a:pPr algn="l" indent="0" marL="0">
              <a:lnSpc>
                <a:spcPct val="114857"/>
              </a:lnSpc>
              <a:buNone/>
            </a:pPr>
            <a:r>
              <a:rPr lang="en-US" sz="1800" dirty="0">
                <a:solidFill>
                  <a:srgbClr val="4D4D4D"/>
                </a:solidFill>
                <a:latin typeface="Arial" pitchFamily="34" charset="0"/>
                <a:ea typeface="Arial" pitchFamily="34" charset="-122"/>
                <a:cs typeface="Arial" pitchFamily="34" charset="-120"/>
              </a:rPr>
              <a:t>Published by HQ USAF, one per Air Force Specialty Code. In the AF Form 623 it becomes that Airman’s Job Qualification Standard, and a trainer and a certifier initial each task.</a:t>
            </a:r>
            <a:endParaRPr lang="en-US" sz="1800" dirty="0"/>
          </a:p>
        </p:txBody>
      </p:sp>
      <p:sp>
        <p:nvSpPr>
          <p:cNvPr id="6" name="Shape 3"/>
          <p:cNvSpPr/>
          <p:nvPr/>
        </p:nvSpPr>
        <p:spPr>
          <a:xfrm>
            <a:off x="1143000" y="3917553"/>
            <a:ext cx="7772400" cy="19050"/>
          </a:xfrm>
          <a:prstGeom prst="rect">
            <a:avLst/>
          </a:prstGeom>
          <a:solidFill>
            <a:srgbClr val="000000"/>
          </a:solidFill>
          <a:ln/>
        </p:spPr>
      </p:sp>
      <p:sp>
        <p:nvSpPr>
          <p:cNvPr id="7" name="Text 4"/>
          <p:cNvSpPr/>
          <p:nvPr/>
        </p:nvSpPr>
        <p:spPr>
          <a:xfrm>
            <a:off x="1143000" y="3466108"/>
            <a:ext cx="8005572"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TASK PERFORMANCE LEVELS</a:t>
            </a:r>
            <a:endParaRPr lang="en-US" sz="1800" dirty="0"/>
          </a:p>
        </p:txBody>
      </p:sp>
      <p:sp>
        <p:nvSpPr>
          <p:cNvPr id="8" name="Shape 5"/>
          <p:cNvSpPr/>
          <p:nvPr/>
        </p:nvSpPr>
        <p:spPr>
          <a:xfrm>
            <a:off x="1143000" y="4864696"/>
            <a:ext cx="7772400" cy="9525"/>
          </a:xfrm>
          <a:prstGeom prst="rect">
            <a:avLst/>
          </a:prstGeom>
          <a:solidFill>
            <a:srgbClr val="E6E6E6"/>
          </a:solidFill>
          <a:ln/>
        </p:spPr>
      </p:sp>
      <p:sp>
        <p:nvSpPr>
          <p:cNvPr id="9" name="Text 6"/>
          <p:cNvSpPr/>
          <p:nvPr/>
        </p:nvSpPr>
        <p:spPr>
          <a:xfrm>
            <a:off x="1295400" y="4127103"/>
            <a:ext cx="781050"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A100FF"/>
                </a:solidFill>
                <a:latin typeface="Courier New" pitchFamily="34" charset="0"/>
                <a:ea typeface="Courier New" pitchFamily="34" charset="-122"/>
                <a:cs typeface="Courier New" pitchFamily="34" charset="-120"/>
              </a:rPr>
              <a:t>1</a:t>
            </a:r>
            <a:endParaRPr lang="en-US" sz="2250" dirty="0"/>
          </a:p>
        </p:txBody>
      </p:sp>
      <p:sp>
        <p:nvSpPr>
          <p:cNvPr id="10" name="Text 7"/>
          <p:cNvSpPr/>
          <p:nvPr/>
        </p:nvSpPr>
        <p:spPr>
          <a:xfrm>
            <a:off x="2190750" y="4196953"/>
            <a:ext cx="6769418" cy="629642"/>
          </a:xfrm>
          <a:prstGeom prst="rect">
            <a:avLst/>
          </a:prstGeom>
          <a:noFill/>
          <a:ln/>
        </p:spPr>
        <p:txBody>
          <a:bodyPr wrap="square" lIns="25400" tIns="25400" rIns="25400" bIns="25400" rtlCol="0" anchor="t">
            <a:normAutofit/>
          </a:bodyPr>
          <a:lstStyle/>
          <a:p>
            <a:pPr algn="l" indent="0" marL="0">
              <a:lnSpc>
                <a:spcPct val="109714"/>
              </a:lnSpc>
              <a:buNone/>
            </a:pPr>
            <a:r>
              <a:rPr lang="en-US" sz="1800" b="1" dirty="0">
                <a:solidFill>
                  <a:srgbClr val="000000"/>
                </a:solidFill>
                <a:latin typeface="Arial" pitchFamily="34" charset="0"/>
                <a:ea typeface="Arial" pitchFamily="34" charset="-122"/>
                <a:cs typeface="Arial" pitchFamily="34" charset="-120"/>
              </a:rPr>
              <a:t>Extremely Limited. </a:t>
            </a:r>
            <a:pPr algn="l" indent="0" marL="0">
              <a:lnSpc>
                <a:spcPct val="109714"/>
              </a:lnSpc>
              <a:buNone/>
            </a:pPr>
            <a:r>
              <a:rPr lang="en-US" sz="1800" dirty="0">
                <a:solidFill>
                  <a:srgbClr val="4D4D4D"/>
                </a:solidFill>
                <a:latin typeface="Arial" pitchFamily="34" charset="0"/>
                <a:ea typeface="Arial" pitchFamily="34" charset="-122"/>
                <a:cs typeface="Arial" pitchFamily="34" charset="-120"/>
              </a:rPr>
              <a:t>Can do simple parts of the task. Needs to be told or shown how to do most of the task.</a:t>
            </a:r>
            <a:endParaRPr lang="en-US" sz="1800" dirty="0"/>
          </a:p>
        </p:txBody>
      </p:sp>
      <p:sp>
        <p:nvSpPr>
          <p:cNvPr id="11" name="Shape 8"/>
          <p:cNvSpPr/>
          <p:nvPr/>
        </p:nvSpPr>
        <p:spPr>
          <a:xfrm>
            <a:off x="1143000" y="5799138"/>
            <a:ext cx="7772400" cy="9525"/>
          </a:xfrm>
          <a:prstGeom prst="rect">
            <a:avLst/>
          </a:prstGeom>
          <a:solidFill>
            <a:srgbClr val="E6E6E6"/>
          </a:solidFill>
          <a:ln/>
        </p:spPr>
      </p:sp>
      <p:sp>
        <p:nvSpPr>
          <p:cNvPr id="12" name="Text 9"/>
          <p:cNvSpPr/>
          <p:nvPr/>
        </p:nvSpPr>
        <p:spPr>
          <a:xfrm>
            <a:off x="1295400" y="5061546"/>
            <a:ext cx="781050"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A100FF"/>
                </a:solidFill>
                <a:latin typeface="Courier New" pitchFamily="34" charset="0"/>
                <a:ea typeface="Courier New" pitchFamily="34" charset="-122"/>
                <a:cs typeface="Courier New" pitchFamily="34" charset="-120"/>
              </a:rPr>
              <a:t>2</a:t>
            </a:r>
            <a:endParaRPr lang="en-US" sz="2250" dirty="0"/>
          </a:p>
        </p:txBody>
      </p:sp>
      <p:sp>
        <p:nvSpPr>
          <p:cNvPr id="13" name="Text 10"/>
          <p:cNvSpPr/>
          <p:nvPr/>
        </p:nvSpPr>
        <p:spPr>
          <a:xfrm>
            <a:off x="2190750" y="5131396"/>
            <a:ext cx="6769418" cy="629642"/>
          </a:xfrm>
          <a:prstGeom prst="rect">
            <a:avLst/>
          </a:prstGeom>
          <a:noFill/>
          <a:ln/>
        </p:spPr>
        <p:txBody>
          <a:bodyPr wrap="square" lIns="25400" tIns="25400" rIns="25400" bIns="25400" rtlCol="0" anchor="t">
            <a:normAutofit/>
          </a:bodyPr>
          <a:lstStyle/>
          <a:p>
            <a:pPr algn="l" indent="0" marL="0">
              <a:lnSpc>
                <a:spcPct val="109714"/>
              </a:lnSpc>
              <a:buNone/>
            </a:pPr>
            <a:r>
              <a:rPr lang="en-US" sz="1800" b="1" dirty="0">
                <a:solidFill>
                  <a:srgbClr val="000000"/>
                </a:solidFill>
                <a:latin typeface="Arial" pitchFamily="34" charset="0"/>
                <a:ea typeface="Arial" pitchFamily="34" charset="-122"/>
                <a:cs typeface="Arial" pitchFamily="34" charset="-120"/>
              </a:rPr>
              <a:t>Partially Proficient. </a:t>
            </a:r>
            <a:pPr algn="l" indent="0" marL="0">
              <a:lnSpc>
                <a:spcPct val="109714"/>
              </a:lnSpc>
              <a:buNone/>
            </a:pPr>
            <a:r>
              <a:rPr lang="en-US" sz="1800" dirty="0">
                <a:solidFill>
                  <a:srgbClr val="4D4D4D"/>
                </a:solidFill>
                <a:latin typeface="Arial" pitchFamily="34" charset="0"/>
                <a:ea typeface="Arial" pitchFamily="34" charset="-122"/>
                <a:cs typeface="Arial" pitchFamily="34" charset="-120"/>
              </a:rPr>
              <a:t>Can do most parts of the task. Needs only help on hardest parts.</a:t>
            </a:r>
            <a:endParaRPr lang="en-US" sz="1800" dirty="0"/>
          </a:p>
        </p:txBody>
      </p:sp>
      <p:sp>
        <p:nvSpPr>
          <p:cNvPr id="14" name="Shape 11"/>
          <p:cNvSpPr/>
          <p:nvPr/>
        </p:nvSpPr>
        <p:spPr>
          <a:xfrm>
            <a:off x="1143000" y="5919788"/>
            <a:ext cx="7772400" cy="813792"/>
          </a:xfrm>
          <a:prstGeom prst="rect">
            <a:avLst/>
          </a:prstGeom>
          <a:solidFill>
            <a:srgbClr val="A100FF"/>
          </a:solidFill>
          <a:ln/>
        </p:spPr>
      </p:sp>
      <p:sp>
        <p:nvSpPr>
          <p:cNvPr id="15" name="Text 12"/>
          <p:cNvSpPr/>
          <p:nvPr/>
        </p:nvSpPr>
        <p:spPr>
          <a:xfrm>
            <a:off x="1295400" y="5995988"/>
            <a:ext cx="781050"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FFFFFF"/>
                </a:solidFill>
                <a:latin typeface="Courier New" pitchFamily="34" charset="0"/>
                <a:ea typeface="Courier New" pitchFamily="34" charset="-122"/>
                <a:cs typeface="Courier New" pitchFamily="34" charset="-120"/>
              </a:rPr>
              <a:t>3</a:t>
            </a:r>
            <a:endParaRPr lang="en-US" sz="2250" dirty="0"/>
          </a:p>
        </p:txBody>
      </p:sp>
      <p:sp>
        <p:nvSpPr>
          <p:cNvPr id="16" name="Text 13"/>
          <p:cNvSpPr/>
          <p:nvPr/>
        </p:nvSpPr>
        <p:spPr>
          <a:xfrm>
            <a:off x="2190750" y="6065838"/>
            <a:ext cx="6769418" cy="629642"/>
          </a:xfrm>
          <a:prstGeom prst="rect">
            <a:avLst/>
          </a:prstGeom>
          <a:noFill/>
          <a:ln/>
        </p:spPr>
        <p:txBody>
          <a:bodyPr wrap="square" lIns="25400" tIns="25400" rIns="25400" bIns="25400" rtlCol="0" anchor="t">
            <a:normAutofit/>
          </a:bodyPr>
          <a:lstStyle/>
          <a:p>
            <a:pPr algn="l" indent="0" marL="0">
              <a:lnSpc>
                <a:spcPct val="109714"/>
              </a:lnSpc>
              <a:buNone/>
            </a:pPr>
            <a:r>
              <a:rPr lang="en-US" sz="1800" b="1" dirty="0">
                <a:solidFill>
                  <a:srgbClr val="FFFFFF"/>
                </a:solidFill>
                <a:latin typeface="Arial" pitchFamily="34" charset="0"/>
                <a:ea typeface="Arial" pitchFamily="34" charset="-122"/>
                <a:cs typeface="Arial" pitchFamily="34" charset="-120"/>
              </a:rPr>
              <a:t>Competent. </a:t>
            </a:r>
            <a:pPr algn="l" indent="0" marL="0">
              <a:lnSpc>
                <a:spcPct val="109714"/>
              </a:lnSpc>
              <a:buNone/>
            </a:pPr>
            <a:r>
              <a:rPr lang="en-US" sz="1800" dirty="0">
                <a:solidFill>
                  <a:srgbClr val="FFFFFF">
                    <a:alpha val="92000"/>
                  </a:srgbClr>
                </a:solidFill>
                <a:latin typeface="Arial" pitchFamily="34" charset="0"/>
                <a:ea typeface="Arial" pitchFamily="34" charset="-122"/>
                <a:cs typeface="Arial" pitchFamily="34" charset="-120"/>
              </a:rPr>
              <a:t>Can do all parts of the task. Needs only a spot check of completed work.</a:t>
            </a:r>
            <a:endParaRPr lang="en-US" sz="1800" dirty="0"/>
          </a:p>
        </p:txBody>
      </p:sp>
      <p:sp>
        <p:nvSpPr>
          <p:cNvPr id="17" name="Shape 14"/>
          <p:cNvSpPr/>
          <p:nvPr/>
        </p:nvSpPr>
        <p:spPr>
          <a:xfrm>
            <a:off x="1143000" y="7661672"/>
            <a:ext cx="7772400" cy="9525"/>
          </a:xfrm>
          <a:prstGeom prst="rect">
            <a:avLst/>
          </a:prstGeom>
          <a:solidFill>
            <a:srgbClr val="E6E6E6"/>
          </a:solidFill>
          <a:ln/>
        </p:spPr>
      </p:sp>
      <p:sp>
        <p:nvSpPr>
          <p:cNvPr id="18" name="Text 15"/>
          <p:cNvSpPr/>
          <p:nvPr/>
        </p:nvSpPr>
        <p:spPr>
          <a:xfrm>
            <a:off x="1295400" y="6924080"/>
            <a:ext cx="781050"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A100FF"/>
                </a:solidFill>
                <a:latin typeface="Courier New" pitchFamily="34" charset="0"/>
                <a:ea typeface="Courier New" pitchFamily="34" charset="-122"/>
                <a:cs typeface="Courier New" pitchFamily="34" charset="-120"/>
              </a:rPr>
              <a:t>4</a:t>
            </a:r>
            <a:endParaRPr lang="en-US" sz="2250" dirty="0"/>
          </a:p>
        </p:txBody>
      </p:sp>
      <p:sp>
        <p:nvSpPr>
          <p:cNvPr id="19" name="Text 16"/>
          <p:cNvSpPr/>
          <p:nvPr/>
        </p:nvSpPr>
        <p:spPr>
          <a:xfrm>
            <a:off x="2190750" y="6993930"/>
            <a:ext cx="6769418" cy="629642"/>
          </a:xfrm>
          <a:prstGeom prst="rect">
            <a:avLst/>
          </a:prstGeom>
          <a:noFill/>
          <a:ln/>
        </p:spPr>
        <p:txBody>
          <a:bodyPr wrap="square" lIns="25400" tIns="25400" rIns="25400" bIns="25400" rtlCol="0" anchor="t">
            <a:normAutofit/>
          </a:bodyPr>
          <a:lstStyle/>
          <a:p>
            <a:pPr algn="l" indent="0" marL="0">
              <a:lnSpc>
                <a:spcPct val="109714"/>
              </a:lnSpc>
              <a:buNone/>
            </a:pPr>
            <a:r>
              <a:rPr lang="en-US" sz="1800" b="1" dirty="0">
                <a:solidFill>
                  <a:srgbClr val="000000"/>
                </a:solidFill>
                <a:latin typeface="Arial" pitchFamily="34" charset="0"/>
                <a:ea typeface="Arial" pitchFamily="34" charset="-122"/>
                <a:cs typeface="Arial" pitchFamily="34" charset="-120"/>
              </a:rPr>
              <a:t>Highly Proficient. </a:t>
            </a:r>
            <a:pPr algn="l" indent="0" marL="0">
              <a:lnSpc>
                <a:spcPct val="109714"/>
              </a:lnSpc>
              <a:buNone/>
            </a:pPr>
            <a:r>
              <a:rPr lang="en-US" sz="1800" dirty="0">
                <a:solidFill>
                  <a:srgbClr val="4D4D4D"/>
                </a:solidFill>
                <a:latin typeface="Arial" pitchFamily="34" charset="0"/>
                <a:ea typeface="Arial" pitchFamily="34" charset="-122"/>
                <a:cs typeface="Arial" pitchFamily="34" charset="-120"/>
              </a:rPr>
              <a:t>Can do the complete task quickly and accurately. Can tell or show others how to do the task.</a:t>
            </a:r>
            <a:endParaRPr lang="en-US" sz="1800" dirty="0"/>
          </a:p>
        </p:txBody>
      </p:sp>
      <p:sp>
        <p:nvSpPr>
          <p:cNvPr id="20" name="Shape 17"/>
          <p:cNvSpPr/>
          <p:nvPr/>
        </p:nvSpPr>
        <p:spPr>
          <a:xfrm>
            <a:off x="9372600" y="3917553"/>
            <a:ext cx="7772400" cy="19050"/>
          </a:xfrm>
          <a:prstGeom prst="rect">
            <a:avLst/>
          </a:prstGeom>
          <a:solidFill>
            <a:srgbClr val="000000"/>
          </a:solidFill>
          <a:ln/>
        </p:spPr>
      </p:sp>
      <p:sp>
        <p:nvSpPr>
          <p:cNvPr id="21" name="Text 18"/>
          <p:cNvSpPr/>
          <p:nvPr/>
        </p:nvSpPr>
        <p:spPr>
          <a:xfrm>
            <a:off x="9372600" y="3466108"/>
            <a:ext cx="8005572"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TASK KNOWLEDGE LEVELS</a:t>
            </a:r>
            <a:endParaRPr lang="en-US" sz="1800" dirty="0"/>
          </a:p>
        </p:txBody>
      </p:sp>
      <p:sp>
        <p:nvSpPr>
          <p:cNvPr id="22" name="Shape 19"/>
          <p:cNvSpPr/>
          <p:nvPr/>
        </p:nvSpPr>
        <p:spPr>
          <a:xfrm>
            <a:off x="9372600" y="4864696"/>
            <a:ext cx="7772400" cy="9525"/>
          </a:xfrm>
          <a:prstGeom prst="rect">
            <a:avLst/>
          </a:prstGeom>
          <a:solidFill>
            <a:srgbClr val="E6E6E6"/>
          </a:solidFill>
          <a:ln/>
        </p:spPr>
      </p:sp>
      <p:sp>
        <p:nvSpPr>
          <p:cNvPr id="23" name="Text 20"/>
          <p:cNvSpPr/>
          <p:nvPr/>
        </p:nvSpPr>
        <p:spPr>
          <a:xfrm>
            <a:off x="9525000" y="4127103"/>
            <a:ext cx="781050"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A100FF"/>
                </a:solidFill>
                <a:latin typeface="Courier New" pitchFamily="34" charset="0"/>
                <a:ea typeface="Courier New" pitchFamily="34" charset="-122"/>
                <a:cs typeface="Courier New" pitchFamily="34" charset="-120"/>
              </a:rPr>
              <a:t>a</a:t>
            </a:r>
            <a:endParaRPr lang="en-US" sz="2250" dirty="0"/>
          </a:p>
        </p:txBody>
      </p:sp>
      <p:sp>
        <p:nvSpPr>
          <p:cNvPr id="24" name="Text 21"/>
          <p:cNvSpPr/>
          <p:nvPr/>
        </p:nvSpPr>
        <p:spPr>
          <a:xfrm>
            <a:off x="10420350" y="4196953"/>
            <a:ext cx="6769418" cy="629642"/>
          </a:xfrm>
          <a:prstGeom prst="rect">
            <a:avLst/>
          </a:prstGeom>
          <a:noFill/>
          <a:ln/>
        </p:spPr>
        <p:txBody>
          <a:bodyPr wrap="square" lIns="25400" tIns="25400" rIns="25400" bIns="25400" rtlCol="0" anchor="t">
            <a:normAutofit/>
          </a:bodyPr>
          <a:lstStyle/>
          <a:p>
            <a:pPr algn="l" indent="0" marL="0">
              <a:lnSpc>
                <a:spcPct val="109714"/>
              </a:lnSpc>
              <a:buNone/>
            </a:pPr>
            <a:r>
              <a:rPr lang="en-US" sz="1800" b="1" dirty="0">
                <a:solidFill>
                  <a:srgbClr val="000000"/>
                </a:solidFill>
                <a:latin typeface="Arial" pitchFamily="34" charset="0"/>
                <a:ea typeface="Arial" pitchFamily="34" charset="-122"/>
                <a:cs typeface="Arial" pitchFamily="34" charset="-120"/>
              </a:rPr>
              <a:t>Nomenclature. </a:t>
            </a:r>
            <a:pPr algn="l" indent="0" marL="0">
              <a:lnSpc>
                <a:spcPct val="109714"/>
              </a:lnSpc>
              <a:buNone/>
            </a:pPr>
            <a:r>
              <a:rPr lang="en-US" sz="1800" dirty="0">
                <a:solidFill>
                  <a:srgbClr val="4D4D4D"/>
                </a:solidFill>
                <a:latin typeface="Arial" pitchFamily="34" charset="0"/>
                <a:ea typeface="Arial" pitchFamily="34" charset="-122"/>
                <a:cs typeface="Arial" pitchFamily="34" charset="-120"/>
              </a:rPr>
              <a:t>Can name parts, tools, and simple facts about the task.</a:t>
            </a:r>
            <a:endParaRPr lang="en-US" sz="1800" dirty="0"/>
          </a:p>
        </p:txBody>
      </p:sp>
      <p:sp>
        <p:nvSpPr>
          <p:cNvPr id="25" name="Shape 22"/>
          <p:cNvSpPr/>
          <p:nvPr/>
        </p:nvSpPr>
        <p:spPr>
          <a:xfrm>
            <a:off x="9372600" y="5799138"/>
            <a:ext cx="7772400" cy="9525"/>
          </a:xfrm>
          <a:prstGeom prst="rect">
            <a:avLst/>
          </a:prstGeom>
          <a:solidFill>
            <a:srgbClr val="E6E6E6"/>
          </a:solidFill>
          <a:ln/>
        </p:spPr>
      </p:sp>
      <p:sp>
        <p:nvSpPr>
          <p:cNvPr id="26" name="Text 23"/>
          <p:cNvSpPr/>
          <p:nvPr/>
        </p:nvSpPr>
        <p:spPr>
          <a:xfrm>
            <a:off x="9525000" y="5061546"/>
            <a:ext cx="781050"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A100FF"/>
                </a:solidFill>
                <a:latin typeface="Courier New" pitchFamily="34" charset="0"/>
                <a:ea typeface="Courier New" pitchFamily="34" charset="-122"/>
                <a:cs typeface="Courier New" pitchFamily="34" charset="-120"/>
              </a:rPr>
              <a:t>b</a:t>
            </a:r>
            <a:endParaRPr lang="en-US" sz="2250" dirty="0"/>
          </a:p>
        </p:txBody>
      </p:sp>
      <p:sp>
        <p:nvSpPr>
          <p:cNvPr id="27" name="Text 24"/>
          <p:cNvSpPr/>
          <p:nvPr/>
        </p:nvSpPr>
        <p:spPr>
          <a:xfrm>
            <a:off x="10420350" y="5131396"/>
            <a:ext cx="6769418" cy="629642"/>
          </a:xfrm>
          <a:prstGeom prst="rect">
            <a:avLst/>
          </a:prstGeom>
          <a:noFill/>
          <a:ln/>
        </p:spPr>
        <p:txBody>
          <a:bodyPr wrap="square" lIns="25400" tIns="25400" rIns="25400" bIns="25400" rtlCol="0" anchor="t">
            <a:normAutofit/>
          </a:bodyPr>
          <a:lstStyle/>
          <a:p>
            <a:pPr algn="l" indent="0" marL="0">
              <a:lnSpc>
                <a:spcPct val="109714"/>
              </a:lnSpc>
              <a:buNone/>
            </a:pPr>
            <a:r>
              <a:rPr lang="en-US" sz="1800" b="1" dirty="0">
                <a:solidFill>
                  <a:srgbClr val="000000"/>
                </a:solidFill>
                <a:latin typeface="Arial" pitchFamily="34" charset="0"/>
                <a:ea typeface="Arial" pitchFamily="34" charset="-122"/>
                <a:cs typeface="Arial" pitchFamily="34" charset="-120"/>
              </a:rPr>
              <a:t>Procedures. </a:t>
            </a:r>
            <a:pPr algn="l" indent="0" marL="0">
              <a:lnSpc>
                <a:spcPct val="109714"/>
              </a:lnSpc>
              <a:buNone/>
            </a:pPr>
            <a:r>
              <a:rPr lang="en-US" sz="1800" dirty="0">
                <a:solidFill>
                  <a:srgbClr val="4D4D4D"/>
                </a:solidFill>
                <a:latin typeface="Arial" pitchFamily="34" charset="0"/>
                <a:ea typeface="Arial" pitchFamily="34" charset="-122"/>
                <a:cs typeface="Arial" pitchFamily="34" charset="-120"/>
              </a:rPr>
              <a:t>Can determine step by step procedures for doing the task.</a:t>
            </a:r>
            <a:endParaRPr lang="en-US" sz="1800" dirty="0"/>
          </a:p>
        </p:txBody>
      </p:sp>
      <p:sp>
        <p:nvSpPr>
          <p:cNvPr id="28" name="Shape 25"/>
          <p:cNvSpPr/>
          <p:nvPr/>
        </p:nvSpPr>
        <p:spPr>
          <a:xfrm>
            <a:off x="9372600" y="6733580"/>
            <a:ext cx="7772400" cy="9525"/>
          </a:xfrm>
          <a:prstGeom prst="rect">
            <a:avLst/>
          </a:prstGeom>
          <a:solidFill>
            <a:srgbClr val="E6E6E6"/>
          </a:solidFill>
          <a:ln/>
        </p:spPr>
      </p:sp>
      <p:sp>
        <p:nvSpPr>
          <p:cNvPr id="29" name="Text 26"/>
          <p:cNvSpPr/>
          <p:nvPr/>
        </p:nvSpPr>
        <p:spPr>
          <a:xfrm>
            <a:off x="9525000" y="5995988"/>
            <a:ext cx="781050"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A100FF"/>
                </a:solidFill>
                <a:latin typeface="Courier New" pitchFamily="34" charset="0"/>
                <a:ea typeface="Courier New" pitchFamily="34" charset="-122"/>
                <a:cs typeface="Courier New" pitchFamily="34" charset="-120"/>
              </a:rPr>
              <a:t>c</a:t>
            </a:r>
            <a:endParaRPr lang="en-US" sz="2250" dirty="0"/>
          </a:p>
        </p:txBody>
      </p:sp>
      <p:sp>
        <p:nvSpPr>
          <p:cNvPr id="30" name="Text 27"/>
          <p:cNvSpPr/>
          <p:nvPr/>
        </p:nvSpPr>
        <p:spPr>
          <a:xfrm>
            <a:off x="10420350" y="6065838"/>
            <a:ext cx="6769418" cy="629642"/>
          </a:xfrm>
          <a:prstGeom prst="rect">
            <a:avLst/>
          </a:prstGeom>
          <a:noFill/>
          <a:ln/>
        </p:spPr>
        <p:txBody>
          <a:bodyPr wrap="square" lIns="25400" tIns="25400" rIns="25400" bIns="25400" rtlCol="0" anchor="t">
            <a:normAutofit/>
          </a:bodyPr>
          <a:lstStyle/>
          <a:p>
            <a:pPr algn="l" indent="0" marL="0">
              <a:lnSpc>
                <a:spcPct val="109714"/>
              </a:lnSpc>
              <a:buNone/>
            </a:pPr>
            <a:r>
              <a:rPr lang="en-US" sz="1800" b="1" dirty="0">
                <a:solidFill>
                  <a:srgbClr val="000000"/>
                </a:solidFill>
                <a:latin typeface="Arial" pitchFamily="34" charset="0"/>
                <a:ea typeface="Arial" pitchFamily="34" charset="-122"/>
                <a:cs typeface="Arial" pitchFamily="34" charset="-120"/>
              </a:rPr>
              <a:t>Operating Principles. </a:t>
            </a:r>
            <a:pPr algn="l" indent="0" marL="0">
              <a:lnSpc>
                <a:spcPct val="109714"/>
              </a:lnSpc>
              <a:buNone/>
            </a:pPr>
            <a:r>
              <a:rPr lang="en-US" sz="1800" dirty="0">
                <a:solidFill>
                  <a:srgbClr val="4D4D4D"/>
                </a:solidFill>
                <a:latin typeface="Arial" pitchFamily="34" charset="0"/>
                <a:ea typeface="Arial" pitchFamily="34" charset="-122"/>
                <a:cs typeface="Arial" pitchFamily="34" charset="-120"/>
              </a:rPr>
              <a:t>Can identify why and when the task must be done and why each step is needed.</a:t>
            </a:r>
            <a:endParaRPr lang="en-US" sz="1800" dirty="0"/>
          </a:p>
        </p:txBody>
      </p:sp>
      <p:sp>
        <p:nvSpPr>
          <p:cNvPr id="31" name="Shape 28"/>
          <p:cNvSpPr/>
          <p:nvPr/>
        </p:nvSpPr>
        <p:spPr>
          <a:xfrm>
            <a:off x="9372600" y="7668022"/>
            <a:ext cx="7772400" cy="9525"/>
          </a:xfrm>
          <a:prstGeom prst="rect">
            <a:avLst/>
          </a:prstGeom>
          <a:solidFill>
            <a:srgbClr val="E6E6E6"/>
          </a:solidFill>
          <a:ln/>
        </p:spPr>
      </p:sp>
      <p:sp>
        <p:nvSpPr>
          <p:cNvPr id="32" name="Text 29"/>
          <p:cNvSpPr/>
          <p:nvPr/>
        </p:nvSpPr>
        <p:spPr>
          <a:xfrm>
            <a:off x="9525000" y="6930430"/>
            <a:ext cx="781050"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A100FF"/>
                </a:solidFill>
                <a:latin typeface="Courier New" pitchFamily="34" charset="0"/>
                <a:ea typeface="Courier New" pitchFamily="34" charset="-122"/>
                <a:cs typeface="Courier New" pitchFamily="34" charset="-120"/>
              </a:rPr>
              <a:t>d</a:t>
            </a:r>
            <a:endParaRPr lang="en-US" sz="2250" dirty="0"/>
          </a:p>
        </p:txBody>
      </p:sp>
      <p:sp>
        <p:nvSpPr>
          <p:cNvPr id="33" name="Text 30"/>
          <p:cNvSpPr/>
          <p:nvPr/>
        </p:nvSpPr>
        <p:spPr>
          <a:xfrm>
            <a:off x="10420350" y="7000280"/>
            <a:ext cx="6769418" cy="629642"/>
          </a:xfrm>
          <a:prstGeom prst="rect">
            <a:avLst/>
          </a:prstGeom>
          <a:noFill/>
          <a:ln/>
        </p:spPr>
        <p:txBody>
          <a:bodyPr wrap="square" lIns="25400" tIns="25400" rIns="25400" bIns="25400" rtlCol="0" anchor="t">
            <a:normAutofit/>
          </a:bodyPr>
          <a:lstStyle/>
          <a:p>
            <a:pPr algn="l" indent="0" marL="0">
              <a:lnSpc>
                <a:spcPct val="109714"/>
              </a:lnSpc>
              <a:buNone/>
            </a:pPr>
            <a:r>
              <a:rPr lang="en-US" sz="1800" b="1" dirty="0">
                <a:solidFill>
                  <a:srgbClr val="000000"/>
                </a:solidFill>
                <a:latin typeface="Arial" pitchFamily="34" charset="0"/>
                <a:ea typeface="Arial" pitchFamily="34" charset="-122"/>
                <a:cs typeface="Arial" pitchFamily="34" charset="-120"/>
              </a:rPr>
              <a:t>Advanced Theory. </a:t>
            </a:r>
            <a:pPr algn="l" indent="0" marL="0">
              <a:lnSpc>
                <a:spcPct val="109714"/>
              </a:lnSpc>
              <a:buNone/>
            </a:pPr>
            <a:r>
              <a:rPr lang="en-US" sz="1800" dirty="0">
                <a:solidFill>
                  <a:srgbClr val="4D4D4D"/>
                </a:solidFill>
                <a:latin typeface="Arial" pitchFamily="34" charset="0"/>
                <a:ea typeface="Arial" pitchFamily="34" charset="-122"/>
                <a:cs typeface="Arial" pitchFamily="34" charset="-120"/>
              </a:rPr>
              <a:t>Can predict, isolate, and resolve problems about the task.</a:t>
            </a:r>
            <a:endParaRPr lang="en-US" sz="1800" dirty="0"/>
          </a:p>
        </p:txBody>
      </p:sp>
      <p:sp>
        <p:nvSpPr>
          <p:cNvPr id="34" name="Shape 31"/>
          <p:cNvSpPr/>
          <p:nvPr/>
        </p:nvSpPr>
        <p:spPr>
          <a:xfrm>
            <a:off x="1143000" y="7446169"/>
            <a:ext cx="16002000" cy="1560711"/>
          </a:xfrm>
          <a:prstGeom prst="rect">
            <a:avLst/>
          </a:prstGeom>
          <a:solidFill>
            <a:srgbClr val="F4F4F2"/>
          </a:solidFill>
          <a:ln/>
        </p:spPr>
      </p:sp>
      <p:sp>
        <p:nvSpPr>
          <p:cNvPr id="35" name="Text 32"/>
          <p:cNvSpPr/>
          <p:nvPr/>
        </p:nvSpPr>
        <p:spPr>
          <a:xfrm>
            <a:off x="1447800" y="7627144"/>
            <a:ext cx="2835409"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THE PLAIN READING</a:t>
            </a:r>
            <a:endParaRPr lang="en-US" sz="1800" dirty="0"/>
          </a:p>
        </p:txBody>
      </p:sp>
      <p:sp>
        <p:nvSpPr>
          <p:cNvPr id="36" name="Text 33"/>
          <p:cNvSpPr/>
          <p:nvPr/>
        </p:nvSpPr>
        <p:spPr>
          <a:xfrm>
            <a:off x="4410174" y="7598569"/>
            <a:ext cx="12802927" cy="1294011"/>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A1A1A"/>
                </a:solidFill>
                <a:latin typeface="Arial" pitchFamily="34" charset="0"/>
                <a:ea typeface="Arial" pitchFamily="34" charset="-122"/>
                <a:cs typeface="Arial" pitchFamily="34" charset="-120"/>
              </a:rPr>
              <a:t>Do they know the words. Do they know the steps. Do they understand the principles well enough to adapt. Do they understand the theory well enough to troubleshoot. </a:t>
            </a:r>
            <a:pPr algn="l" indent="0" marL="0">
              <a:lnSpc>
                <a:spcPct val="115714"/>
              </a:lnSpc>
              <a:buNone/>
            </a:pPr>
            <a:r>
              <a:rPr lang="en-US" sz="1800" b="1" dirty="0">
                <a:solidFill>
                  <a:srgbClr val="1A1A1A"/>
                </a:solidFill>
                <a:latin typeface="Arial" pitchFamily="34" charset="0"/>
                <a:ea typeface="Arial" pitchFamily="34" charset="-122"/>
                <a:cs typeface="Arial" pitchFamily="34" charset="-120"/>
              </a:rPr>
              <a:t>Expertise is the knowledge. Experience is its application. </a:t>
            </a:r>
            <a:pPr algn="l" indent="0" marL="0">
              <a:lnSpc>
                <a:spcPct val="115714"/>
              </a:lnSpc>
              <a:buNone/>
            </a:pPr>
            <a:r>
              <a:rPr lang="en-US" sz="1800" dirty="0">
                <a:solidFill>
                  <a:srgbClr val="1A1A1A"/>
                </a:solidFill>
                <a:latin typeface="Arial" pitchFamily="34" charset="0"/>
                <a:ea typeface="Arial" pitchFamily="34" charset="-122"/>
                <a:cs typeface="Arial" pitchFamily="34" charset="-120"/>
              </a:rPr>
              <a:t>Tasks are qualified to the go/no-go level: “Go” means the individual can perform the task without assistance and meets local requirements for accuracy, timeliness, and correct procedures. </a:t>
            </a:r>
            <a:pPr algn="l" indent="0" marL="0">
              <a:lnSpc>
                <a:spcPct val="115714"/>
              </a:lnSpc>
              <a:buNone/>
            </a:pPr>
            <a:r>
              <a:rPr lang="en-US" sz="1800" dirty="0">
                <a:solidFill>
                  <a:srgbClr val="7500C0"/>
                </a:solidFill>
                <a:latin typeface="Courier New" pitchFamily="34" charset="0"/>
                <a:ea typeface="Courier New" pitchFamily="34" charset="-122"/>
                <a:cs typeface="Courier New" pitchFamily="34" charset="-120"/>
              </a:rPr>
              <a:t>S22</a:t>
            </a:r>
            <a:endParaRPr lang="en-US" sz="1800" dirty="0"/>
          </a:p>
        </p:txBody>
      </p:sp>
      <p:sp>
        <p:nvSpPr>
          <p:cNvPr id="37" name="Text 34"/>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38" name="Text 35"/>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39" name="Text 36"/>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2974628"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THE THREE STAGES</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739265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Knowledge is not skill. Skill is not an outcome.</a:t>
            </a:r>
            <a:endParaRPr lang="en-US" sz="4200" dirty="0"/>
          </a:p>
        </p:txBody>
      </p:sp>
      <p:sp>
        <p:nvSpPr>
          <p:cNvPr id="5" name="Shape 2"/>
          <p:cNvSpPr/>
          <p:nvPr/>
        </p:nvSpPr>
        <p:spPr>
          <a:xfrm>
            <a:off x="1143000" y="3351808"/>
            <a:ext cx="5029200" cy="19050"/>
          </a:xfrm>
          <a:prstGeom prst="rect">
            <a:avLst/>
          </a:prstGeom>
          <a:solidFill>
            <a:srgbClr val="000000"/>
          </a:solidFill>
          <a:ln/>
        </p:spPr>
      </p:sp>
      <p:sp>
        <p:nvSpPr>
          <p:cNvPr id="6" name="Text 3"/>
          <p:cNvSpPr/>
          <p:nvPr/>
        </p:nvSpPr>
        <p:spPr>
          <a:xfrm>
            <a:off x="1143000" y="3599458"/>
            <a:ext cx="5180076"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A100FF"/>
                </a:solidFill>
                <a:latin typeface="Courier New" pitchFamily="34" charset="0"/>
                <a:ea typeface="Courier New" pitchFamily="34" charset="-122"/>
                <a:cs typeface="Courier New" pitchFamily="34" charset="-120"/>
              </a:rPr>
              <a:t>01</a:t>
            </a:r>
            <a:endParaRPr lang="en-US" sz="2250" dirty="0"/>
          </a:p>
        </p:txBody>
      </p:sp>
      <p:sp>
        <p:nvSpPr>
          <p:cNvPr id="7" name="Text 4"/>
          <p:cNvSpPr/>
          <p:nvPr/>
        </p:nvSpPr>
        <p:spPr>
          <a:xfrm>
            <a:off x="1143000" y="4190008"/>
            <a:ext cx="5532120" cy="415230"/>
          </a:xfrm>
          <a:prstGeom prst="rect">
            <a:avLst/>
          </a:prstGeom>
          <a:noFill/>
          <a:ln/>
        </p:spPr>
        <p:txBody>
          <a:bodyPr wrap="square" lIns="25400" tIns="25400" rIns="25400" bIns="25400" rtlCol="0" anchor="t">
            <a:normAutofit/>
          </a:bodyPr>
          <a:lstStyle/>
          <a:p>
            <a:pPr algn="l" indent="0" marL="0">
              <a:lnSpc>
                <a:spcPct val="95806"/>
              </a:lnSpc>
              <a:buNone/>
            </a:pPr>
            <a:r>
              <a:rPr lang="en-US" sz="2700" b="1" spc="-54" kern="0" dirty="0">
                <a:solidFill>
                  <a:srgbClr val="000000"/>
                </a:solidFill>
                <a:latin typeface="Arial" pitchFamily="34" charset="0"/>
                <a:ea typeface="Arial" pitchFamily="34" charset="-122"/>
                <a:cs typeface="Arial" pitchFamily="34" charset="-120"/>
              </a:rPr>
              <a:t>Knowledge training</a:t>
            </a:r>
            <a:endParaRPr lang="en-US" sz="2700" dirty="0"/>
          </a:p>
        </p:txBody>
      </p:sp>
      <p:sp>
        <p:nvSpPr>
          <p:cNvPr id="8" name="Text 5"/>
          <p:cNvSpPr/>
          <p:nvPr/>
        </p:nvSpPr>
        <p:spPr>
          <a:xfrm>
            <a:off x="1143000" y="4700488"/>
            <a:ext cx="5180076" cy="691753"/>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4D4D4D"/>
                </a:solidFill>
                <a:latin typeface="Arial" pitchFamily="34" charset="0"/>
                <a:ea typeface="Arial" pitchFamily="34" charset="-122"/>
                <a:cs typeface="Arial" pitchFamily="34" charset="-120"/>
              </a:rPr>
              <a:t>Generalized knowledge. Necessary, not sufficient.</a:t>
            </a:r>
            <a:endParaRPr lang="en-US" sz="1950" dirty="0"/>
          </a:p>
        </p:txBody>
      </p:sp>
      <p:sp>
        <p:nvSpPr>
          <p:cNvPr id="9" name="Text 6"/>
          <p:cNvSpPr/>
          <p:nvPr/>
        </p:nvSpPr>
        <p:spPr>
          <a:xfrm>
            <a:off x="1143000" y="5487492"/>
            <a:ext cx="553212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dirty="0">
                <a:solidFill>
                  <a:srgbClr val="460073"/>
                </a:solidFill>
                <a:latin typeface="Arial" pitchFamily="34" charset="0"/>
                <a:ea typeface="Arial" pitchFamily="34" charset="-122"/>
                <a:cs typeface="Arial" pitchFamily="34" charset="-120"/>
              </a:rPr>
              <a:t>Proven by completion</a:t>
            </a:r>
            <a:endParaRPr lang="en-US" sz="1800" dirty="0"/>
          </a:p>
        </p:txBody>
      </p:sp>
      <p:sp>
        <p:nvSpPr>
          <p:cNvPr id="10" name="Shape 7"/>
          <p:cNvSpPr/>
          <p:nvPr/>
        </p:nvSpPr>
        <p:spPr>
          <a:xfrm>
            <a:off x="1143000" y="5986562"/>
            <a:ext cx="5029200" cy="9525"/>
          </a:xfrm>
          <a:prstGeom prst="rect">
            <a:avLst/>
          </a:prstGeom>
          <a:solidFill>
            <a:srgbClr val="E6E6E6"/>
          </a:solidFill>
          <a:ln/>
        </p:spPr>
      </p:sp>
      <p:sp>
        <p:nvSpPr>
          <p:cNvPr id="11" name="Text 8"/>
          <p:cNvSpPr/>
          <p:nvPr/>
        </p:nvSpPr>
        <p:spPr>
          <a:xfrm>
            <a:off x="1143000" y="6145312"/>
            <a:ext cx="5180076" cy="981075"/>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1A1A1A"/>
                </a:solidFill>
                <a:latin typeface="Arial" pitchFamily="34" charset="0"/>
                <a:ea typeface="Arial" pitchFamily="34" charset="-122"/>
                <a:cs typeface="Arial" pitchFamily="34" charset="-120"/>
              </a:rPr>
              <a:t>Everything about the knife. The hilt, how you hold it, whether it is for combat or utility. Encyclopedic.</a:t>
            </a:r>
            <a:endParaRPr lang="en-US" sz="1875" dirty="0"/>
          </a:p>
        </p:txBody>
      </p:sp>
      <p:sp>
        <p:nvSpPr>
          <p:cNvPr id="12" name="Shape 9"/>
          <p:cNvSpPr/>
          <p:nvPr/>
        </p:nvSpPr>
        <p:spPr>
          <a:xfrm>
            <a:off x="6629400" y="3351808"/>
            <a:ext cx="5029200" cy="19050"/>
          </a:xfrm>
          <a:prstGeom prst="rect">
            <a:avLst/>
          </a:prstGeom>
          <a:solidFill>
            <a:srgbClr val="000000"/>
          </a:solidFill>
          <a:ln/>
        </p:spPr>
      </p:sp>
      <p:sp>
        <p:nvSpPr>
          <p:cNvPr id="13" name="Text 10"/>
          <p:cNvSpPr/>
          <p:nvPr/>
        </p:nvSpPr>
        <p:spPr>
          <a:xfrm>
            <a:off x="6629400" y="3599458"/>
            <a:ext cx="5180076"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A100FF"/>
                </a:solidFill>
                <a:latin typeface="Courier New" pitchFamily="34" charset="0"/>
                <a:ea typeface="Courier New" pitchFamily="34" charset="-122"/>
                <a:cs typeface="Courier New" pitchFamily="34" charset="-120"/>
              </a:rPr>
              <a:t>02</a:t>
            </a:r>
            <a:endParaRPr lang="en-US" sz="2250" dirty="0"/>
          </a:p>
        </p:txBody>
      </p:sp>
      <p:sp>
        <p:nvSpPr>
          <p:cNvPr id="14" name="Text 11"/>
          <p:cNvSpPr/>
          <p:nvPr/>
        </p:nvSpPr>
        <p:spPr>
          <a:xfrm>
            <a:off x="6629400" y="4190008"/>
            <a:ext cx="5532120" cy="415230"/>
          </a:xfrm>
          <a:prstGeom prst="rect">
            <a:avLst/>
          </a:prstGeom>
          <a:noFill/>
          <a:ln/>
        </p:spPr>
        <p:txBody>
          <a:bodyPr wrap="square" lIns="25400" tIns="25400" rIns="25400" bIns="25400" rtlCol="0" anchor="t">
            <a:normAutofit/>
          </a:bodyPr>
          <a:lstStyle/>
          <a:p>
            <a:pPr algn="l" indent="0" marL="0">
              <a:lnSpc>
                <a:spcPct val="95806"/>
              </a:lnSpc>
              <a:buNone/>
            </a:pPr>
            <a:r>
              <a:rPr lang="en-US" sz="2700" b="1" spc="-54" kern="0" dirty="0">
                <a:solidFill>
                  <a:srgbClr val="000000"/>
                </a:solidFill>
                <a:latin typeface="Arial" pitchFamily="34" charset="0"/>
                <a:ea typeface="Arial" pitchFamily="34" charset="-122"/>
                <a:cs typeface="Arial" pitchFamily="34" charset="-120"/>
              </a:rPr>
              <a:t>General skill acquisition</a:t>
            </a:r>
            <a:endParaRPr lang="en-US" sz="2700" dirty="0"/>
          </a:p>
        </p:txBody>
      </p:sp>
      <p:sp>
        <p:nvSpPr>
          <p:cNvPr id="15" name="Text 12"/>
          <p:cNvSpPr/>
          <p:nvPr/>
        </p:nvSpPr>
        <p:spPr>
          <a:xfrm>
            <a:off x="6629400" y="4700488"/>
            <a:ext cx="5532120" cy="364927"/>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4D4D4D"/>
                </a:solidFill>
                <a:latin typeface="Arial" pitchFamily="34" charset="0"/>
                <a:ea typeface="Arial" pitchFamily="34" charset="-122"/>
                <a:cs typeface="Arial" pitchFamily="34" charset="-120"/>
              </a:rPr>
              <a:t>Skill that transfers. Valuable in its own right.</a:t>
            </a:r>
            <a:endParaRPr lang="en-US" sz="1950" dirty="0"/>
          </a:p>
        </p:txBody>
      </p:sp>
      <p:sp>
        <p:nvSpPr>
          <p:cNvPr id="16" name="Text 13"/>
          <p:cNvSpPr/>
          <p:nvPr/>
        </p:nvSpPr>
        <p:spPr>
          <a:xfrm>
            <a:off x="6629400" y="5160665"/>
            <a:ext cx="553212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dirty="0">
                <a:solidFill>
                  <a:srgbClr val="460073"/>
                </a:solidFill>
                <a:latin typeface="Arial" pitchFamily="34" charset="0"/>
                <a:ea typeface="Arial" pitchFamily="34" charset="-122"/>
                <a:cs typeface="Arial" pitchFamily="34" charset="-120"/>
              </a:rPr>
              <a:t>Proven by assessment</a:t>
            </a:r>
            <a:endParaRPr lang="en-US" sz="1800" dirty="0"/>
          </a:p>
        </p:txBody>
      </p:sp>
      <p:sp>
        <p:nvSpPr>
          <p:cNvPr id="17" name="Shape 14"/>
          <p:cNvSpPr/>
          <p:nvPr/>
        </p:nvSpPr>
        <p:spPr>
          <a:xfrm>
            <a:off x="6629400" y="5986562"/>
            <a:ext cx="5029200" cy="9525"/>
          </a:xfrm>
          <a:prstGeom prst="rect">
            <a:avLst/>
          </a:prstGeom>
          <a:solidFill>
            <a:srgbClr val="E6E6E6"/>
          </a:solidFill>
          <a:ln/>
        </p:spPr>
      </p:sp>
      <p:sp>
        <p:nvSpPr>
          <p:cNvPr id="18" name="Text 15"/>
          <p:cNvSpPr/>
          <p:nvPr/>
        </p:nvSpPr>
        <p:spPr>
          <a:xfrm>
            <a:off x="6629400" y="6145312"/>
            <a:ext cx="5180076" cy="981075"/>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1A1A1A"/>
                </a:solidFill>
                <a:latin typeface="Arial" pitchFamily="34" charset="0"/>
                <a:ea typeface="Arial" pitchFamily="34" charset="-122"/>
                <a:cs typeface="Arial" pitchFamily="34" charset="-120"/>
              </a:rPr>
              <a:t>Using the knife to fillet a fish. Where to cut, where not to cut, how to keep it fresh. Fish in general.</a:t>
            </a:r>
            <a:endParaRPr lang="en-US" sz="1875" dirty="0"/>
          </a:p>
        </p:txBody>
      </p:sp>
      <p:sp>
        <p:nvSpPr>
          <p:cNvPr id="19" name="Shape 16"/>
          <p:cNvSpPr/>
          <p:nvPr/>
        </p:nvSpPr>
        <p:spPr>
          <a:xfrm>
            <a:off x="12115800" y="3351808"/>
            <a:ext cx="5029200" cy="19050"/>
          </a:xfrm>
          <a:prstGeom prst="rect">
            <a:avLst/>
          </a:prstGeom>
          <a:solidFill>
            <a:srgbClr val="000000"/>
          </a:solidFill>
          <a:ln/>
        </p:spPr>
      </p:sp>
      <p:sp>
        <p:nvSpPr>
          <p:cNvPr id="20" name="Text 17"/>
          <p:cNvSpPr/>
          <p:nvPr/>
        </p:nvSpPr>
        <p:spPr>
          <a:xfrm>
            <a:off x="12115800" y="3599458"/>
            <a:ext cx="5180076" cy="495300"/>
          </a:xfrm>
          <a:prstGeom prst="rect">
            <a:avLst/>
          </a:prstGeom>
          <a:noFill/>
          <a:ln/>
        </p:spPr>
        <p:txBody>
          <a:bodyPr wrap="square" lIns="25400" tIns="25400" rIns="25400" bIns="25400" rtlCol="0" anchor="t">
            <a:normAutofit/>
          </a:bodyPr>
          <a:lstStyle/>
          <a:p>
            <a:pPr algn="l" indent="0" marL="0">
              <a:lnSpc>
                <a:spcPct val="141176"/>
              </a:lnSpc>
              <a:buNone/>
            </a:pPr>
            <a:r>
              <a:rPr lang="en-US" sz="2250" b="1" dirty="0">
                <a:solidFill>
                  <a:srgbClr val="A100FF"/>
                </a:solidFill>
                <a:latin typeface="Courier New" pitchFamily="34" charset="0"/>
                <a:ea typeface="Courier New" pitchFamily="34" charset="-122"/>
                <a:cs typeface="Courier New" pitchFamily="34" charset="-120"/>
              </a:rPr>
              <a:t>03</a:t>
            </a:r>
            <a:endParaRPr lang="en-US" sz="2250" dirty="0"/>
          </a:p>
        </p:txBody>
      </p:sp>
      <p:sp>
        <p:nvSpPr>
          <p:cNvPr id="21" name="Text 18"/>
          <p:cNvSpPr/>
          <p:nvPr/>
        </p:nvSpPr>
        <p:spPr>
          <a:xfrm>
            <a:off x="12115800" y="4190008"/>
            <a:ext cx="5532120" cy="415230"/>
          </a:xfrm>
          <a:prstGeom prst="rect">
            <a:avLst/>
          </a:prstGeom>
          <a:noFill/>
          <a:ln/>
        </p:spPr>
        <p:txBody>
          <a:bodyPr wrap="square" lIns="25400" tIns="25400" rIns="25400" bIns="25400" rtlCol="0" anchor="t">
            <a:normAutofit/>
          </a:bodyPr>
          <a:lstStyle/>
          <a:p>
            <a:pPr algn="l" indent="0" marL="0">
              <a:lnSpc>
                <a:spcPct val="95806"/>
              </a:lnSpc>
              <a:buNone/>
            </a:pPr>
            <a:r>
              <a:rPr lang="en-US" sz="2700" b="1" spc="-54" kern="0" dirty="0">
                <a:solidFill>
                  <a:srgbClr val="000000"/>
                </a:solidFill>
                <a:latin typeface="Arial" pitchFamily="34" charset="0"/>
                <a:ea typeface="Arial" pitchFamily="34" charset="-122"/>
                <a:cs typeface="Arial" pitchFamily="34" charset="-120"/>
              </a:rPr>
              <a:t>Context-specific outcomes</a:t>
            </a:r>
            <a:endParaRPr lang="en-US" sz="2700" dirty="0"/>
          </a:p>
        </p:txBody>
      </p:sp>
      <p:sp>
        <p:nvSpPr>
          <p:cNvPr id="22" name="Text 19"/>
          <p:cNvSpPr/>
          <p:nvPr/>
        </p:nvSpPr>
        <p:spPr>
          <a:xfrm>
            <a:off x="12115800" y="4700488"/>
            <a:ext cx="5180076" cy="691753"/>
          </a:xfrm>
          <a:prstGeom prst="rect">
            <a:avLst/>
          </a:prstGeom>
          <a:noFill/>
          <a:ln/>
        </p:spPr>
        <p:txBody>
          <a:bodyPr wrap="square" lIns="25400" tIns="25400" rIns="25400" bIns="25400" rtlCol="0" anchor="t">
            <a:normAutofit/>
          </a:bodyPr>
          <a:lstStyle/>
          <a:p>
            <a:pPr algn="l" indent="0" marL="0">
              <a:lnSpc>
                <a:spcPct val="117000"/>
              </a:lnSpc>
              <a:buNone/>
            </a:pPr>
            <a:r>
              <a:rPr lang="en-US" sz="1950" dirty="0">
                <a:solidFill>
                  <a:srgbClr val="4D4D4D"/>
                </a:solidFill>
                <a:latin typeface="Arial" pitchFamily="34" charset="0"/>
                <a:ea typeface="Arial" pitchFamily="34" charset="-122"/>
                <a:cs typeface="Arial" pitchFamily="34" charset="-120"/>
              </a:rPr>
              <a:t>Demonstrated competency in a specific situation.</a:t>
            </a:r>
            <a:endParaRPr lang="en-US" sz="1950" dirty="0"/>
          </a:p>
        </p:txBody>
      </p:sp>
      <p:sp>
        <p:nvSpPr>
          <p:cNvPr id="23" name="Text 20"/>
          <p:cNvSpPr/>
          <p:nvPr/>
        </p:nvSpPr>
        <p:spPr>
          <a:xfrm>
            <a:off x="12115800" y="5487492"/>
            <a:ext cx="553212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dirty="0">
                <a:solidFill>
                  <a:srgbClr val="460073"/>
                </a:solidFill>
                <a:latin typeface="Arial" pitchFamily="34" charset="0"/>
                <a:ea typeface="Arial" pitchFamily="34" charset="-122"/>
                <a:cs typeface="Arial" pitchFamily="34" charset="-120"/>
              </a:rPr>
              <a:t>Proven by a capstone in your own environment</a:t>
            </a:r>
            <a:endParaRPr lang="en-US" sz="1800" dirty="0"/>
          </a:p>
        </p:txBody>
      </p:sp>
      <p:sp>
        <p:nvSpPr>
          <p:cNvPr id="24" name="Shape 21"/>
          <p:cNvSpPr/>
          <p:nvPr/>
        </p:nvSpPr>
        <p:spPr>
          <a:xfrm>
            <a:off x="12115800" y="5986562"/>
            <a:ext cx="5029200" cy="9525"/>
          </a:xfrm>
          <a:prstGeom prst="rect">
            <a:avLst/>
          </a:prstGeom>
          <a:solidFill>
            <a:srgbClr val="E6E6E6"/>
          </a:solidFill>
          <a:ln/>
        </p:spPr>
      </p:sp>
      <p:sp>
        <p:nvSpPr>
          <p:cNvPr id="25" name="Text 22"/>
          <p:cNvSpPr/>
          <p:nvPr/>
        </p:nvSpPr>
        <p:spPr>
          <a:xfrm>
            <a:off x="12115800" y="6145312"/>
            <a:ext cx="5180076" cy="981075"/>
          </a:xfrm>
          <a:prstGeom prst="rect">
            <a:avLst/>
          </a:prstGeom>
          <a:noFill/>
          <a:ln/>
        </p:spPr>
        <p:txBody>
          <a:bodyPr wrap="square" lIns="25400" tIns="25400" rIns="25400" bIns="25400" rtlCol="0" anchor="t">
            <a:normAutofit/>
          </a:bodyPr>
          <a:lstStyle/>
          <a:p>
            <a:pPr algn="l" indent="0" marL="0">
              <a:lnSpc>
                <a:spcPct val="115116"/>
              </a:lnSpc>
              <a:buNone/>
            </a:pPr>
            <a:r>
              <a:rPr lang="en-US" sz="1875" dirty="0">
                <a:solidFill>
                  <a:srgbClr val="1A1A1A"/>
                </a:solidFill>
                <a:latin typeface="Arial" pitchFamily="34" charset="0"/>
                <a:ea typeface="Arial" pitchFamily="34" charset="-122"/>
                <a:cs typeface="Arial" pitchFamily="34" charset="-120"/>
              </a:rPr>
              <a:t>Filleting a marlin because you live near the ocean, or a trout because you live near fresh water.</a:t>
            </a:r>
            <a:endParaRPr lang="en-US" sz="1875" dirty="0"/>
          </a:p>
        </p:txBody>
      </p:sp>
      <p:sp>
        <p:nvSpPr>
          <p:cNvPr id="26" name="Shape 23"/>
          <p:cNvSpPr/>
          <p:nvPr/>
        </p:nvSpPr>
        <p:spPr>
          <a:xfrm>
            <a:off x="1143000" y="8183960"/>
            <a:ext cx="16002000" cy="746720"/>
          </a:xfrm>
          <a:prstGeom prst="rect">
            <a:avLst/>
          </a:prstGeom>
          <a:solidFill>
            <a:srgbClr val="F4F4F2"/>
          </a:solidFill>
          <a:ln/>
        </p:spPr>
      </p:sp>
      <p:sp>
        <p:nvSpPr>
          <p:cNvPr id="27" name="Text 24"/>
          <p:cNvSpPr/>
          <p:nvPr/>
        </p:nvSpPr>
        <p:spPr>
          <a:xfrm>
            <a:off x="1447800" y="8374460"/>
            <a:ext cx="3144669"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AGAINST THE CODES</a:t>
            </a:r>
            <a:endParaRPr lang="en-US" sz="1800" dirty="0"/>
          </a:p>
        </p:txBody>
      </p:sp>
      <p:sp>
        <p:nvSpPr>
          <p:cNvPr id="28" name="Text 25"/>
          <p:cNvSpPr/>
          <p:nvPr/>
        </p:nvSpPr>
        <p:spPr>
          <a:xfrm>
            <a:off x="4516140" y="8403035"/>
            <a:ext cx="10480774"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1A1A1A"/>
                </a:solidFill>
                <a:latin typeface="Arial" pitchFamily="34" charset="0"/>
                <a:ea typeface="Arial" pitchFamily="34" charset="-122"/>
                <a:cs typeface="Arial" pitchFamily="34" charset="-120"/>
              </a:rPr>
              <a:t>Knowledge is the letters. Task performance is the numbers. A person carries both at once.</a:t>
            </a:r>
            <a:endParaRPr lang="en-US" sz="1800" dirty="0"/>
          </a:p>
        </p:txBody>
      </p:sp>
      <p:sp>
        <p:nvSpPr>
          <p:cNvPr id="29" name="Text 26"/>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30" name="Text 27"/>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31" name="Text 28"/>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50038"/>
        </a:solidFill>
      </p:bgPr>
    </p:bg>
    <p:spTree>
      <p:nvGrpSpPr>
        <p:cNvPr id="1" name=""/>
        <p:cNvGrpSpPr/>
        <p:nvPr/>
      </p:nvGrpSpPr>
      <p:grpSpPr>
        <a:xfrm>
          <a:off x="0" y="0"/>
          <a:ext cx="0" cy="0"/>
          <a:chOff x="0" y="0"/>
          <a:chExt cx="0" cy="0"/>
        </a:xfrm>
      </p:grpSpPr>
      <p:sp>
        <p:nvSpPr>
          <p:cNvPr id="2" name="Text 0"/>
          <p:cNvSpPr/>
          <p:nvPr/>
        </p:nvSpPr>
        <p:spPr>
          <a:xfrm>
            <a:off x="1143000" y="800100"/>
            <a:ext cx="3444697"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DCAFFF"/>
                </a:solidFill>
                <a:latin typeface="Arial" pitchFamily="34" charset="0"/>
                <a:ea typeface="Arial" pitchFamily="34" charset="-122"/>
                <a:cs typeface="Arial" pitchFamily="34" charset="-120"/>
              </a:rPr>
              <a:t>KNOWLEDGE TRAINING</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3666530"/>
            <a:ext cx="17602200" cy="1066800"/>
          </a:xfrm>
          <a:prstGeom prst="rect">
            <a:avLst/>
          </a:prstGeom>
          <a:noFill/>
          <a:ln/>
        </p:spPr>
        <p:txBody>
          <a:bodyPr wrap="square" lIns="25400" tIns="25400" rIns="25400" bIns="25400" rtlCol="0" anchor="t">
            <a:normAutofit/>
          </a:bodyPr>
          <a:lstStyle/>
          <a:p>
            <a:pPr algn="l" indent="0" marL="0">
              <a:lnSpc>
                <a:spcPct val="71053"/>
              </a:lnSpc>
              <a:buNone/>
            </a:pPr>
            <a:r>
              <a:rPr lang="en-US" sz="8100" b="1" spc="-243" kern="0" dirty="0">
                <a:solidFill>
                  <a:srgbClr val="FFFFFF"/>
                </a:solidFill>
                <a:latin typeface="Arial" pitchFamily="34" charset="0"/>
                <a:ea typeface="Arial" pitchFamily="34" charset="-122"/>
                <a:cs typeface="Arial" pitchFamily="34" charset="-120"/>
              </a:rPr>
              <a:t>Knowledge training</a:t>
            </a:r>
            <a:endParaRPr lang="en-US" sz="8100" dirty="0"/>
          </a:p>
        </p:txBody>
      </p:sp>
      <p:sp>
        <p:nvSpPr>
          <p:cNvPr id="5" name="Text 2"/>
          <p:cNvSpPr/>
          <p:nvPr/>
        </p:nvSpPr>
        <p:spPr>
          <a:xfrm>
            <a:off x="1143000" y="4885730"/>
            <a:ext cx="14668500" cy="483791"/>
          </a:xfrm>
          <a:prstGeom prst="rect">
            <a:avLst/>
          </a:prstGeom>
          <a:noFill/>
          <a:ln/>
        </p:spPr>
        <p:txBody>
          <a:bodyPr wrap="square" lIns="25400" tIns="25400" rIns="25400" bIns="25400" rtlCol="0" anchor="t">
            <a:normAutofit/>
          </a:bodyPr>
          <a:lstStyle/>
          <a:p>
            <a:pPr algn="l" indent="0" marL="0">
              <a:lnSpc>
                <a:spcPct val="113226"/>
              </a:lnSpc>
              <a:buNone/>
            </a:pPr>
            <a:r>
              <a:rPr lang="en-US" sz="2700" dirty="0">
                <a:solidFill>
                  <a:srgbClr val="FFFFFF">
                    <a:alpha val="85000"/>
                  </a:srgbClr>
                </a:solidFill>
                <a:latin typeface="Arial" pitchFamily="34" charset="0"/>
                <a:ea typeface="Arial" pitchFamily="34" charset="-122"/>
                <a:cs typeface="Arial" pitchFamily="34" charset="-120"/>
              </a:rPr>
              <a:t>Generalized knowledge. Necessary, not sufficient. Proven by completion.</a:t>
            </a:r>
            <a:endParaRPr lang="en-US" sz="2700" dirty="0"/>
          </a:p>
        </p:txBody>
      </p:sp>
      <p:sp>
        <p:nvSpPr>
          <p:cNvPr id="6" name="Shape 3"/>
          <p:cNvSpPr/>
          <p:nvPr/>
        </p:nvSpPr>
        <p:spPr>
          <a:xfrm>
            <a:off x="1143000" y="5750521"/>
            <a:ext cx="3407767" cy="698500"/>
          </a:xfrm>
          <a:prstGeom prst="rect">
            <a:avLst/>
          </a:prstGeom>
          <a:solidFill>
            <a:srgbClr val="FFFFFF"/>
          </a:solidFill>
          <a:ln/>
        </p:spPr>
      </p:sp>
      <p:sp>
        <p:nvSpPr>
          <p:cNvPr id="7" name="Text 4"/>
          <p:cNvSpPr/>
          <p:nvPr/>
        </p:nvSpPr>
        <p:spPr>
          <a:xfrm>
            <a:off x="1301433" y="5902921"/>
            <a:ext cx="3090900" cy="431800"/>
          </a:xfrm>
          <a:prstGeom prst="rect">
            <a:avLst/>
          </a:prstGeom>
          <a:noFill/>
          <a:ln/>
        </p:spPr>
        <p:txBody>
          <a:bodyPr wrap="square" lIns="25400" tIns="25400" rIns="25400" bIns="25400" rtlCol="0" anchor="t">
            <a:normAutofit/>
          </a:bodyPr>
          <a:lstStyle/>
          <a:p>
            <a:pPr algn="ctr" indent="0" marL="0">
              <a:lnSpc>
                <a:spcPct val="139535"/>
              </a:lnSpc>
              <a:buNone/>
            </a:pPr>
            <a:r>
              <a:rPr lang="en-US" sz="1875" b="1" spc="225" kern="0" dirty="0">
                <a:solidFill>
                  <a:srgbClr val="250038"/>
                </a:solidFill>
                <a:latin typeface="Arial" pitchFamily="34" charset="0"/>
                <a:ea typeface="Arial" pitchFamily="34" charset="-122"/>
                <a:cs typeface="Arial" pitchFamily="34" charset="-120"/>
              </a:rPr>
              <a:t>TRAINING</a:t>
            </a:r>
            <a:endParaRPr lang="en-US" sz="1875" dirty="0"/>
          </a:p>
        </p:txBody>
      </p:sp>
      <p:sp>
        <p:nvSpPr>
          <p:cNvPr id="8" name="Shape 5"/>
          <p:cNvSpPr/>
          <p:nvPr/>
        </p:nvSpPr>
        <p:spPr>
          <a:xfrm>
            <a:off x="4665067" y="5750521"/>
            <a:ext cx="3420567" cy="698500"/>
          </a:xfrm>
          <a:prstGeom prst="rect">
            <a:avLst/>
          </a:prstGeom>
          <a:ln w="6350">
            <a:solidFill>
              <a:srgbClr val="FFFFFF">
                <a:alpha val="30000"/>
              </a:srgbClr>
            </a:solidFill>
            <a:prstDash val="solid"/>
          </a:ln>
        </p:spPr>
      </p:sp>
      <p:sp>
        <p:nvSpPr>
          <p:cNvPr id="9" name="Text 6"/>
          <p:cNvSpPr/>
          <p:nvPr/>
        </p:nvSpPr>
        <p:spPr>
          <a:xfrm>
            <a:off x="4829659" y="5909271"/>
            <a:ext cx="3091383" cy="419100"/>
          </a:xfrm>
          <a:prstGeom prst="rect">
            <a:avLst/>
          </a:prstGeom>
          <a:noFill/>
          <a:ln/>
        </p:spPr>
        <p:txBody>
          <a:bodyPr wrap="square" lIns="25400" tIns="25400" rIns="25400" bIns="25400" rtlCol="0" anchor="t">
            <a:normAutofit/>
          </a:bodyPr>
          <a:lstStyle/>
          <a:p>
            <a:pPr algn="ctr" indent="0" marL="0">
              <a:lnSpc>
                <a:spcPct val="139535"/>
              </a:lnSpc>
              <a:buNone/>
            </a:pPr>
            <a:r>
              <a:rPr lang="en-US" sz="1875" b="1" spc="225" kern="0" dirty="0">
                <a:solidFill>
                  <a:srgbClr val="FFFFFF">
                    <a:alpha val="45000"/>
                  </a:srgbClr>
                </a:solidFill>
                <a:latin typeface="Arial" pitchFamily="34" charset="0"/>
                <a:ea typeface="Arial" pitchFamily="34" charset="-122"/>
                <a:cs typeface="Arial" pitchFamily="34" charset="-120"/>
              </a:rPr>
              <a:t>SKILL</a:t>
            </a:r>
            <a:endParaRPr lang="en-US" sz="1875" dirty="0"/>
          </a:p>
        </p:txBody>
      </p:sp>
      <p:sp>
        <p:nvSpPr>
          <p:cNvPr id="10" name="Shape 7"/>
          <p:cNvSpPr/>
          <p:nvPr/>
        </p:nvSpPr>
        <p:spPr>
          <a:xfrm>
            <a:off x="8199934" y="5750521"/>
            <a:ext cx="3420567" cy="698500"/>
          </a:xfrm>
          <a:prstGeom prst="rect">
            <a:avLst/>
          </a:prstGeom>
          <a:ln w="6350">
            <a:solidFill>
              <a:srgbClr val="FFFFFF">
                <a:alpha val="30000"/>
              </a:srgbClr>
            </a:solidFill>
            <a:prstDash val="solid"/>
          </a:ln>
        </p:spPr>
      </p:sp>
      <p:sp>
        <p:nvSpPr>
          <p:cNvPr id="11" name="Text 8"/>
          <p:cNvSpPr/>
          <p:nvPr/>
        </p:nvSpPr>
        <p:spPr>
          <a:xfrm>
            <a:off x="8364525" y="5909271"/>
            <a:ext cx="3091383" cy="419100"/>
          </a:xfrm>
          <a:prstGeom prst="rect">
            <a:avLst/>
          </a:prstGeom>
          <a:noFill/>
          <a:ln/>
        </p:spPr>
        <p:txBody>
          <a:bodyPr wrap="square" lIns="25400" tIns="25400" rIns="25400" bIns="25400" rtlCol="0" anchor="t">
            <a:normAutofit/>
          </a:bodyPr>
          <a:lstStyle/>
          <a:p>
            <a:pPr algn="ctr" indent="0" marL="0">
              <a:lnSpc>
                <a:spcPct val="139535"/>
              </a:lnSpc>
              <a:buNone/>
            </a:pPr>
            <a:r>
              <a:rPr lang="en-US" sz="1875" b="1" spc="225" kern="0" dirty="0">
                <a:solidFill>
                  <a:srgbClr val="FFFFFF">
                    <a:alpha val="45000"/>
                  </a:srgbClr>
                </a:solidFill>
                <a:latin typeface="Arial" pitchFamily="34" charset="0"/>
                <a:ea typeface="Arial" pitchFamily="34" charset="-122"/>
                <a:cs typeface="Arial" pitchFamily="34" charset="-120"/>
              </a:rPr>
              <a:t>OUTCOME</a:t>
            </a:r>
            <a:endParaRPr lang="en-US" sz="1875" dirty="0"/>
          </a:p>
        </p:txBody>
      </p:sp>
      <p:sp>
        <p:nvSpPr>
          <p:cNvPr id="12" name="Text 9"/>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60000"/>
                  </a:srgbClr>
                </a:solidFill>
                <a:latin typeface="Arial" pitchFamily="34" charset="0"/>
                <a:ea typeface="Arial" pitchFamily="34" charset="-122"/>
                <a:cs typeface="Arial" pitchFamily="34" charset="-120"/>
              </a:rPr>
              <a:t>DAFITC 2026</a:t>
            </a:r>
            <a:endParaRPr lang="en-US" sz="1800" dirty="0"/>
          </a:p>
        </p:txBody>
      </p:sp>
      <p:sp>
        <p:nvSpPr>
          <p:cNvPr id="13" name="Text 10"/>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35000"/>
                  </a:srgbClr>
                </a:solidFill>
                <a:latin typeface="Arial" pitchFamily="34" charset="0"/>
                <a:ea typeface="Arial" pitchFamily="34" charset="-122"/>
                <a:cs typeface="Arial" pitchFamily="34" charset="-120"/>
              </a:rPr>
              <a:t>/</a:t>
            </a:r>
            <a:endParaRPr lang="en-US" sz="1800" dirty="0"/>
          </a:p>
        </p:txBody>
      </p:sp>
      <p:sp>
        <p:nvSpPr>
          <p:cNvPr id="14" name="Text 11"/>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60000"/>
                  </a:srgbClr>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40310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WHAT TRAINING REQUIRES</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5697200" cy="1190228"/>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Training only transfers when it is doctrine-aligned and available at the point of need</a:t>
            </a:r>
            <a:endParaRPr lang="en-US" sz="4200" dirty="0"/>
          </a:p>
        </p:txBody>
      </p:sp>
      <p:sp>
        <p:nvSpPr>
          <p:cNvPr id="5" name="Text 2"/>
          <p:cNvSpPr/>
          <p:nvPr/>
        </p:nvSpPr>
        <p:spPr>
          <a:xfrm>
            <a:off x="1143000" y="3003749"/>
            <a:ext cx="12753975" cy="1471315"/>
          </a:xfrm>
          <a:prstGeom prst="rect">
            <a:avLst/>
          </a:prstGeom>
          <a:noFill/>
          <a:ln/>
        </p:spPr>
        <p:txBody>
          <a:bodyPr wrap="square" lIns="25400" tIns="25400" rIns="25400" bIns="25400" rtlCol="0" anchor="t">
            <a:normAutofit/>
          </a:bodyPr>
          <a:lstStyle/>
          <a:p>
            <a:pPr algn="l" indent="0" marL="0">
              <a:lnSpc>
                <a:spcPct val="114000"/>
              </a:lnSpc>
              <a:buNone/>
            </a:pPr>
            <a:r>
              <a:rPr lang="en-US" sz="2850" dirty="0">
                <a:solidFill>
                  <a:srgbClr val="4D4D4D"/>
                </a:solidFill>
                <a:latin typeface="Arial" pitchFamily="34" charset="0"/>
                <a:ea typeface="Arial" pitchFamily="34" charset="-122"/>
                <a:cs typeface="Arial" pitchFamily="34" charset="-120"/>
              </a:rPr>
              <a:t>Generic AI knowledge does not survive contact with a real task. You still need it, the same way you need to know how the weapon works before you ever fire it.</a:t>
            </a:r>
            <a:endParaRPr lang="en-US" sz="2850" dirty="0"/>
          </a:p>
        </p:txBody>
      </p:sp>
      <p:sp>
        <p:nvSpPr>
          <p:cNvPr id="6" name="Shape 3"/>
          <p:cNvSpPr/>
          <p:nvPr/>
        </p:nvSpPr>
        <p:spPr>
          <a:xfrm>
            <a:off x="1143000" y="4763095"/>
            <a:ext cx="7772400" cy="19050"/>
          </a:xfrm>
          <a:prstGeom prst="rect">
            <a:avLst/>
          </a:prstGeom>
          <a:solidFill>
            <a:srgbClr val="000000"/>
          </a:solidFill>
          <a:ln/>
        </p:spPr>
      </p:sp>
      <p:sp>
        <p:nvSpPr>
          <p:cNvPr id="7" name="Text 4"/>
          <p:cNvSpPr/>
          <p:nvPr/>
        </p:nvSpPr>
        <p:spPr>
          <a:xfrm>
            <a:off x="1143000" y="5105995"/>
            <a:ext cx="8549640" cy="552450"/>
          </a:xfrm>
          <a:prstGeom prst="rect">
            <a:avLst/>
          </a:prstGeom>
          <a:noFill/>
          <a:ln/>
        </p:spPr>
        <p:txBody>
          <a:bodyPr wrap="square" lIns="25400" tIns="25400" rIns="25400" bIns="25400" rtlCol="0" anchor="t">
            <a:normAutofit/>
          </a:bodyPr>
          <a:lstStyle/>
          <a:p>
            <a:pPr algn="l" indent="0" marL="0">
              <a:lnSpc>
                <a:spcPct val="87097"/>
              </a:lnSpc>
              <a:buNone/>
            </a:pPr>
            <a:r>
              <a:rPr lang="en-US" sz="4050" b="1" dirty="0">
                <a:solidFill>
                  <a:srgbClr val="A100FF"/>
                </a:solidFill>
                <a:latin typeface="Arial" pitchFamily="34" charset="0"/>
                <a:ea typeface="Arial" pitchFamily="34" charset="-122"/>
                <a:cs typeface="Arial" pitchFamily="34" charset="-120"/>
              </a:rPr>
              <a:t>01</a:t>
            </a:r>
            <a:endParaRPr lang="en-US" sz="4050" dirty="0"/>
          </a:p>
        </p:txBody>
      </p:sp>
      <p:sp>
        <p:nvSpPr>
          <p:cNvPr id="8" name="Text 5"/>
          <p:cNvSpPr/>
          <p:nvPr/>
        </p:nvSpPr>
        <p:spPr>
          <a:xfrm>
            <a:off x="1143000" y="5772745"/>
            <a:ext cx="854964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spc="-60" kern="0" dirty="0">
                <a:solidFill>
                  <a:srgbClr val="000000"/>
                </a:solidFill>
                <a:latin typeface="Arial" pitchFamily="34" charset="0"/>
                <a:ea typeface="Arial" pitchFamily="34" charset="-122"/>
                <a:cs typeface="Arial" pitchFamily="34" charset="-120"/>
              </a:rPr>
              <a:t>The answer is checkable</a:t>
            </a:r>
            <a:endParaRPr lang="en-US" sz="3000" dirty="0"/>
          </a:p>
        </p:txBody>
      </p:sp>
      <p:sp>
        <p:nvSpPr>
          <p:cNvPr id="9" name="Text 6"/>
          <p:cNvSpPr/>
          <p:nvPr/>
        </p:nvSpPr>
        <p:spPr>
          <a:xfrm>
            <a:off x="1143000" y="6344245"/>
            <a:ext cx="6278880" cy="1281113"/>
          </a:xfrm>
          <a:prstGeom prst="rect">
            <a:avLst/>
          </a:prstGeom>
          <a:noFill/>
          <a:ln/>
        </p:spPr>
        <p:txBody>
          <a:bodyPr wrap="square" lIns="25400" tIns="25400" rIns="25400" bIns="25400" rtlCol="0" anchor="t">
            <a:normAutofit/>
          </a:bodyPr>
          <a:lstStyle/>
          <a:p>
            <a:pPr algn="l" indent="0" marL="0">
              <a:lnSpc>
                <a:spcPct val="125481"/>
              </a:lnSpc>
              <a:buNone/>
            </a:pPr>
            <a:r>
              <a:rPr lang="en-US" sz="2250" dirty="0">
                <a:solidFill>
                  <a:srgbClr val="4D4D4D"/>
                </a:solidFill>
                <a:latin typeface="Arial" pitchFamily="34" charset="0"/>
                <a:ea typeface="Arial" pitchFamily="34" charset="-122"/>
                <a:cs typeface="Arial" pitchFamily="34" charset="-120"/>
              </a:rPr>
              <a:t>The answer comes out of your cleared corpus and cites the section, so the operator can check it.</a:t>
            </a:r>
            <a:endParaRPr lang="en-US" sz="2250" dirty="0"/>
          </a:p>
        </p:txBody>
      </p:sp>
      <p:sp>
        <p:nvSpPr>
          <p:cNvPr id="10" name="Shape 7"/>
          <p:cNvSpPr/>
          <p:nvPr/>
        </p:nvSpPr>
        <p:spPr>
          <a:xfrm>
            <a:off x="9372600" y="4763095"/>
            <a:ext cx="7772400" cy="19050"/>
          </a:xfrm>
          <a:prstGeom prst="rect">
            <a:avLst/>
          </a:prstGeom>
          <a:solidFill>
            <a:srgbClr val="000000"/>
          </a:solidFill>
          <a:ln/>
        </p:spPr>
      </p:sp>
      <p:sp>
        <p:nvSpPr>
          <p:cNvPr id="11" name="Text 8"/>
          <p:cNvSpPr/>
          <p:nvPr/>
        </p:nvSpPr>
        <p:spPr>
          <a:xfrm>
            <a:off x="9372600" y="5105995"/>
            <a:ext cx="8549640" cy="552450"/>
          </a:xfrm>
          <a:prstGeom prst="rect">
            <a:avLst/>
          </a:prstGeom>
          <a:noFill/>
          <a:ln/>
        </p:spPr>
        <p:txBody>
          <a:bodyPr wrap="square" lIns="25400" tIns="25400" rIns="25400" bIns="25400" rtlCol="0" anchor="t">
            <a:normAutofit/>
          </a:bodyPr>
          <a:lstStyle/>
          <a:p>
            <a:pPr algn="l" indent="0" marL="0">
              <a:lnSpc>
                <a:spcPct val="87097"/>
              </a:lnSpc>
              <a:buNone/>
            </a:pPr>
            <a:r>
              <a:rPr lang="en-US" sz="4050" b="1" dirty="0">
                <a:solidFill>
                  <a:srgbClr val="A100FF"/>
                </a:solidFill>
                <a:latin typeface="Arial" pitchFamily="34" charset="0"/>
                <a:ea typeface="Arial" pitchFamily="34" charset="-122"/>
                <a:cs typeface="Arial" pitchFamily="34" charset="-120"/>
              </a:rPr>
              <a:t>02</a:t>
            </a:r>
            <a:endParaRPr lang="en-US" sz="4050" dirty="0"/>
          </a:p>
        </p:txBody>
      </p:sp>
      <p:sp>
        <p:nvSpPr>
          <p:cNvPr id="12" name="Text 9"/>
          <p:cNvSpPr/>
          <p:nvPr/>
        </p:nvSpPr>
        <p:spPr>
          <a:xfrm>
            <a:off x="9372600" y="5772745"/>
            <a:ext cx="8549640" cy="457200"/>
          </a:xfrm>
          <a:prstGeom prst="rect">
            <a:avLst/>
          </a:prstGeom>
          <a:noFill/>
          <a:ln/>
        </p:spPr>
        <p:txBody>
          <a:bodyPr wrap="square" lIns="25400" tIns="25400" rIns="25400" bIns="25400" rtlCol="0" anchor="t">
            <a:normAutofit/>
          </a:bodyPr>
          <a:lstStyle/>
          <a:p>
            <a:pPr algn="l" indent="0" marL="0">
              <a:lnSpc>
                <a:spcPct val="95652"/>
              </a:lnSpc>
              <a:buNone/>
            </a:pPr>
            <a:r>
              <a:rPr lang="en-US" sz="3000" b="1" spc="-60" kern="0" dirty="0">
                <a:solidFill>
                  <a:srgbClr val="000000"/>
                </a:solidFill>
                <a:latin typeface="Arial" pitchFamily="34" charset="0"/>
                <a:ea typeface="Arial" pitchFamily="34" charset="-122"/>
                <a:cs typeface="Arial" pitchFamily="34" charset="-120"/>
              </a:rPr>
              <a:t>It arrives during the task</a:t>
            </a:r>
            <a:endParaRPr lang="en-US" sz="3000" dirty="0"/>
          </a:p>
        </p:txBody>
      </p:sp>
      <p:sp>
        <p:nvSpPr>
          <p:cNvPr id="13" name="Text 10"/>
          <p:cNvSpPr/>
          <p:nvPr/>
        </p:nvSpPr>
        <p:spPr>
          <a:xfrm>
            <a:off x="9372600" y="6344245"/>
            <a:ext cx="6278880" cy="866775"/>
          </a:xfrm>
          <a:prstGeom prst="rect">
            <a:avLst/>
          </a:prstGeom>
          <a:noFill/>
          <a:ln/>
        </p:spPr>
        <p:txBody>
          <a:bodyPr wrap="square" lIns="25400" tIns="25400" rIns="25400" bIns="25400" rtlCol="0" anchor="t">
            <a:normAutofit/>
          </a:bodyPr>
          <a:lstStyle/>
          <a:p>
            <a:pPr algn="l" indent="0" marL="0">
              <a:lnSpc>
                <a:spcPct val="125481"/>
              </a:lnSpc>
              <a:buNone/>
            </a:pPr>
            <a:r>
              <a:rPr lang="en-US" sz="2250" dirty="0">
                <a:solidFill>
                  <a:srgbClr val="4D4D4D"/>
                </a:solidFill>
                <a:latin typeface="Arial" pitchFamily="34" charset="0"/>
                <a:ea typeface="Arial" pitchFamily="34" charset="-122"/>
                <a:cs typeface="Arial" pitchFamily="34" charset="-120"/>
              </a:rPr>
              <a:t>It arrives during the task. Not three weeks earlier in a classroom.</a:t>
            </a:r>
            <a:endParaRPr lang="en-US" sz="2250" dirty="0"/>
          </a:p>
        </p:txBody>
      </p:sp>
      <p:sp>
        <p:nvSpPr>
          <p:cNvPr id="14" name="Shape 11"/>
          <p:cNvSpPr/>
          <p:nvPr/>
        </p:nvSpPr>
        <p:spPr>
          <a:xfrm>
            <a:off x="1143000" y="7780139"/>
            <a:ext cx="16002000" cy="1112441"/>
          </a:xfrm>
          <a:prstGeom prst="rect">
            <a:avLst/>
          </a:prstGeom>
          <a:solidFill>
            <a:srgbClr val="F4F4F2"/>
          </a:solidFill>
          <a:ln/>
        </p:spPr>
      </p:sp>
      <p:pic>
        <p:nvPicPr>
          <p:cNvPr id="1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47800" y="8236347"/>
            <a:ext cx="190500" cy="200025"/>
          </a:xfrm>
          <a:prstGeom prst="rect">
            <a:avLst/>
          </a:prstGeom>
        </p:spPr>
      </p:pic>
      <p:sp>
        <p:nvSpPr>
          <p:cNvPr id="16" name="Text 12"/>
          <p:cNvSpPr/>
          <p:nvPr/>
        </p:nvSpPr>
        <p:spPr>
          <a:xfrm>
            <a:off x="1847850" y="7989689"/>
            <a:ext cx="15442121" cy="731441"/>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1A1A1A"/>
                </a:solidFill>
                <a:latin typeface="Arial" pitchFamily="34" charset="0"/>
                <a:ea typeface="Arial" pitchFamily="34" charset="-122"/>
                <a:cs typeface="Arial" pitchFamily="34" charset="-120"/>
              </a:rPr>
              <a:t>If you are working on Kubernetes and your agent has no Kubernetes documentation, it cannot help you. A human being is no different.</a:t>
            </a:r>
            <a:endParaRPr lang="en-US" sz="2100" dirty="0"/>
          </a:p>
        </p:txBody>
      </p:sp>
      <p:sp>
        <p:nvSpPr>
          <p:cNvPr id="17" name="Text 13"/>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18" name="Text 14"/>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19" name="Text 15"/>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50038"/>
        </a:solidFill>
      </p:bgPr>
    </p:bg>
    <p:spTree>
      <p:nvGrpSpPr>
        <p:cNvPr id="1" name=""/>
        <p:cNvGrpSpPr/>
        <p:nvPr/>
      </p:nvGrpSpPr>
      <p:grpSpPr>
        <a:xfrm>
          <a:off x="0" y="0"/>
          <a:ext cx="0" cy="0"/>
          <a:chOff x="0" y="0"/>
          <a:chExt cx="0" cy="0"/>
        </a:xfrm>
      </p:grpSpPr>
      <p:sp>
        <p:nvSpPr>
          <p:cNvPr id="2" name="Text 0"/>
          <p:cNvSpPr/>
          <p:nvPr/>
        </p:nvSpPr>
        <p:spPr>
          <a:xfrm>
            <a:off x="1143000" y="800100"/>
            <a:ext cx="4383088"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DCAFFF"/>
                </a:solidFill>
                <a:latin typeface="Arial" pitchFamily="34" charset="0"/>
                <a:ea typeface="Arial" pitchFamily="34" charset="-122"/>
                <a:cs typeface="Arial" pitchFamily="34" charset="-120"/>
              </a:rPr>
              <a:t>GENERAL SKILL ACQUISITION</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3666530"/>
            <a:ext cx="17602200" cy="1066800"/>
          </a:xfrm>
          <a:prstGeom prst="rect">
            <a:avLst/>
          </a:prstGeom>
          <a:noFill/>
          <a:ln/>
        </p:spPr>
        <p:txBody>
          <a:bodyPr wrap="square" lIns="25400" tIns="25400" rIns="25400" bIns="25400" rtlCol="0" anchor="t">
            <a:normAutofit/>
          </a:bodyPr>
          <a:lstStyle/>
          <a:p>
            <a:pPr algn="l" indent="0" marL="0">
              <a:lnSpc>
                <a:spcPct val="71053"/>
              </a:lnSpc>
              <a:buNone/>
            </a:pPr>
            <a:r>
              <a:rPr lang="en-US" sz="8100" b="1" spc="-243" kern="0" dirty="0">
                <a:solidFill>
                  <a:srgbClr val="FFFFFF"/>
                </a:solidFill>
                <a:latin typeface="Arial" pitchFamily="34" charset="0"/>
                <a:ea typeface="Arial" pitchFamily="34" charset="-122"/>
                <a:cs typeface="Arial" pitchFamily="34" charset="-120"/>
              </a:rPr>
              <a:t>General skill acquisition</a:t>
            </a:r>
            <a:endParaRPr lang="en-US" sz="8100" dirty="0"/>
          </a:p>
        </p:txBody>
      </p:sp>
      <p:sp>
        <p:nvSpPr>
          <p:cNvPr id="5" name="Text 2"/>
          <p:cNvSpPr/>
          <p:nvPr/>
        </p:nvSpPr>
        <p:spPr>
          <a:xfrm>
            <a:off x="1143000" y="4885730"/>
            <a:ext cx="14668500" cy="483791"/>
          </a:xfrm>
          <a:prstGeom prst="rect">
            <a:avLst/>
          </a:prstGeom>
          <a:noFill/>
          <a:ln/>
        </p:spPr>
        <p:txBody>
          <a:bodyPr wrap="square" lIns="25400" tIns="25400" rIns="25400" bIns="25400" rtlCol="0" anchor="t">
            <a:normAutofit/>
          </a:bodyPr>
          <a:lstStyle/>
          <a:p>
            <a:pPr algn="l" indent="0" marL="0">
              <a:lnSpc>
                <a:spcPct val="113226"/>
              </a:lnSpc>
              <a:buNone/>
            </a:pPr>
            <a:r>
              <a:rPr lang="en-US" sz="2700" dirty="0">
                <a:solidFill>
                  <a:srgbClr val="FFFFFF">
                    <a:alpha val="85000"/>
                  </a:srgbClr>
                </a:solidFill>
                <a:latin typeface="Arial" pitchFamily="34" charset="0"/>
                <a:ea typeface="Arial" pitchFamily="34" charset="-122"/>
                <a:cs typeface="Arial" pitchFamily="34" charset="-120"/>
              </a:rPr>
              <a:t>Skill that transfers. Valuable in its own right. Proven by assessment.</a:t>
            </a:r>
            <a:endParaRPr lang="en-US" sz="2700" dirty="0"/>
          </a:p>
        </p:txBody>
      </p:sp>
      <p:sp>
        <p:nvSpPr>
          <p:cNvPr id="6" name="Shape 3"/>
          <p:cNvSpPr/>
          <p:nvPr/>
        </p:nvSpPr>
        <p:spPr>
          <a:xfrm>
            <a:off x="1143000" y="5750521"/>
            <a:ext cx="3420467" cy="698500"/>
          </a:xfrm>
          <a:prstGeom prst="rect">
            <a:avLst/>
          </a:prstGeom>
          <a:ln w="6350">
            <a:solidFill>
              <a:srgbClr val="FFFFFF">
                <a:alpha val="30000"/>
              </a:srgbClr>
            </a:solidFill>
            <a:prstDash val="solid"/>
          </a:ln>
        </p:spPr>
      </p:sp>
      <p:sp>
        <p:nvSpPr>
          <p:cNvPr id="7" name="Text 4"/>
          <p:cNvSpPr/>
          <p:nvPr/>
        </p:nvSpPr>
        <p:spPr>
          <a:xfrm>
            <a:off x="1307593" y="5909271"/>
            <a:ext cx="3091281" cy="419100"/>
          </a:xfrm>
          <a:prstGeom prst="rect">
            <a:avLst/>
          </a:prstGeom>
          <a:noFill/>
          <a:ln/>
        </p:spPr>
        <p:txBody>
          <a:bodyPr wrap="square" lIns="25400" tIns="25400" rIns="25400" bIns="25400" rtlCol="0" anchor="t">
            <a:normAutofit/>
          </a:bodyPr>
          <a:lstStyle/>
          <a:p>
            <a:pPr algn="ctr" indent="0" marL="0">
              <a:lnSpc>
                <a:spcPct val="139535"/>
              </a:lnSpc>
              <a:buNone/>
            </a:pPr>
            <a:r>
              <a:rPr lang="en-US" sz="1875" b="1" spc="225" kern="0" dirty="0">
                <a:solidFill>
                  <a:srgbClr val="FFFFFF">
                    <a:alpha val="45000"/>
                  </a:srgbClr>
                </a:solidFill>
                <a:latin typeface="Arial" pitchFamily="34" charset="0"/>
                <a:ea typeface="Arial" pitchFamily="34" charset="-122"/>
                <a:cs typeface="Arial" pitchFamily="34" charset="-120"/>
              </a:rPr>
              <a:t>TRAINING</a:t>
            </a:r>
            <a:endParaRPr lang="en-US" sz="1875" dirty="0"/>
          </a:p>
        </p:txBody>
      </p:sp>
      <p:sp>
        <p:nvSpPr>
          <p:cNvPr id="8" name="Shape 5"/>
          <p:cNvSpPr/>
          <p:nvPr/>
        </p:nvSpPr>
        <p:spPr>
          <a:xfrm>
            <a:off x="4677767" y="5750521"/>
            <a:ext cx="3407866" cy="698500"/>
          </a:xfrm>
          <a:prstGeom prst="rect">
            <a:avLst/>
          </a:prstGeom>
          <a:solidFill>
            <a:srgbClr val="FFFFFF"/>
          </a:solidFill>
          <a:ln/>
        </p:spPr>
      </p:sp>
      <p:sp>
        <p:nvSpPr>
          <p:cNvPr id="9" name="Text 6"/>
          <p:cNvSpPr/>
          <p:nvPr/>
        </p:nvSpPr>
        <p:spPr>
          <a:xfrm>
            <a:off x="4836199" y="5902921"/>
            <a:ext cx="3091002" cy="431800"/>
          </a:xfrm>
          <a:prstGeom prst="rect">
            <a:avLst/>
          </a:prstGeom>
          <a:noFill/>
          <a:ln/>
        </p:spPr>
        <p:txBody>
          <a:bodyPr wrap="square" lIns="25400" tIns="25400" rIns="25400" bIns="25400" rtlCol="0" anchor="t">
            <a:normAutofit/>
          </a:bodyPr>
          <a:lstStyle/>
          <a:p>
            <a:pPr algn="ctr" indent="0" marL="0">
              <a:lnSpc>
                <a:spcPct val="139535"/>
              </a:lnSpc>
              <a:buNone/>
            </a:pPr>
            <a:r>
              <a:rPr lang="en-US" sz="1875" b="1" spc="225" kern="0" dirty="0">
                <a:solidFill>
                  <a:srgbClr val="250038"/>
                </a:solidFill>
                <a:latin typeface="Arial" pitchFamily="34" charset="0"/>
                <a:ea typeface="Arial" pitchFamily="34" charset="-122"/>
                <a:cs typeface="Arial" pitchFamily="34" charset="-120"/>
              </a:rPr>
              <a:t>SKILL</a:t>
            </a:r>
            <a:endParaRPr lang="en-US" sz="1875" dirty="0"/>
          </a:p>
        </p:txBody>
      </p:sp>
      <p:sp>
        <p:nvSpPr>
          <p:cNvPr id="10" name="Shape 7"/>
          <p:cNvSpPr/>
          <p:nvPr/>
        </p:nvSpPr>
        <p:spPr>
          <a:xfrm>
            <a:off x="8199934" y="5750521"/>
            <a:ext cx="3420567" cy="698500"/>
          </a:xfrm>
          <a:prstGeom prst="rect">
            <a:avLst/>
          </a:prstGeom>
          <a:ln w="6350">
            <a:solidFill>
              <a:srgbClr val="FFFFFF">
                <a:alpha val="30000"/>
              </a:srgbClr>
            </a:solidFill>
            <a:prstDash val="solid"/>
          </a:ln>
        </p:spPr>
      </p:sp>
      <p:sp>
        <p:nvSpPr>
          <p:cNvPr id="11" name="Text 8"/>
          <p:cNvSpPr/>
          <p:nvPr/>
        </p:nvSpPr>
        <p:spPr>
          <a:xfrm>
            <a:off x="8364525" y="5909271"/>
            <a:ext cx="3091383" cy="419100"/>
          </a:xfrm>
          <a:prstGeom prst="rect">
            <a:avLst/>
          </a:prstGeom>
          <a:noFill/>
          <a:ln/>
        </p:spPr>
        <p:txBody>
          <a:bodyPr wrap="square" lIns="25400" tIns="25400" rIns="25400" bIns="25400" rtlCol="0" anchor="t">
            <a:normAutofit/>
          </a:bodyPr>
          <a:lstStyle/>
          <a:p>
            <a:pPr algn="ctr" indent="0" marL="0">
              <a:lnSpc>
                <a:spcPct val="139535"/>
              </a:lnSpc>
              <a:buNone/>
            </a:pPr>
            <a:r>
              <a:rPr lang="en-US" sz="1875" b="1" spc="225" kern="0" dirty="0">
                <a:solidFill>
                  <a:srgbClr val="FFFFFF">
                    <a:alpha val="45000"/>
                  </a:srgbClr>
                </a:solidFill>
                <a:latin typeface="Arial" pitchFamily="34" charset="0"/>
                <a:ea typeface="Arial" pitchFamily="34" charset="-122"/>
                <a:cs typeface="Arial" pitchFamily="34" charset="-120"/>
              </a:rPr>
              <a:t>OUTCOME</a:t>
            </a:r>
            <a:endParaRPr lang="en-US" sz="1875" dirty="0"/>
          </a:p>
        </p:txBody>
      </p:sp>
      <p:sp>
        <p:nvSpPr>
          <p:cNvPr id="12" name="Text 9"/>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60000"/>
                  </a:srgbClr>
                </a:solidFill>
                <a:latin typeface="Arial" pitchFamily="34" charset="0"/>
                <a:ea typeface="Arial" pitchFamily="34" charset="-122"/>
                <a:cs typeface="Arial" pitchFamily="34" charset="-120"/>
              </a:rPr>
              <a:t>DAFITC 2026</a:t>
            </a:r>
            <a:endParaRPr lang="en-US" sz="1800" dirty="0"/>
          </a:p>
        </p:txBody>
      </p:sp>
      <p:sp>
        <p:nvSpPr>
          <p:cNvPr id="13" name="Text 10"/>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35000"/>
                  </a:srgbClr>
                </a:solidFill>
                <a:latin typeface="Arial" pitchFamily="34" charset="0"/>
                <a:ea typeface="Arial" pitchFamily="34" charset="-122"/>
                <a:cs typeface="Arial" pitchFamily="34" charset="-120"/>
              </a:rPr>
              <a:t>/</a:t>
            </a:r>
            <a:endParaRPr lang="en-US" sz="1800" dirty="0"/>
          </a:p>
        </p:txBody>
      </p:sp>
      <p:sp>
        <p:nvSpPr>
          <p:cNvPr id="14" name="Text 11"/>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60000"/>
                  </a:srgbClr>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3566061"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SKILL THAT TRANSFERS</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739265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General skill is worth having on its own</a:t>
            </a:r>
            <a:endParaRPr lang="en-US" sz="42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3000" y="3436838"/>
            <a:ext cx="209550" cy="219075"/>
          </a:xfrm>
          <a:prstGeom prst="rect">
            <a:avLst/>
          </a:prstGeom>
        </p:spPr>
      </p:pic>
      <p:sp>
        <p:nvSpPr>
          <p:cNvPr id="6" name="Text 2"/>
          <p:cNvSpPr/>
          <p:nvPr/>
        </p:nvSpPr>
        <p:spPr>
          <a:xfrm>
            <a:off x="1581150" y="3341588"/>
            <a:ext cx="12554228" cy="446088"/>
          </a:xfrm>
          <a:prstGeom prst="rect">
            <a:avLst/>
          </a:prstGeom>
          <a:noFill/>
          <a:ln/>
        </p:spPr>
        <p:txBody>
          <a:bodyPr wrap="square" lIns="25400" tIns="25400" rIns="25400" bIns="25400" rtlCol="0" anchor="t">
            <a:normAutofit/>
          </a:bodyPr>
          <a:lstStyle/>
          <a:p>
            <a:pPr algn="l" indent="0" marL="0">
              <a:lnSpc>
                <a:spcPct val="108915"/>
              </a:lnSpc>
              <a:buNone/>
            </a:pPr>
            <a:r>
              <a:rPr lang="en-US" sz="2550" b="1" dirty="0">
                <a:solidFill>
                  <a:srgbClr val="000000"/>
                </a:solidFill>
                <a:latin typeface="Arial" pitchFamily="34" charset="0"/>
                <a:ea typeface="Arial" pitchFamily="34" charset="-122"/>
                <a:cs typeface="Arial" pitchFamily="34" charset="-120"/>
              </a:rPr>
              <a:t>Learning to fillet a fish generically is useful before you ever see the specific fish.</a:t>
            </a:r>
            <a:endParaRPr lang="en-US" sz="25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3000" y="4073426"/>
            <a:ext cx="209550" cy="219075"/>
          </a:xfrm>
          <a:prstGeom prst="rect">
            <a:avLst/>
          </a:prstGeom>
        </p:spPr>
      </p:pic>
      <p:sp>
        <p:nvSpPr>
          <p:cNvPr id="8" name="Text 3"/>
          <p:cNvSpPr/>
          <p:nvPr/>
        </p:nvSpPr>
        <p:spPr>
          <a:xfrm>
            <a:off x="1581150" y="3959126"/>
            <a:ext cx="16030766" cy="854075"/>
          </a:xfrm>
          <a:prstGeom prst="rect">
            <a:avLst/>
          </a:prstGeom>
          <a:noFill/>
          <a:ln/>
        </p:spPr>
        <p:txBody>
          <a:bodyPr wrap="square" lIns="25400" tIns="25400" rIns="25400" bIns="25400" rtlCol="0" anchor="t">
            <a:normAutofit/>
          </a:bodyPr>
          <a:lstStyle/>
          <a:p>
            <a:pPr algn="l" indent="0" marL="0">
              <a:lnSpc>
                <a:spcPct val="108915"/>
              </a:lnSpc>
              <a:buNone/>
            </a:pPr>
            <a:r>
              <a:rPr lang="en-US" sz="2550" b="1" dirty="0">
                <a:solidFill>
                  <a:srgbClr val="000000"/>
                </a:solidFill>
                <a:latin typeface="Arial" pitchFamily="34" charset="0"/>
                <a:ea typeface="Arial" pitchFamily="34" charset="-122"/>
                <a:cs typeface="Arial" pitchFamily="34" charset="-120"/>
              </a:rPr>
              <a:t>Learning to fly a plane extrapolates to other planes. You still certify on each airframe, and the base still carries.</a:t>
            </a:r>
            <a:endParaRPr lang="en-US" sz="2550" dirty="0"/>
          </a:p>
        </p:txBody>
      </p:sp>
      <p:sp>
        <p:nvSpPr>
          <p:cNvPr id="9" name="Shape 4"/>
          <p:cNvSpPr/>
          <p:nvPr/>
        </p:nvSpPr>
        <p:spPr>
          <a:xfrm>
            <a:off x="1143000" y="4984651"/>
            <a:ext cx="16002000" cy="1603375"/>
          </a:xfrm>
          <a:prstGeom prst="rect">
            <a:avLst/>
          </a:prstGeom>
          <a:solidFill>
            <a:srgbClr val="F4F4F2"/>
          </a:solidFill>
          <a:ln/>
        </p:spPr>
      </p:sp>
      <p:sp>
        <p:nvSpPr>
          <p:cNvPr id="10" name="Text 5"/>
          <p:cNvSpPr/>
          <p:nvPr/>
        </p:nvSpPr>
        <p:spPr>
          <a:xfrm>
            <a:off x="1447800" y="5213251"/>
            <a:ext cx="1693164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KEEP SKILLS DETERMINISTIC</a:t>
            </a:r>
            <a:endParaRPr lang="en-US" sz="1800" dirty="0"/>
          </a:p>
        </p:txBody>
      </p:sp>
      <p:sp>
        <p:nvSpPr>
          <p:cNvPr id="11" name="Text 6"/>
          <p:cNvSpPr/>
          <p:nvPr/>
        </p:nvSpPr>
        <p:spPr>
          <a:xfrm>
            <a:off x="1447800" y="5674221"/>
            <a:ext cx="15854172" cy="723305"/>
          </a:xfrm>
          <a:prstGeom prst="rect">
            <a:avLst/>
          </a:prstGeom>
          <a:noFill/>
          <a:ln/>
        </p:spPr>
        <p:txBody>
          <a:bodyPr wrap="square" lIns="25400" tIns="25400" rIns="25400" bIns="25400" rtlCol="0" anchor="t">
            <a:normAutofit/>
          </a:bodyPr>
          <a:lstStyle/>
          <a:p>
            <a:pPr algn="l" indent="0" marL="0">
              <a:lnSpc>
                <a:spcPct val="113745"/>
              </a:lnSpc>
              <a:buNone/>
            </a:pPr>
            <a:r>
              <a:rPr lang="en-US" sz="2025" dirty="0">
                <a:solidFill>
                  <a:srgbClr val="1A1A1A"/>
                </a:solidFill>
                <a:latin typeface="Arial" pitchFamily="34" charset="0"/>
                <a:ea typeface="Arial" pitchFamily="34" charset="-122"/>
                <a:cs typeface="Arial" pitchFamily="34" charset="-120"/>
              </a:rPr>
              <a:t>Do not have the AI rename a file. Have it call something that renames the file. Do not have the AI copy records between systems. Have it write a script you can run again. </a:t>
            </a:r>
            <a:pPr algn="l" indent="0" marL="0">
              <a:lnSpc>
                <a:spcPct val="113745"/>
              </a:lnSpc>
              <a:buNone/>
            </a:pPr>
            <a:r>
              <a:rPr lang="en-US" sz="2025" b="1" dirty="0">
                <a:solidFill>
                  <a:srgbClr val="1A1A1A"/>
                </a:solidFill>
                <a:latin typeface="Arial" pitchFamily="34" charset="0"/>
                <a:ea typeface="Arial" pitchFamily="34" charset="-122"/>
                <a:cs typeface="Arial" pitchFamily="34" charset="-120"/>
              </a:rPr>
              <a:t>This is true of people and of agents.</a:t>
            </a:r>
            <a:endParaRPr lang="en-US" sz="2025" dirty="0"/>
          </a:p>
        </p:txBody>
      </p:sp>
      <p:sp>
        <p:nvSpPr>
          <p:cNvPr id="12" name="Shape 7"/>
          <p:cNvSpPr/>
          <p:nvPr/>
        </p:nvSpPr>
        <p:spPr>
          <a:xfrm>
            <a:off x="1143000" y="6797576"/>
            <a:ext cx="16002000" cy="1200150"/>
          </a:xfrm>
          <a:prstGeom prst="rect">
            <a:avLst/>
          </a:prstGeom>
          <a:solidFill>
            <a:srgbClr val="250038"/>
          </a:solidFill>
          <a:ln/>
        </p:spPr>
      </p:sp>
      <p:pic>
        <p:nvPicPr>
          <p:cNvPr id="1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24000" y="7102376"/>
            <a:ext cx="228600" cy="238125"/>
          </a:xfrm>
          <a:prstGeom prst="rect">
            <a:avLst/>
          </a:prstGeom>
        </p:spPr>
      </p:pic>
      <p:sp>
        <p:nvSpPr>
          <p:cNvPr id="14" name="Text 8"/>
          <p:cNvSpPr/>
          <p:nvPr/>
        </p:nvSpPr>
        <p:spPr>
          <a:xfrm>
            <a:off x="1962150" y="7026176"/>
            <a:ext cx="15245905" cy="781050"/>
          </a:xfrm>
          <a:prstGeom prst="rect">
            <a:avLst/>
          </a:prstGeom>
          <a:noFill/>
          <a:ln/>
        </p:spPr>
        <p:txBody>
          <a:bodyPr wrap="square" lIns="25400" tIns="25400" rIns="25400" bIns="25400" rtlCol="0" anchor="t">
            <a:normAutofit/>
          </a:bodyPr>
          <a:lstStyle/>
          <a:p>
            <a:pPr algn="l" indent="0" marL="0">
              <a:lnSpc>
                <a:spcPct val="112500"/>
              </a:lnSpc>
              <a:buNone/>
            </a:pPr>
            <a:r>
              <a:rPr lang="en-US" sz="2250" b="1" dirty="0">
                <a:solidFill>
                  <a:srgbClr val="FFFFFF"/>
                </a:solidFill>
                <a:latin typeface="Arial" pitchFamily="34" charset="0"/>
                <a:ea typeface="Arial" pitchFamily="34" charset="-122"/>
                <a:cs typeface="Arial" pitchFamily="34" charset="-120"/>
              </a:rPr>
              <a:t>We build the general so we can reach the specific. They are not the same thing, and outcome building gives you something general skill cannot.</a:t>
            </a:r>
            <a:endParaRPr lang="en-US" sz="2250" dirty="0"/>
          </a:p>
        </p:txBody>
      </p:sp>
      <p:sp>
        <p:nvSpPr>
          <p:cNvPr id="15" name="Text 9"/>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16" name="Text 10"/>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17" name="Text 11"/>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00E"/>
        </a:solidFill>
      </p:bgPr>
    </p:bg>
    <p:spTree>
      <p:nvGrpSpPr>
        <p:cNvPr id="1" name=""/>
        <p:cNvGrpSpPr/>
        <p:nvPr/>
      </p:nvGrpSpPr>
      <p:grpSpPr>
        <a:xfrm>
          <a:off x="0" y="0"/>
          <a:ext cx="0" cy="0"/>
          <a:chOff x="0" y="0"/>
          <a:chExt cx="0" cy="0"/>
        </a:xfrm>
      </p:grpSpPr>
      <p:sp>
        <p:nvSpPr>
          <p:cNvPr id="2" name="Text 0"/>
          <p:cNvSpPr/>
          <p:nvPr/>
        </p:nvSpPr>
        <p:spPr>
          <a:xfrm>
            <a:off x="952500" y="609600"/>
            <a:ext cx="3572391"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DCAFFF"/>
                </a:solidFill>
                <a:latin typeface="Arial" pitchFamily="34" charset="0"/>
                <a:ea typeface="Arial" pitchFamily="34" charset="-122"/>
                <a:cs typeface="Arial" pitchFamily="34" charset="-120"/>
              </a:rPr>
              <a:t>TRAINING MOMENT ONE</a:t>
            </a:r>
            <a:endParaRPr lang="en-US" sz="1800" dirty="0"/>
          </a:p>
        </p:txBody>
      </p:sp>
      <p:sp>
        <p:nvSpPr>
          <p:cNvPr id="3" name="Text 1"/>
          <p:cNvSpPr/>
          <p:nvPr/>
        </p:nvSpPr>
        <p:spPr>
          <a:xfrm>
            <a:off x="952500" y="1108670"/>
            <a:ext cx="15422335" cy="520005"/>
          </a:xfrm>
          <a:prstGeom prst="rect">
            <a:avLst/>
          </a:prstGeom>
          <a:noFill/>
          <a:ln/>
        </p:spPr>
        <p:txBody>
          <a:bodyPr wrap="square" lIns="25400" tIns="25400" rIns="25400" bIns="25400" rtlCol="0" anchor="t">
            <a:normAutofit/>
          </a:bodyPr>
          <a:lstStyle/>
          <a:p>
            <a:pPr algn="l" indent="0" marL="0">
              <a:lnSpc>
                <a:spcPct val="96076"/>
              </a:lnSpc>
              <a:buNone/>
            </a:pPr>
            <a:r>
              <a:rPr lang="en-US" sz="3450" b="1" spc="-69" kern="0" dirty="0">
                <a:solidFill>
                  <a:srgbClr val="FFFFFF"/>
                </a:solidFill>
                <a:latin typeface="Arial" pitchFamily="34" charset="0"/>
                <a:ea typeface="Arial" pitchFamily="34" charset="-122"/>
                <a:cs typeface="Arial" pitchFamily="34" charset="-120"/>
              </a:rPr>
              <a:t>What has this person built, and what do they build next?</a:t>
            </a:r>
            <a:endParaRPr lang="en-US" sz="3450" dirty="0"/>
          </a:p>
        </p:txBody>
      </p:sp>
      <p:sp>
        <p:nvSpPr>
          <p:cNvPr id="4" name="Text 2"/>
          <p:cNvSpPr/>
          <p:nvPr/>
        </p:nvSpPr>
        <p:spPr>
          <a:xfrm>
            <a:off x="952500" y="1723926"/>
            <a:ext cx="15422335"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FFFFFF">
                    <a:alpha val="70000"/>
                  </a:srgbClr>
                </a:solidFill>
                <a:latin typeface="Arial" pitchFamily="34" charset="0"/>
                <a:ea typeface="Arial" pitchFamily="34" charset="-122"/>
                <a:cs typeface="Arial" pitchFamily="34" charset="-120"/>
              </a:rPr>
              <a:t>A training moment: guidance the operator can trust, arriving during the task, grounded in cleared doctrine. Reliable enough to repeat.</a:t>
            </a:r>
            <a:endParaRPr lang="en-US" sz="1800" dirty="0"/>
          </a:p>
        </p:txBody>
      </p:sp>
      <p:pic>
        <p:nvPicPr>
          <p:cNvPr id="5" name="Image 0" descr="preencoded.png">    </p:cNvPr>
          <p:cNvPicPr>
            <a:picLocks noChangeAspect="1"/>
          </p:cNvPicPr>
          <p:nvPr/>
        </p:nvPicPr>
        <p:blipFill>
          <a:blip r:embed="rId1"/>
          <a:stretch>
            <a:fillRect/>
          </a:stretch>
        </p:blipFill>
        <p:spPr>
          <a:xfrm>
            <a:off x="16323370" y="1689596"/>
            <a:ext cx="1012131" cy="266700"/>
          </a:xfrm>
          <a:prstGeom prst="rect">
            <a:avLst/>
          </a:prstGeom>
        </p:spPr>
      </p:pic>
      <p:sp>
        <p:nvSpPr>
          <p:cNvPr id="6" name="Shape 3"/>
          <p:cNvSpPr/>
          <p:nvPr/>
        </p:nvSpPr>
        <p:spPr>
          <a:xfrm>
            <a:off x="952500" y="2261096"/>
            <a:ext cx="16383000" cy="4069358"/>
          </a:xfrm>
          <a:prstGeom prst="rect">
            <a:avLst/>
          </a:prstGeom>
          <a:ln w="6350">
            <a:solidFill>
              <a:srgbClr val="A100FF">
                <a:alpha val="40000"/>
              </a:srgbClr>
            </a:solidFill>
            <a:prstDash val="solid"/>
          </a:ln>
        </p:spPr>
      </p:sp>
      <p:pic>
        <p:nvPicPr>
          <p:cNvPr id="7" name="Image 1" descr="preencoded.png">    </p:cNvPr>
          <p:cNvPicPr>
            <a:picLocks noChangeAspect="1"/>
          </p:cNvPicPr>
          <p:nvPr/>
        </p:nvPicPr>
        <p:blipFill>
          <a:blip r:embed="rId2"/>
          <a:srcRect l="0" r="0" t="0" b="56647"/>
          <a:stretch/>
        </p:blipFill>
        <p:spPr>
          <a:xfrm>
            <a:off x="958850" y="2267446"/>
            <a:ext cx="16370301" cy="4056658"/>
          </a:xfrm>
          <a:prstGeom prst="rect">
            <a:avLst/>
          </a:prstGeom>
        </p:spPr>
      </p:pic>
      <p:pic>
        <p:nvPicPr>
          <p:cNvPr id="8"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29700" y="4171950"/>
            <a:ext cx="228600" cy="247650"/>
          </a:xfrm>
          <a:prstGeom prst="rect">
            <a:avLst/>
          </a:prstGeom>
        </p:spPr>
      </p:pic>
      <p:sp>
        <p:nvSpPr>
          <p:cNvPr id="9" name="Text 4"/>
          <p:cNvSpPr/>
          <p:nvPr/>
        </p:nvSpPr>
        <p:spPr>
          <a:xfrm>
            <a:off x="952500" y="6444754"/>
            <a:ext cx="9805194"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FFFFFF">
                    <a:alpha val="85000"/>
                  </a:srgbClr>
                </a:solidFill>
                <a:latin typeface="Arial" pitchFamily="34" charset="0"/>
                <a:ea typeface="Arial" pitchFamily="34" charset="-122"/>
                <a:cs typeface="Arial" pitchFamily="34" charset="-120"/>
              </a:rPr>
              <a:t>Personalized learning and doctrine-grounded, LLM-backed coaching, in the product.</a:t>
            </a:r>
            <a:endParaRPr lang="en-US" sz="1800" dirty="0"/>
          </a:p>
        </p:txBody>
      </p:sp>
      <p:sp>
        <p:nvSpPr>
          <p:cNvPr id="10" name="Shape 5"/>
          <p:cNvSpPr/>
          <p:nvPr/>
        </p:nvSpPr>
        <p:spPr>
          <a:xfrm>
            <a:off x="952500" y="6943824"/>
            <a:ext cx="16383000" cy="2809776"/>
          </a:xfrm>
          <a:prstGeom prst="rect">
            <a:avLst/>
          </a:prstGeom>
          <a:solidFill>
            <a:srgbClr val="FFFFFF">
              <a:alpha val="8000"/>
            </a:srgbClr>
          </a:solidFill>
          <a:ln/>
        </p:spPr>
      </p:sp>
      <p:sp>
        <p:nvSpPr>
          <p:cNvPr id="11" name="Text 6"/>
          <p:cNvSpPr/>
          <p:nvPr/>
        </p:nvSpPr>
        <p:spPr>
          <a:xfrm>
            <a:off x="1257300" y="7172424"/>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DCAFFF"/>
                </a:solidFill>
                <a:latin typeface="Courier New" pitchFamily="34" charset="0"/>
                <a:ea typeface="Courier New" pitchFamily="34" charset="-122"/>
                <a:cs typeface="Courier New" pitchFamily="34" charset="-120"/>
              </a:rPr>
              <a:t>01</a:t>
            </a:r>
            <a:endParaRPr lang="en-US" sz="1800" dirty="0"/>
          </a:p>
        </p:txBody>
      </p:sp>
      <p:sp>
        <p:nvSpPr>
          <p:cNvPr id="12" name="Text 7"/>
          <p:cNvSpPr/>
          <p:nvPr/>
        </p:nvSpPr>
        <p:spPr>
          <a:xfrm>
            <a:off x="1665089" y="7185124"/>
            <a:ext cx="3347305" cy="706636"/>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FFFFFF">
                    <a:alpha val="90000"/>
                  </a:srgbClr>
                </a:solidFill>
                <a:latin typeface="Arial" pitchFamily="34" charset="0"/>
                <a:ea typeface="Arial" pitchFamily="34" charset="-122"/>
                <a:cs typeface="Arial" pitchFamily="34" charset="-120"/>
              </a:rPr>
              <a:t>What have they taken? What do they know?</a:t>
            </a:r>
            <a:endParaRPr lang="en-US" sz="1950" dirty="0"/>
          </a:p>
        </p:txBody>
      </p:sp>
      <p:sp>
        <p:nvSpPr>
          <p:cNvPr id="13" name="Text 8"/>
          <p:cNvSpPr/>
          <p:nvPr/>
        </p:nvSpPr>
        <p:spPr>
          <a:xfrm>
            <a:off x="5295900" y="7172424"/>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DCAFFF"/>
                </a:solidFill>
                <a:latin typeface="Courier New" pitchFamily="34" charset="0"/>
                <a:ea typeface="Courier New" pitchFamily="34" charset="-122"/>
                <a:cs typeface="Courier New" pitchFamily="34" charset="-120"/>
              </a:rPr>
              <a:t>02</a:t>
            </a:r>
            <a:endParaRPr lang="en-US" sz="1800" dirty="0"/>
          </a:p>
        </p:txBody>
      </p:sp>
      <p:sp>
        <p:nvSpPr>
          <p:cNvPr id="14" name="Text 9"/>
          <p:cNvSpPr/>
          <p:nvPr/>
        </p:nvSpPr>
        <p:spPr>
          <a:xfrm>
            <a:off x="5703689" y="7185124"/>
            <a:ext cx="3347305" cy="1040904"/>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FFFFFF">
                    <a:alpha val="90000"/>
                  </a:srgbClr>
                </a:solidFill>
                <a:latin typeface="Arial" pitchFamily="34" charset="0"/>
                <a:ea typeface="Arial" pitchFamily="34" charset="-122"/>
                <a:cs typeface="Arial" pitchFamily="34" charset="-120"/>
              </a:rPr>
              <a:t>What skills have they built, and what are they building next?</a:t>
            </a:r>
            <a:endParaRPr lang="en-US" sz="1950" dirty="0"/>
          </a:p>
        </p:txBody>
      </p:sp>
      <p:sp>
        <p:nvSpPr>
          <p:cNvPr id="15" name="Text 10"/>
          <p:cNvSpPr/>
          <p:nvPr/>
        </p:nvSpPr>
        <p:spPr>
          <a:xfrm>
            <a:off x="9334500" y="7172424"/>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DCAFFF"/>
                </a:solidFill>
                <a:latin typeface="Courier New" pitchFamily="34" charset="0"/>
                <a:ea typeface="Courier New" pitchFamily="34" charset="-122"/>
                <a:cs typeface="Courier New" pitchFamily="34" charset="-120"/>
              </a:rPr>
              <a:t>03</a:t>
            </a:r>
            <a:endParaRPr lang="en-US" sz="1800" dirty="0"/>
          </a:p>
        </p:txBody>
      </p:sp>
      <p:sp>
        <p:nvSpPr>
          <p:cNvPr id="16" name="Text 11"/>
          <p:cNvSpPr/>
          <p:nvPr/>
        </p:nvSpPr>
        <p:spPr>
          <a:xfrm>
            <a:off x="9742289" y="7185124"/>
            <a:ext cx="3347305" cy="1040904"/>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FFFFFF">
                    <a:alpha val="90000"/>
                  </a:srgbClr>
                </a:solidFill>
                <a:latin typeface="Arial" pitchFamily="34" charset="0"/>
                <a:ea typeface="Arial" pitchFamily="34" charset="-122"/>
                <a:cs typeface="Arial" pitchFamily="34" charset="-120"/>
              </a:rPr>
              <a:t>This has to be hands-on. There is no version of this that is not hands-on.</a:t>
            </a:r>
            <a:endParaRPr lang="en-US" sz="1950" dirty="0"/>
          </a:p>
        </p:txBody>
      </p:sp>
      <p:sp>
        <p:nvSpPr>
          <p:cNvPr id="17" name="Text 12"/>
          <p:cNvSpPr/>
          <p:nvPr/>
        </p:nvSpPr>
        <p:spPr>
          <a:xfrm>
            <a:off x="13373100" y="7172424"/>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DCAFFF"/>
                </a:solidFill>
                <a:latin typeface="Courier New" pitchFamily="34" charset="0"/>
                <a:ea typeface="Courier New" pitchFamily="34" charset="-122"/>
                <a:cs typeface="Courier New" pitchFamily="34" charset="-120"/>
              </a:rPr>
              <a:t>04</a:t>
            </a:r>
            <a:endParaRPr lang="en-US" sz="1800" dirty="0"/>
          </a:p>
        </p:txBody>
      </p:sp>
      <p:sp>
        <p:nvSpPr>
          <p:cNvPr id="18" name="Text 13"/>
          <p:cNvSpPr/>
          <p:nvPr/>
        </p:nvSpPr>
        <p:spPr>
          <a:xfrm>
            <a:off x="13780889" y="7185124"/>
            <a:ext cx="3347305" cy="2377976"/>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FFFFFF">
                    <a:alpha val="90000"/>
                  </a:srgbClr>
                </a:solidFill>
                <a:latin typeface="Arial" pitchFamily="34" charset="0"/>
                <a:ea typeface="Arial" pitchFamily="34" charset="-122"/>
                <a:cs typeface="Arial" pitchFamily="34" charset="-120"/>
              </a:rPr>
              <a:t>Whoever handles your training owes you a dashboard: what this person is trained in, what they are good at, what they know, what they do not know.</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50038"/>
        </a:solidFill>
      </p:bgPr>
    </p:bg>
    <p:spTree>
      <p:nvGrpSpPr>
        <p:cNvPr id="1" name=""/>
        <p:cNvGrpSpPr/>
        <p:nvPr/>
      </p:nvGrpSpPr>
      <p:grpSpPr>
        <a:xfrm>
          <a:off x="0" y="0"/>
          <a:ext cx="0" cy="0"/>
          <a:chOff x="0" y="0"/>
          <a:chExt cx="0" cy="0"/>
        </a:xfrm>
      </p:grpSpPr>
      <p:sp>
        <p:nvSpPr>
          <p:cNvPr id="2" name="Text 0"/>
          <p:cNvSpPr/>
          <p:nvPr/>
        </p:nvSpPr>
        <p:spPr>
          <a:xfrm>
            <a:off x="1143000" y="800100"/>
            <a:ext cx="4708218"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DCAFFF"/>
                </a:solidFill>
                <a:latin typeface="Arial" pitchFamily="34" charset="0"/>
                <a:ea typeface="Arial" pitchFamily="34" charset="-122"/>
                <a:cs typeface="Arial" pitchFamily="34" charset="-120"/>
              </a:rPr>
              <a:t>CONTEXT-SPECIFIC OUTCOMES</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3443685"/>
            <a:ext cx="17602200" cy="1066800"/>
          </a:xfrm>
          <a:prstGeom prst="rect">
            <a:avLst/>
          </a:prstGeom>
          <a:noFill/>
          <a:ln/>
        </p:spPr>
        <p:txBody>
          <a:bodyPr wrap="square" lIns="25400" tIns="25400" rIns="25400" bIns="25400" rtlCol="0" anchor="t">
            <a:normAutofit/>
          </a:bodyPr>
          <a:lstStyle/>
          <a:p>
            <a:pPr algn="l" indent="0" marL="0">
              <a:lnSpc>
                <a:spcPct val="71053"/>
              </a:lnSpc>
              <a:buNone/>
            </a:pPr>
            <a:r>
              <a:rPr lang="en-US" sz="8100" b="1" spc="-243" kern="0" dirty="0">
                <a:solidFill>
                  <a:srgbClr val="FFFFFF"/>
                </a:solidFill>
                <a:latin typeface="Arial" pitchFamily="34" charset="0"/>
                <a:ea typeface="Arial" pitchFamily="34" charset="-122"/>
                <a:cs typeface="Arial" pitchFamily="34" charset="-120"/>
              </a:rPr>
              <a:t>Context-specific outcomes</a:t>
            </a:r>
            <a:endParaRPr lang="en-US" sz="8100" dirty="0"/>
          </a:p>
        </p:txBody>
      </p:sp>
      <p:sp>
        <p:nvSpPr>
          <p:cNvPr id="5" name="Text 2"/>
          <p:cNvSpPr/>
          <p:nvPr/>
        </p:nvSpPr>
        <p:spPr>
          <a:xfrm>
            <a:off x="1143000" y="4662885"/>
            <a:ext cx="13735050" cy="929481"/>
          </a:xfrm>
          <a:prstGeom prst="rect">
            <a:avLst/>
          </a:prstGeom>
          <a:noFill/>
          <a:ln/>
        </p:spPr>
        <p:txBody>
          <a:bodyPr wrap="square" lIns="25400" tIns="25400" rIns="25400" bIns="25400" rtlCol="0" anchor="t">
            <a:normAutofit/>
          </a:bodyPr>
          <a:lstStyle/>
          <a:p>
            <a:pPr algn="l" indent="0" marL="0">
              <a:lnSpc>
                <a:spcPct val="113226"/>
              </a:lnSpc>
              <a:buNone/>
            </a:pPr>
            <a:r>
              <a:rPr lang="en-US" sz="2700" dirty="0">
                <a:solidFill>
                  <a:srgbClr val="FFFFFF">
                    <a:alpha val="85000"/>
                  </a:srgbClr>
                </a:solidFill>
                <a:latin typeface="Arial" pitchFamily="34" charset="0"/>
                <a:ea typeface="Arial" pitchFamily="34" charset="-122"/>
                <a:cs typeface="Arial" pitchFamily="34" charset="-120"/>
              </a:rPr>
              <a:t>Demonstrated competency in a specific situation. Proven by a capstone in your own environment.</a:t>
            </a:r>
            <a:endParaRPr lang="en-US" sz="2700" dirty="0"/>
          </a:p>
        </p:txBody>
      </p:sp>
      <p:sp>
        <p:nvSpPr>
          <p:cNvPr id="6" name="Shape 3"/>
          <p:cNvSpPr/>
          <p:nvPr/>
        </p:nvSpPr>
        <p:spPr>
          <a:xfrm>
            <a:off x="1143000" y="5973366"/>
            <a:ext cx="3420467" cy="698500"/>
          </a:xfrm>
          <a:prstGeom prst="rect">
            <a:avLst/>
          </a:prstGeom>
          <a:ln w="6350">
            <a:solidFill>
              <a:srgbClr val="FFFFFF">
                <a:alpha val="30000"/>
              </a:srgbClr>
            </a:solidFill>
            <a:prstDash val="solid"/>
          </a:ln>
        </p:spPr>
      </p:sp>
      <p:sp>
        <p:nvSpPr>
          <p:cNvPr id="7" name="Text 4"/>
          <p:cNvSpPr/>
          <p:nvPr/>
        </p:nvSpPr>
        <p:spPr>
          <a:xfrm>
            <a:off x="1307593" y="6132116"/>
            <a:ext cx="3091281" cy="419100"/>
          </a:xfrm>
          <a:prstGeom prst="rect">
            <a:avLst/>
          </a:prstGeom>
          <a:noFill/>
          <a:ln/>
        </p:spPr>
        <p:txBody>
          <a:bodyPr wrap="square" lIns="25400" tIns="25400" rIns="25400" bIns="25400" rtlCol="0" anchor="t">
            <a:normAutofit/>
          </a:bodyPr>
          <a:lstStyle/>
          <a:p>
            <a:pPr algn="ctr" indent="0" marL="0">
              <a:lnSpc>
                <a:spcPct val="139535"/>
              </a:lnSpc>
              <a:buNone/>
            </a:pPr>
            <a:r>
              <a:rPr lang="en-US" sz="1875" b="1" spc="225" kern="0" dirty="0">
                <a:solidFill>
                  <a:srgbClr val="FFFFFF">
                    <a:alpha val="45000"/>
                  </a:srgbClr>
                </a:solidFill>
                <a:latin typeface="Arial" pitchFamily="34" charset="0"/>
                <a:ea typeface="Arial" pitchFamily="34" charset="-122"/>
                <a:cs typeface="Arial" pitchFamily="34" charset="-120"/>
              </a:rPr>
              <a:t>TRAINING</a:t>
            </a:r>
            <a:endParaRPr lang="en-US" sz="1875" dirty="0"/>
          </a:p>
        </p:txBody>
      </p:sp>
      <p:sp>
        <p:nvSpPr>
          <p:cNvPr id="8" name="Shape 5"/>
          <p:cNvSpPr/>
          <p:nvPr/>
        </p:nvSpPr>
        <p:spPr>
          <a:xfrm>
            <a:off x="4677767" y="5973366"/>
            <a:ext cx="3420567" cy="698500"/>
          </a:xfrm>
          <a:prstGeom prst="rect">
            <a:avLst/>
          </a:prstGeom>
          <a:ln w="6350">
            <a:solidFill>
              <a:srgbClr val="FFFFFF">
                <a:alpha val="30000"/>
              </a:srgbClr>
            </a:solidFill>
            <a:prstDash val="solid"/>
          </a:ln>
        </p:spPr>
      </p:sp>
      <p:sp>
        <p:nvSpPr>
          <p:cNvPr id="9" name="Text 6"/>
          <p:cNvSpPr/>
          <p:nvPr/>
        </p:nvSpPr>
        <p:spPr>
          <a:xfrm>
            <a:off x="4842359" y="6132116"/>
            <a:ext cx="3091383" cy="419100"/>
          </a:xfrm>
          <a:prstGeom prst="rect">
            <a:avLst/>
          </a:prstGeom>
          <a:noFill/>
          <a:ln/>
        </p:spPr>
        <p:txBody>
          <a:bodyPr wrap="square" lIns="25400" tIns="25400" rIns="25400" bIns="25400" rtlCol="0" anchor="t">
            <a:normAutofit/>
          </a:bodyPr>
          <a:lstStyle/>
          <a:p>
            <a:pPr algn="ctr" indent="0" marL="0">
              <a:lnSpc>
                <a:spcPct val="139535"/>
              </a:lnSpc>
              <a:buNone/>
            </a:pPr>
            <a:r>
              <a:rPr lang="en-US" sz="1875" b="1" spc="225" kern="0" dirty="0">
                <a:solidFill>
                  <a:srgbClr val="FFFFFF">
                    <a:alpha val="45000"/>
                  </a:srgbClr>
                </a:solidFill>
                <a:latin typeface="Arial" pitchFamily="34" charset="0"/>
                <a:ea typeface="Arial" pitchFamily="34" charset="-122"/>
                <a:cs typeface="Arial" pitchFamily="34" charset="-120"/>
              </a:rPr>
              <a:t>SKILL</a:t>
            </a:r>
            <a:endParaRPr lang="en-US" sz="1875" dirty="0"/>
          </a:p>
        </p:txBody>
      </p:sp>
      <p:sp>
        <p:nvSpPr>
          <p:cNvPr id="10" name="Shape 7"/>
          <p:cNvSpPr/>
          <p:nvPr/>
        </p:nvSpPr>
        <p:spPr>
          <a:xfrm>
            <a:off x="8212634" y="5973366"/>
            <a:ext cx="3407866" cy="698500"/>
          </a:xfrm>
          <a:prstGeom prst="rect">
            <a:avLst/>
          </a:prstGeom>
          <a:solidFill>
            <a:srgbClr val="FFFFFF"/>
          </a:solidFill>
          <a:ln/>
        </p:spPr>
      </p:sp>
      <p:sp>
        <p:nvSpPr>
          <p:cNvPr id="11" name="Text 8"/>
          <p:cNvSpPr/>
          <p:nvPr/>
        </p:nvSpPr>
        <p:spPr>
          <a:xfrm>
            <a:off x="8371066" y="6125766"/>
            <a:ext cx="3091002" cy="431800"/>
          </a:xfrm>
          <a:prstGeom prst="rect">
            <a:avLst/>
          </a:prstGeom>
          <a:noFill/>
          <a:ln/>
        </p:spPr>
        <p:txBody>
          <a:bodyPr wrap="square" lIns="25400" tIns="25400" rIns="25400" bIns="25400" rtlCol="0" anchor="t">
            <a:normAutofit/>
          </a:bodyPr>
          <a:lstStyle/>
          <a:p>
            <a:pPr algn="ctr" indent="0" marL="0">
              <a:lnSpc>
                <a:spcPct val="139535"/>
              </a:lnSpc>
              <a:buNone/>
            </a:pPr>
            <a:r>
              <a:rPr lang="en-US" sz="1875" b="1" spc="225" kern="0" dirty="0">
                <a:solidFill>
                  <a:srgbClr val="250038"/>
                </a:solidFill>
                <a:latin typeface="Arial" pitchFamily="34" charset="0"/>
                <a:ea typeface="Arial" pitchFamily="34" charset="-122"/>
                <a:cs typeface="Arial" pitchFamily="34" charset="-120"/>
              </a:rPr>
              <a:t>OUTCOME</a:t>
            </a:r>
            <a:endParaRPr lang="en-US" sz="1875" dirty="0"/>
          </a:p>
        </p:txBody>
      </p:sp>
      <p:sp>
        <p:nvSpPr>
          <p:cNvPr id="12" name="Text 9"/>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60000"/>
                  </a:srgbClr>
                </a:solidFill>
                <a:latin typeface="Arial" pitchFamily="34" charset="0"/>
                <a:ea typeface="Arial" pitchFamily="34" charset="-122"/>
                <a:cs typeface="Arial" pitchFamily="34" charset="-120"/>
              </a:rPr>
              <a:t>DAFITC 2026</a:t>
            </a:r>
            <a:endParaRPr lang="en-US" sz="1800" dirty="0"/>
          </a:p>
        </p:txBody>
      </p:sp>
      <p:sp>
        <p:nvSpPr>
          <p:cNvPr id="13" name="Text 10"/>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35000"/>
                  </a:srgbClr>
                </a:solidFill>
                <a:latin typeface="Arial" pitchFamily="34" charset="0"/>
                <a:ea typeface="Arial" pitchFamily="34" charset="-122"/>
                <a:cs typeface="Arial" pitchFamily="34" charset="-120"/>
              </a:rPr>
              <a:t>/</a:t>
            </a:r>
            <a:endParaRPr lang="en-US" sz="1800" dirty="0"/>
          </a:p>
        </p:txBody>
      </p:sp>
      <p:sp>
        <p:nvSpPr>
          <p:cNvPr id="14" name="Text 11"/>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60000"/>
                  </a:srgbClr>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3328025"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WHAT AN OUTCOME IS</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739265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The same skill. A different answer every time.</a:t>
            </a:r>
            <a:endParaRPr lang="en-US" sz="4200" dirty="0"/>
          </a:p>
        </p:txBody>
      </p:sp>
      <p:sp>
        <p:nvSpPr>
          <p:cNvPr id="5" name="Shape 2"/>
          <p:cNvSpPr/>
          <p:nvPr/>
        </p:nvSpPr>
        <p:spPr>
          <a:xfrm>
            <a:off x="1143000" y="3514130"/>
            <a:ext cx="16002000" cy="19050"/>
          </a:xfrm>
          <a:prstGeom prst="rect">
            <a:avLst/>
          </a:prstGeom>
          <a:solidFill>
            <a:srgbClr val="000000"/>
          </a:solidFill>
          <a:ln/>
        </p:spPr>
      </p:sp>
      <p:sp>
        <p:nvSpPr>
          <p:cNvPr id="6" name="Text 3"/>
          <p:cNvSpPr/>
          <p:nvPr/>
        </p:nvSpPr>
        <p:spPr>
          <a:xfrm>
            <a:off x="1143000" y="3780830"/>
            <a:ext cx="7873951" cy="478135"/>
          </a:xfrm>
          <a:prstGeom prst="rect">
            <a:avLst/>
          </a:prstGeom>
          <a:noFill/>
          <a:ln/>
        </p:spPr>
        <p:txBody>
          <a:bodyPr wrap="square" lIns="25400" tIns="25400" rIns="25400" bIns="25400" rtlCol="0" anchor="t">
            <a:normAutofit/>
          </a:bodyPr>
          <a:lstStyle/>
          <a:p>
            <a:pPr algn="l" indent="0" marL="0">
              <a:lnSpc>
                <a:spcPct val="96250"/>
              </a:lnSpc>
              <a:buNone/>
            </a:pPr>
            <a:r>
              <a:rPr lang="en-US" sz="3150" b="1" spc="-63" kern="0" dirty="0">
                <a:solidFill>
                  <a:srgbClr val="000000"/>
                </a:solidFill>
                <a:latin typeface="Arial" pitchFamily="34" charset="0"/>
                <a:ea typeface="Arial" pitchFamily="34" charset="-122"/>
                <a:cs typeface="Arial" pitchFamily="34" charset="-120"/>
              </a:rPr>
              <a:t>Windows</a:t>
            </a:r>
            <a:endParaRPr lang="en-US" sz="3150" dirty="0"/>
          </a:p>
        </p:txBody>
      </p:sp>
      <p:sp>
        <p:nvSpPr>
          <p:cNvPr id="7" name="Text 4"/>
          <p:cNvSpPr/>
          <p:nvPr/>
        </p:nvSpPr>
        <p:spPr>
          <a:xfrm>
            <a:off x="8567837" y="3817938"/>
            <a:ext cx="1228527"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spc="216" kern="0" dirty="0">
                <a:solidFill>
                  <a:srgbClr val="96968C"/>
                </a:solidFill>
                <a:latin typeface="Courier New" pitchFamily="34" charset="0"/>
                <a:ea typeface="Courier New" pitchFamily="34" charset="-122"/>
                <a:cs typeface="Courier New" pitchFamily="34" charset="-120"/>
              </a:rPr>
              <a:t>AGAINST</a:t>
            </a:r>
            <a:endParaRPr lang="en-US" sz="1800" dirty="0"/>
          </a:p>
        </p:txBody>
      </p:sp>
      <p:sp>
        <p:nvSpPr>
          <p:cNvPr id="8" name="Text 5"/>
          <p:cNvSpPr/>
          <p:nvPr/>
        </p:nvSpPr>
        <p:spPr>
          <a:xfrm>
            <a:off x="9271050" y="3780830"/>
            <a:ext cx="7873951" cy="478135"/>
          </a:xfrm>
          <a:prstGeom prst="rect">
            <a:avLst/>
          </a:prstGeom>
          <a:noFill/>
          <a:ln/>
        </p:spPr>
        <p:txBody>
          <a:bodyPr wrap="square" lIns="25400" tIns="25400" rIns="25400" bIns="25400" rtlCol="0" anchor="t">
            <a:normAutofit/>
          </a:bodyPr>
          <a:lstStyle/>
          <a:p>
            <a:pPr algn="r" indent="0" marL="0">
              <a:lnSpc>
                <a:spcPct val="96250"/>
              </a:lnSpc>
              <a:buNone/>
            </a:pPr>
            <a:r>
              <a:rPr lang="en-US" sz="3150" b="1" spc="-63" kern="0" dirty="0">
                <a:solidFill>
                  <a:srgbClr val="7500C0"/>
                </a:solidFill>
                <a:latin typeface="Arial" pitchFamily="34" charset="0"/>
                <a:ea typeface="Arial" pitchFamily="34" charset="-122"/>
                <a:cs typeface="Arial" pitchFamily="34" charset="-120"/>
              </a:rPr>
              <a:t>Linux</a:t>
            </a:r>
            <a:endParaRPr lang="en-US" sz="3150" dirty="0"/>
          </a:p>
        </p:txBody>
      </p:sp>
      <p:sp>
        <p:nvSpPr>
          <p:cNvPr id="9" name="Shape 6"/>
          <p:cNvSpPr/>
          <p:nvPr/>
        </p:nvSpPr>
        <p:spPr>
          <a:xfrm>
            <a:off x="1143000" y="4601865"/>
            <a:ext cx="16002000" cy="19050"/>
          </a:xfrm>
          <a:prstGeom prst="rect">
            <a:avLst/>
          </a:prstGeom>
          <a:solidFill>
            <a:srgbClr val="000000"/>
          </a:solidFill>
          <a:ln/>
        </p:spPr>
      </p:sp>
      <p:sp>
        <p:nvSpPr>
          <p:cNvPr id="10" name="Text 7"/>
          <p:cNvSpPr/>
          <p:nvPr/>
        </p:nvSpPr>
        <p:spPr>
          <a:xfrm>
            <a:off x="1143000" y="4868565"/>
            <a:ext cx="7873951" cy="478135"/>
          </a:xfrm>
          <a:prstGeom prst="rect">
            <a:avLst/>
          </a:prstGeom>
          <a:noFill/>
          <a:ln/>
        </p:spPr>
        <p:txBody>
          <a:bodyPr wrap="square" lIns="25400" tIns="25400" rIns="25400" bIns="25400" rtlCol="0" anchor="t">
            <a:normAutofit/>
          </a:bodyPr>
          <a:lstStyle/>
          <a:p>
            <a:pPr algn="l" indent="0" marL="0">
              <a:lnSpc>
                <a:spcPct val="96250"/>
              </a:lnSpc>
              <a:buNone/>
            </a:pPr>
            <a:r>
              <a:rPr lang="en-US" sz="3150" b="1" spc="-63" kern="0" dirty="0">
                <a:solidFill>
                  <a:srgbClr val="000000"/>
                </a:solidFill>
                <a:latin typeface="Arial" pitchFamily="34" charset="0"/>
                <a:ea typeface="Arial" pitchFamily="34" charset="-122"/>
                <a:cs typeface="Arial" pitchFamily="34" charset="-120"/>
              </a:rPr>
              <a:t>Python</a:t>
            </a:r>
            <a:endParaRPr lang="en-US" sz="3150" dirty="0"/>
          </a:p>
        </p:txBody>
      </p:sp>
      <p:sp>
        <p:nvSpPr>
          <p:cNvPr id="11" name="Text 8"/>
          <p:cNvSpPr/>
          <p:nvPr/>
        </p:nvSpPr>
        <p:spPr>
          <a:xfrm>
            <a:off x="8567837" y="4905673"/>
            <a:ext cx="1228527"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spc="216" kern="0" dirty="0">
                <a:solidFill>
                  <a:srgbClr val="96968C"/>
                </a:solidFill>
                <a:latin typeface="Courier New" pitchFamily="34" charset="0"/>
                <a:ea typeface="Courier New" pitchFamily="34" charset="-122"/>
                <a:cs typeface="Courier New" pitchFamily="34" charset="-120"/>
              </a:rPr>
              <a:t>AGAINST</a:t>
            </a:r>
            <a:endParaRPr lang="en-US" sz="1800" dirty="0"/>
          </a:p>
        </p:txBody>
      </p:sp>
      <p:sp>
        <p:nvSpPr>
          <p:cNvPr id="12" name="Text 9"/>
          <p:cNvSpPr/>
          <p:nvPr/>
        </p:nvSpPr>
        <p:spPr>
          <a:xfrm>
            <a:off x="9271050" y="4868565"/>
            <a:ext cx="7873951" cy="478135"/>
          </a:xfrm>
          <a:prstGeom prst="rect">
            <a:avLst/>
          </a:prstGeom>
          <a:noFill/>
          <a:ln/>
        </p:spPr>
        <p:txBody>
          <a:bodyPr wrap="square" lIns="25400" tIns="25400" rIns="25400" bIns="25400" rtlCol="0" anchor="t">
            <a:normAutofit/>
          </a:bodyPr>
          <a:lstStyle/>
          <a:p>
            <a:pPr algn="r" indent="0" marL="0">
              <a:lnSpc>
                <a:spcPct val="96250"/>
              </a:lnSpc>
              <a:buNone/>
            </a:pPr>
            <a:r>
              <a:rPr lang="en-US" sz="3150" b="1" spc="-63" kern="0" dirty="0">
                <a:solidFill>
                  <a:srgbClr val="7500C0"/>
                </a:solidFill>
                <a:latin typeface="Arial" pitchFamily="34" charset="0"/>
                <a:ea typeface="Arial" pitchFamily="34" charset="-122"/>
                <a:cs typeface="Arial" pitchFamily="34" charset="-120"/>
              </a:rPr>
              <a:t>TypeScript</a:t>
            </a:r>
            <a:endParaRPr lang="en-US" sz="3150" dirty="0"/>
          </a:p>
        </p:txBody>
      </p:sp>
      <p:sp>
        <p:nvSpPr>
          <p:cNvPr id="13" name="Shape 10"/>
          <p:cNvSpPr/>
          <p:nvPr/>
        </p:nvSpPr>
        <p:spPr>
          <a:xfrm>
            <a:off x="1143000" y="5689600"/>
            <a:ext cx="16002000" cy="19050"/>
          </a:xfrm>
          <a:prstGeom prst="rect">
            <a:avLst/>
          </a:prstGeom>
          <a:solidFill>
            <a:srgbClr val="000000"/>
          </a:solidFill>
          <a:ln/>
        </p:spPr>
      </p:sp>
      <p:sp>
        <p:nvSpPr>
          <p:cNvPr id="14" name="Text 11"/>
          <p:cNvSpPr/>
          <p:nvPr/>
        </p:nvSpPr>
        <p:spPr>
          <a:xfrm>
            <a:off x="1143000" y="5956300"/>
            <a:ext cx="7873951" cy="478135"/>
          </a:xfrm>
          <a:prstGeom prst="rect">
            <a:avLst/>
          </a:prstGeom>
          <a:noFill/>
          <a:ln/>
        </p:spPr>
        <p:txBody>
          <a:bodyPr wrap="square" lIns="25400" tIns="25400" rIns="25400" bIns="25400" rtlCol="0" anchor="t">
            <a:normAutofit/>
          </a:bodyPr>
          <a:lstStyle/>
          <a:p>
            <a:pPr algn="l" indent="0" marL="0">
              <a:lnSpc>
                <a:spcPct val="96250"/>
              </a:lnSpc>
              <a:buNone/>
            </a:pPr>
            <a:r>
              <a:rPr lang="en-US" sz="3150" b="1" spc="-63" kern="0" dirty="0">
                <a:solidFill>
                  <a:srgbClr val="000000"/>
                </a:solidFill>
                <a:latin typeface="Arial" pitchFamily="34" charset="0"/>
                <a:ea typeface="Arial" pitchFamily="34" charset="-122"/>
                <a:cs typeface="Arial" pitchFamily="34" charset="-120"/>
              </a:rPr>
              <a:t>Statically typed</a:t>
            </a:r>
            <a:endParaRPr lang="en-US" sz="3150" dirty="0"/>
          </a:p>
        </p:txBody>
      </p:sp>
      <p:sp>
        <p:nvSpPr>
          <p:cNvPr id="15" name="Text 12"/>
          <p:cNvSpPr/>
          <p:nvPr/>
        </p:nvSpPr>
        <p:spPr>
          <a:xfrm>
            <a:off x="8567837" y="5993408"/>
            <a:ext cx="1228527"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spc="216" kern="0" dirty="0">
                <a:solidFill>
                  <a:srgbClr val="96968C"/>
                </a:solidFill>
                <a:latin typeface="Courier New" pitchFamily="34" charset="0"/>
                <a:ea typeface="Courier New" pitchFamily="34" charset="-122"/>
                <a:cs typeface="Courier New" pitchFamily="34" charset="-120"/>
              </a:rPr>
              <a:t>AGAINST</a:t>
            </a:r>
            <a:endParaRPr lang="en-US" sz="1800" dirty="0"/>
          </a:p>
        </p:txBody>
      </p:sp>
      <p:sp>
        <p:nvSpPr>
          <p:cNvPr id="16" name="Text 13"/>
          <p:cNvSpPr/>
          <p:nvPr/>
        </p:nvSpPr>
        <p:spPr>
          <a:xfrm>
            <a:off x="9271050" y="5956300"/>
            <a:ext cx="7873951" cy="478135"/>
          </a:xfrm>
          <a:prstGeom prst="rect">
            <a:avLst/>
          </a:prstGeom>
          <a:noFill/>
          <a:ln/>
        </p:spPr>
        <p:txBody>
          <a:bodyPr wrap="square" lIns="25400" tIns="25400" rIns="25400" bIns="25400" rtlCol="0" anchor="t">
            <a:normAutofit/>
          </a:bodyPr>
          <a:lstStyle/>
          <a:p>
            <a:pPr algn="r" indent="0" marL="0">
              <a:lnSpc>
                <a:spcPct val="96250"/>
              </a:lnSpc>
              <a:buNone/>
            </a:pPr>
            <a:r>
              <a:rPr lang="en-US" sz="3150" b="1" spc="-63" kern="0" dirty="0">
                <a:solidFill>
                  <a:srgbClr val="7500C0"/>
                </a:solidFill>
                <a:latin typeface="Arial" pitchFamily="34" charset="0"/>
                <a:ea typeface="Arial" pitchFamily="34" charset="-122"/>
                <a:cs typeface="Arial" pitchFamily="34" charset="-120"/>
              </a:rPr>
              <a:t>Dynamically typed</a:t>
            </a:r>
            <a:endParaRPr lang="en-US" sz="3150" dirty="0"/>
          </a:p>
        </p:txBody>
      </p:sp>
      <p:sp>
        <p:nvSpPr>
          <p:cNvPr id="17" name="Shape 14"/>
          <p:cNvSpPr/>
          <p:nvPr/>
        </p:nvSpPr>
        <p:spPr>
          <a:xfrm>
            <a:off x="1143000" y="7654330"/>
            <a:ext cx="16002000" cy="1276350"/>
          </a:xfrm>
          <a:prstGeom prst="rect">
            <a:avLst/>
          </a:prstGeom>
          <a:solidFill>
            <a:srgbClr val="250038"/>
          </a:solidFill>
          <a:ln/>
        </p:spPr>
      </p:sp>
      <p:pic>
        <p:nvPicPr>
          <p:cNvPr id="1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24000" y="7978180"/>
            <a:ext cx="228600" cy="238125"/>
          </a:xfrm>
          <a:prstGeom prst="rect">
            <a:avLst/>
          </a:prstGeom>
        </p:spPr>
      </p:pic>
      <p:sp>
        <p:nvSpPr>
          <p:cNvPr id="19" name="Text 15"/>
          <p:cNvSpPr/>
          <p:nvPr/>
        </p:nvSpPr>
        <p:spPr>
          <a:xfrm>
            <a:off x="1962150" y="7921030"/>
            <a:ext cx="15245905" cy="781050"/>
          </a:xfrm>
          <a:prstGeom prst="rect">
            <a:avLst/>
          </a:prstGeom>
          <a:noFill/>
          <a:ln/>
        </p:spPr>
        <p:txBody>
          <a:bodyPr wrap="square" lIns="25400" tIns="25400" rIns="25400" bIns="25400" rtlCol="0" anchor="t">
            <a:normAutofit/>
          </a:bodyPr>
          <a:lstStyle/>
          <a:p>
            <a:pPr algn="l" indent="0" marL="0">
              <a:lnSpc>
                <a:spcPct val="112500"/>
              </a:lnSpc>
              <a:buNone/>
            </a:pPr>
            <a:r>
              <a:rPr lang="en-US" sz="2250" b="1" dirty="0">
                <a:solidFill>
                  <a:srgbClr val="FFFFFF"/>
                </a:solidFill>
                <a:latin typeface="Arial" pitchFamily="34" charset="0"/>
                <a:ea typeface="Arial" pitchFamily="34" charset="-122"/>
                <a:cs typeface="Arial" pitchFamily="34" charset="-120"/>
              </a:rPr>
              <a:t>The whole landscape changes from the operating system alone. Every one of these changes the answer, and it is the competency no course completion can show you.</a:t>
            </a:r>
            <a:endParaRPr lang="en-US" sz="2250" dirty="0"/>
          </a:p>
        </p:txBody>
      </p:sp>
      <p:sp>
        <p:nvSpPr>
          <p:cNvPr id="20" name="Text 16"/>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21" name="Text 17"/>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22" name="Text 18"/>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2313672"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THE CAPSTONE</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739265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One person. Their workflow. Their tools. A measured result.</a:t>
            </a:r>
            <a:endParaRPr lang="en-US" sz="4200" dirty="0"/>
          </a:p>
        </p:txBody>
      </p:sp>
      <p:sp>
        <p:nvSpPr>
          <p:cNvPr id="5" name="Shape 2"/>
          <p:cNvSpPr/>
          <p:nvPr/>
        </p:nvSpPr>
        <p:spPr>
          <a:xfrm>
            <a:off x="1143000" y="3003352"/>
            <a:ext cx="16002000" cy="9525"/>
          </a:xfrm>
          <a:prstGeom prst="rect">
            <a:avLst/>
          </a:prstGeom>
          <a:solidFill>
            <a:srgbClr val="E6E6E6"/>
          </a:solidFill>
          <a:ln/>
        </p:spPr>
      </p:sp>
      <p:sp>
        <p:nvSpPr>
          <p:cNvPr id="6" name="Text 3"/>
          <p:cNvSpPr/>
          <p:nvPr/>
        </p:nvSpPr>
        <p:spPr>
          <a:xfrm>
            <a:off x="1143000" y="3152577"/>
            <a:ext cx="373459"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b="1" dirty="0">
                <a:solidFill>
                  <a:srgbClr val="A100FF"/>
                </a:solidFill>
                <a:latin typeface="Courier New" pitchFamily="34" charset="0"/>
                <a:ea typeface="Courier New" pitchFamily="34" charset="-122"/>
                <a:cs typeface="Courier New" pitchFamily="34" charset="-120"/>
              </a:rPr>
              <a:t>01</a:t>
            </a:r>
            <a:endParaRPr lang="en-US" sz="1950" dirty="0"/>
          </a:p>
        </p:txBody>
      </p:sp>
      <p:sp>
        <p:nvSpPr>
          <p:cNvPr id="7" name="Text 4"/>
          <p:cNvSpPr/>
          <p:nvPr/>
        </p:nvSpPr>
        <p:spPr>
          <a:xfrm>
            <a:off x="1668859" y="3152577"/>
            <a:ext cx="5961698" cy="391616"/>
          </a:xfrm>
          <a:prstGeom prst="rect">
            <a:avLst/>
          </a:prstGeom>
          <a:noFill/>
          <a:ln/>
        </p:spPr>
        <p:txBody>
          <a:bodyPr wrap="square" lIns="25400" tIns="25400" rIns="25400" bIns="25400" rtlCol="0" anchor="t">
            <a:normAutofit/>
          </a:bodyPr>
          <a:lstStyle/>
          <a:p>
            <a:pPr algn="l" indent="0" marL="0">
              <a:lnSpc>
                <a:spcPct val="113633"/>
              </a:lnSpc>
              <a:buNone/>
            </a:pPr>
            <a:r>
              <a:rPr lang="en-US" sz="2175" b="1" dirty="0">
                <a:solidFill>
                  <a:srgbClr val="000000"/>
                </a:solidFill>
                <a:latin typeface="Arial" pitchFamily="34" charset="0"/>
                <a:ea typeface="Arial" pitchFamily="34" charset="-122"/>
                <a:cs typeface="Arial" pitchFamily="34" charset="-120"/>
              </a:rPr>
              <a:t>Their own workflow, not a sandbox exercise.</a:t>
            </a:r>
            <a:endParaRPr lang="en-US" sz="2175" dirty="0"/>
          </a:p>
        </p:txBody>
      </p:sp>
      <p:sp>
        <p:nvSpPr>
          <p:cNvPr id="8" name="Shape 5"/>
          <p:cNvSpPr/>
          <p:nvPr/>
        </p:nvSpPr>
        <p:spPr>
          <a:xfrm>
            <a:off x="1143000" y="3691632"/>
            <a:ext cx="16002000" cy="9525"/>
          </a:xfrm>
          <a:prstGeom prst="rect">
            <a:avLst/>
          </a:prstGeom>
          <a:solidFill>
            <a:srgbClr val="E6E6E6"/>
          </a:solidFill>
          <a:ln/>
        </p:spPr>
      </p:sp>
      <p:sp>
        <p:nvSpPr>
          <p:cNvPr id="9" name="Text 6"/>
          <p:cNvSpPr/>
          <p:nvPr/>
        </p:nvSpPr>
        <p:spPr>
          <a:xfrm>
            <a:off x="1143000" y="3840857"/>
            <a:ext cx="373459"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b="1" dirty="0">
                <a:solidFill>
                  <a:srgbClr val="A100FF"/>
                </a:solidFill>
                <a:latin typeface="Courier New" pitchFamily="34" charset="0"/>
                <a:ea typeface="Courier New" pitchFamily="34" charset="-122"/>
                <a:cs typeface="Courier New" pitchFamily="34" charset="-120"/>
              </a:rPr>
              <a:t>02</a:t>
            </a:r>
            <a:endParaRPr lang="en-US" sz="1950" dirty="0"/>
          </a:p>
        </p:txBody>
      </p:sp>
      <p:sp>
        <p:nvSpPr>
          <p:cNvPr id="10" name="Text 7"/>
          <p:cNvSpPr/>
          <p:nvPr/>
        </p:nvSpPr>
        <p:spPr>
          <a:xfrm>
            <a:off x="1668859" y="3840857"/>
            <a:ext cx="15940426" cy="745133"/>
          </a:xfrm>
          <a:prstGeom prst="rect">
            <a:avLst/>
          </a:prstGeom>
          <a:noFill/>
          <a:ln/>
        </p:spPr>
        <p:txBody>
          <a:bodyPr wrap="square" lIns="25400" tIns="25400" rIns="25400" bIns="25400" rtlCol="0" anchor="t">
            <a:normAutofit/>
          </a:bodyPr>
          <a:lstStyle/>
          <a:p>
            <a:pPr algn="l" indent="0" marL="0">
              <a:lnSpc>
                <a:spcPct val="113633"/>
              </a:lnSpc>
              <a:buNone/>
            </a:pPr>
            <a:r>
              <a:rPr lang="en-US" sz="2175" b="1" dirty="0">
                <a:solidFill>
                  <a:srgbClr val="000000"/>
                </a:solidFill>
                <a:latin typeface="Arial" pitchFamily="34" charset="0"/>
                <a:ea typeface="Arial" pitchFamily="34" charset="-122"/>
                <a:cs typeface="Arial" pitchFamily="34" charset="-120"/>
              </a:rPr>
              <a:t>Their own tools and their own corpus. Doctrine and TTPs for operators, defensive playbooks and response procedures for cyber defenders.</a:t>
            </a:r>
            <a:endParaRPr lang="en-US" sz="2175" dirty="0"/>
          </a:p>
        </p:txBody>
      </p:sp>
      <p:sp>
        <p:nvSpPr>
          <p:cNvPr id="11" name="Shape 8"/>
          <p:cNvSpPr/>
          <p:nvPr/>
        </p:nvSpPr>
        <p:spPr>
          <a:xfrm>
            <a:off x="1143000" y="4690765"/>
            <a:ext cx="16002000" cy="9525"/>
          </a:xfrm>
          <a:prstGeom prst="rect">
            <a:avLst/>
          </a:prstGeom>
          <a:solidFill>
            <a:srgbClr val="E6E6E6"/>
          </a:solidFill>
          <a:ln/>
        </p:spPr>
      </p:sp>
      <p:sp>
        <p:nvSpPr>
          <p:cNvPr id="12" name="Text 9"/>
          <p:cNvSpPr/>
          <p:nvPr/>
        </p:nvSpPr>
        <p:spPr>
          <a:xfrm>
            <a:off x="1143000" y="4839990"/>
            <a:ext cx="373459"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b="1" dirty="0">
                <a:solidFill>
                  <a:srgbClr val="A100FF"/>
                </a:solidFill>
                <a:latin typeface="Courier New" pitchFamily="34" charset="0"/>
                <a:ea typeface="Courier New" pitchFamily="34" charset="-122"/>
                <a:cs typeface="Courier New" pitchFamily="34" charset="-120"/>
              </a:rPr>
              <a:t>03</a:t>
            </a:r>
            <a:endParaRPr lang="en-US" sz="1950" dirty="0"/>
          </a:p>
        </p:txBody>
      </p:sp>
      <p:sp>
        <p:nvSpPr>
          <p:cNvPr id="13" name="Text 10"/>
          <p:cNvSpPr/>
          <p:nvPr/>
        </p:nvSpPr>
        <p:spPr>
          <a:xfrm>
            <a:off x="1668859" y="4839990"/>
            <a:ext cx="15920999" cy="391616"/>
          </a:xfrm>
          <a:prstGeom prst="rect">
            <a:avLst/>
          </a:prstGeom>
          <a:noFill/>
          <a:ln/>
        </p:spPr>
        <p:txBody>
          <a:bodyPr wrap="square" lIns="25400" tIns="25400" rIns="25400" bIns="25400" rtlCol="0" anchor="t">
            <a:normAutofit/>
          </a:bodyPr>
          <a:lstStyle/>
          <a:p>
            <a:pPr algn="l" indent="0" marL="0">
              <a:lnSpc>
                <a:spcPct val="113633"/>
              </a:lnSpc>
              <a:buNone/>
            </a:pPr>
            <a:r>
              <a:rPr lang="en-US" sz="2175" b="1" dirty="0">
                <a:solidFill>
                  <a:srgbClr val="000000"/>
                </a:solidFill>
                <a:latin typeface="Arial" pitchFamily="34" charset="0"/>
                <a:ea typeface="Arial" pitchFamily="34" charset="-122"/>
                <a:cs typeface="Arial" pitchFamily="34" charset="-120"/>
              </a:rPr>
              <a:t>Measured against the workflow’s existing measures, which means the training provider does not get to define success.</a:t>
            </a:r>
            <a:endParaRPr lang="en-US" sz="2175" dirty="0"/>
          </a:p>
        </p:txBody>
      </p:sp>
      <p:sp>
        <p:nvSpPr>
          <p:cNvPr id="14" name="Shape 11"/>
          <p:cNvSpPr/>
          <p:nvPr/>
        </p:nvSpPr>
        <p:spPr>
          <a:xfrm>
            <a:off x="1143000" y="5379046"/>
            <a:ext cx="16002000" cy="9525"/>
          </a:xfrm>
          <a:prstGeom prst="rect">
            <a:avLst/>
          </a:prstGeom>
          <a:solidFill>
            <a:srgbClr val="E6E6E6"/>
          </a:solidFill>
          <a:ln/>
        </p:spPr>
      </p:sp>
      <p:sp>
        <p:nvSpPr>
          <p:cNvPr id="15" name="Text 12"/>
          <p:cNvSpPr/>
          <p:nvPr/>
        </p:nvSpPr>
        <p:spPr>
          <a:xfrm>
            <a:off x="1143000" y="5528271"/>
            <a:ext cx="373459"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b="1" dirty="0">
                <a:solidFill>
                  <a:srgbClr val="A100FF"/>
                </a:solidFill>
                <a:latin typeface="Courier New" pitchFamily="34" charset="0"/>
                <a:ea typeface="Courier New" pitchFamily="34" charset="-122"/>
                <a:cs typeface="Courier New" pitchFamily="34" charset="-120"/>
              </a:rPr>
              <a:t>04</a:t>
            </a:r>
            <a:endParaRPr lang="en-US" sz="1950" dirty="0"/>
          </a:p>
        </p:txBody>
      </p:sp>
      <p:sp>
        <p:nvSpPr>
          <p:cNvPr id="16" name="Text 13"/>
          <p:cNvSpPr/>
          <p:nvPr/>
        </p:nvSpPr>
        <p:spPr>
          <a:xfrm>
            <a:off x="1668859" y="5528271"/>
            <a:ext cx="9964976" cy="391616"/>
          </a:xfrm>
          <a:prstGeom prst="rect">
            <a:avLst/>
          </a:prstGeom>
          <a:noFill/>
          <a:ln/>
        </p:spPr>
        <p:txBody>
          <a:bodyPr wrap="square" lIns="25400" tIns="25400" rIns="25400" bIns="25400" rtlCol="0" anchor="t">
            <a:normAutofit/>
          </a:bodyPr>
          <a:lstStyle/>
          <a:p>
            <a:pPr algn="l" indent="0" marL="0">
              <a:lnSpc>
                <a:spcPct val="113633"/>
              </a:lnSpc>
              <a:buNone/>
            </a:pPr>
            <a:r>
              <a:rPr lang="en-US" sz="2175" b="1" dirty="0">
                <a:solidFill>
                  <a:srgbClr val="000000"/>
                </a:solidFill>
                <a:latin typeface="Arial" pitchFamily="34" charset="0"/>
                <a:ea typeface="Arial" pitchFamily="34" charset="-122"/>
                <a:cs typeface="Arial" pitchFamily="34" charset="-120"/>
              </a:rPr>
              <a:t>Evaluated by someone who can tell them whether they actually did it right.</a:t>
            </a:r>
            <a:endParaRPr lang="en-US" sz="2175" dirty="0"/>
          </a:p>
        </p:txBody>
      </p:sp>
      <p:sp>
        <p:nvSpPr>
          <p:cNvPr id="17" name="Shape 14"/>
          <p:cNvSpPr/>
          <p:nvPr/>
        </p:nvSpPr>
        <p:spPr>
          <a:xfrm>
            <a:off x="1143000" y="6067326"/>
            <a:ext cx="16002000" cy="9525"/>
          </a:xfrm>
          <a:prstGeom prst="rect">
            <a:avLst/>
          </a:prstGeom>
          <a:solidFill>
            <a:srgbClr val="E6E6E6"/>
          </a:solidFill>
          <a:ln/>
        </p:spPr>
      </p:sp>
      <p:sp>
        <p:nvSpPr>
          <p:cNvPr id="18" name="Text 15"/>
          <p:cNvSpPr/>
          <p:nvPr/>
        </p:nvSpPr>
        <p:spPr>
          <a:xfrm>
            <a:off x="1143000" y="6216551"/>
            <a:ext cx="373459"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b="1" dirty="0">
                <a:solidFill>
                  <a:srgbClr val="A100FF"/>
                </a:solidFill>
                <a:latin typeface="Courier New" pitchFamily="34" charset="0"/>
                <a:ea typeface="Courier New" pitchFamily="34" charset="-122"/>
                <a:cs typeface="Courier New" pitchFamily="34" charset="-120"/>
              </a:rPr>
              <a:t>05</a:t>
            </a:r>
            <a:endParaRPr lang="en-US" sz="1950" dirty="0"/>
          </a:p>
        </p:txBody>
      </p:sp>
      <p:sp>
        <p:nvSpPr>
          <p:cNvPr id="19" name="Text 16"/>
          <p:cNvSpPr/>
          <p:nvPr/>
        </p:nvSpPr>
        <p:spPr>
          <a:xfrm>
            <a:off x="1668859" y="6216551"/>
            <a:ext cx="15940426" cy="745133"/>
          </a:xfrm>
          <a:prstGeom prst="rect">
            <a:avLst/>
          </a:prstGeom>
          <a:noFill/>
          <a:ln/>
        </p:spPr>
        <p:txBody>
          <a:bodyPr wrap="square" lIns="25400" tIns="25400" rIns="25400" bIns="25400" rtlCol="0" anchor="t">
            <a:normAutofit/>
          </a:bodyPr>
          <a:lstStyle/>
          <a:p>
            <a:pPr algn="l" indent="0" marL="0">
              <a:lnSpc>
                <a:spcPct val="113633"/>
              </a:lnSpc>
              <a:buNone/>
            </a:pPr>
            <a:r>
              <a:rPr lang="en-US" sz="2175" b="1" dirty="0">
                <a:solidFill>
                  <a:srgbClr val="000000"/>
                </a:solidFill>
                <a:latin typeface="Arial" pitchFamily="34" charset="0"/>
                <a:ea typeface="Arial" pitchFamily="34" charset="-122"/>
                <a:cs typeface="Arial" pitchFamily="34" charset="-120"/>
              </a:rPr>
              <a:t>Simulated, because in many cases we cannot get access to production, and we do not want to. Risk is high the minute we start touching production. </a:t>
            </a:r>
            <a:pPr algn="l" indent="0" marL="0">
              <a:lnSpc>
                <a:spcPct val="113633"/>
              </a:lnSpc>
              <a:buNone/>
            </a:pPr>
            <a:r>
              <a:rPr lang="en-US" sz="2175" b="1" dirty="0">
                <a:solidFill>
                  <a:srgbClr val="4D4D4D"/>
                </a:solidFill>
                <a:latin typeface="Arial" pitchFamily="34" charset="0"/>
                <a:ea typeface="Arial" pitchFamily="34" charset="-122"/>
                <a:cs typeface="Arial" pitchFamily="34" charset="-120"/>
              </a:rPr>
              <a:t>In many cases the capstone is a git repository.</a:t>
            </a:r>
            <a:endParaRPr lang="en-US" sz="2175" dirty="0"/>
          </a:p>
        </p:txBody>
      </p:sp>
      <p:sp>
        <p:nvSpPr>
          <p:cNvPr id="20" name="Shape 17"/>
          <p:cNvSpPr/>
          <p:nvPr/>
        </p:nvSpPr>
        <p:spPr>
          <a:xfrm>
            <a:off x="1143000" y="7794625"/>
            <a:ext cx="16002000" cy="1136055"/>
          </a:xfrm>
          <a:prstGeom prst="rect">
            <a:avLst/>
          </a:prstGeom>
          <a:solidFill>
            <a:srgbClr val="250038"/>
          </a:solidFill>
          <a:ln/>
        </p:spPr>
      </p:sp>
      <p:pic>
        <p:nvPicPr>
          <p:cNvPr id="21"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85900" y="8080375"/>
            <a:ext cx="209550" cy="219075"/>
          </a:xfrm>
          <a:prstGeom prst="rect">
            <a:avLst/>
          </a:prstGeom>
        </p:spPr>
      </p:pic>
      <p:sp>
        <p:nvSpPr>
          <p:cNvPr id="22" name="Text 18"/>
          <p:cNvSpPr/>
          <p:nvPr/>
        </p:nvSpPr>
        <p:spPr>
          <a:xfrm>
            <a:off x="1905000" y="8023225"/>
            <a:ext cx="15344013" cy="716955"/>
          </a:xfrm>
          <a:prstGeom prst="rect">
            <a:avLst/>
          </a:prstGeom>
          <a:noFill/>
          <a:ln/>
        </p:spPr>
        <p:txBody>
          <a:bodyPr wrap="square" lIns="25400" tIns="25400" rIns="25400" bIns="25400" rtlCol="0" anchor="t">
            <a:normAutofit/>
          </a:bodyPr>
          <a:lstStyle/>
          <a:p>
            <a:pPr algn="l" indent="0" marL="0">
              <a:lnSpc>
                <a:spcPct val="113745"/>
              </a:lnSpc>
              <a:buNone/>
            </a:pPr>
            <a:r>
              <a:rPr lang="en-US" sz="2025" b="1" dirty="0">
                <a:solidFill>
                  <a:srgbClr val="FFFFFF"/>
                </a:solidFill>
                <a:latin typeface="Arial" pitchFamily="34" charset="0"/>
                <a:ea typeface="Arial" pitchFamily="34" charset="-122"/>
                <a:cs typeface="Arial" pitchFamily="34" charset="-120"/>
              </a:rPr>
              <a:t>Do not deal with a vendor who cannot give you a simulated, or real, in-your-environment production experience. A vendor who does not support that outcome does not understand that seat time will not help you.</a:t>
            </a:r>
            <a:endParaRPr lang="en-US" sz="2025" dirty="0"/>
          </a:p>
        </p:txBody>
      </p:sp>
      <p:sp>
        <p:nvSpPr>
          <p:cNvPr id="23" name="Text 19"/>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24" name="Text 20"/>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25" name="Text 21"/>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161757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THE DELTA</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739265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Same task, same standard, measured twice</a:t>
            </a:r>
            <a:endParaRPr lang="en-US" sz="4200" dirty="0"/>
          </a:p>
        </p:txBody>
      </p:sp>
      <p:sp>
        <p:nvSpPr>
          <p:cNvPr id="5" name="Text 2"/>
          <p:cNvSpPr/>
          <p:nvPr/>
        </p:nvSpPr>
        <p:spPr>
          <a:xfrm>
            <a:off x="7489131" y="2572345"/>
            <a:ext cx="1092895" cy="914400"/>
          </a:xfrm>
          <a:prstGeom prst="rect">
            <a:avLst/>
          </a:prstGeom>
          <a:noFill/>
          <a:ln/>
        </p:spPr>
        <p:txBody>
          <a:bodyPr wrap="square" lIns="25400" tIns="25400" rIns="25400" bIns="25400" rtlCol="0" anchor="t">
            <a:normAutofit/>
          </a:bodyPr>
          <a:lstStyle/>
          <a:p>
            <a:pPr algn="l" indent="0" marL="0">
              <a:lnSpc>
                <a:spcPct val="88462"/>
              </a:lnSpc>
              <a:buNone/>
            </a:pPr>
            <a:r>
              <a:rPr lang="en-US" sz="6900" b="1" spc="-138" kern="0" dirty="0">
                <a:solidFill>
                  <a:srgbClr val="96968C"/>
                </a:solidFill>
                <a:latin typeface="Courier New" pitchFamily="34" charset="0"/>
                <a:ea typeface="Courier New" pitchFamily="34" charset="-122"/>
                <a:cs typeface="Courier New" pitchFamily="34" charset="-120"/>
              </a:rPr>
              <a:t>2b</a:t>
            </a:r>
            <a:endParaRPr lang="en-US" sz="6900" dirty="0"/>
          </a:p>
        </p:txBody>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924925" y="2777133"/>
            <a:ext cx="438150" cy="466725"/>
          </a:xfrm>
          <a:prstGeom prst="rect">
            <a:avLst/>
          </a:prstGeom>
        </p:spPr>
      </p:pic>
      <p:sp>
        <p:nvSpPr>
          <p:cNvPr id="7" name="Text 3"/>
          <p:cNvSpPr/>
          <p:nvPr/>
        </p:nvSpPr>
        <p:spPr>
          <a:xfrm>
            <a:off x="9782175" y="2572345"/>
            <a:ext cx="1092895" cy="914400"/>
          </a:xfrm>
          <a:prstGeom prst="rect">
            <a:avLst/>
          </a:prstGeom>
          <a:noFill/>
          <a:ln/>
        </p:spPr>
        <p:txBody>
          <a:bodyPr wrap="square" lIns="25400" tIns="25400" rIns="25400" bIns="25400" rtlCol="0" anchor="t">
            <a:normAutofit/>
          </a:bodyPr>
          <a:lstStyle/>
          <a:p>
            <a:pPr algn="l" indent="0" marL="0">
              <a:lnSpc>
                <a:spcPct val="88462"/>
              </a:lnSpc>
              <a:buNone/>
            </a:pPr>
            <a:r>
              <a:rPr lang="en-US" sz="6900" b="1" spc="-138" kern="0" dirty="0">
                <a:solidFill>
                  <a:srgbClr val="A100FF"/>
                </a:solidFill>
                <a:latin typeface="Courier New" pitchFamily="34" charset="0"/>
                <a:ea typeface="Courier New" pitchFamily="34" charset="-122"/>
                <a:cs typeface="Courier New" pitchFamily="34" charset="-120"/>
              </a:rPr>
              <a:t>3c</a:t>
            </a:r>
            <a:endParaRPr lang="en-US" sz="6900" dirty="0"/>
          </a:p>
        </p:txBody>
      </p:sp>
      <p:sp>
        <p:nvSpPr>
          <p:cNvPr id="8" name="Shape 4"/>
          <p:cNvSpPr/>
          <p:nvPr/>
        </p:nvSpPr>
        <p:spPr>
          <a:xfrm>
            <a:off x="1143000" y="3696295"/>
            <a:ext cx="7810500" cy="4148733"/>
          </a:xfrm>
          <a:prstGeom prst="rect">
            <a:avLst/>
          </a:prstGeom>
          <a:ln w="6350">
            <a:solidFill>
              <a:srgbClr val="C8C8C2"/>
            </a:solidFill>
            <a:prstDash val="solid"/>
          </a:ln>
        </p:spPr>
      </p:sp>
      <p:sp>
        <p:nvSpPr>
          <p:cNvPr id="9" name="Text 5"/>
          <p:cNvSpPr/>
          <p:nvPr/>
        </p:nvSpPr>
        <p:spPr>
          <a:xfrm>
            <a:off x="1435100" y="3931246"/>
            <a:ext cx="7443089"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BEFORE THE PATH</a:t>
            </a:r>
            <a:endParaRPr lang="en-US" sz="1800" dirty="0"/>
          </a:p>
        </p:txBody>
      </p:sp>
      <p:sp>
        <p:nvSpPr>
          <p:cNvPr id="10" name="Shape 6"/>
          <p:cNvSpPr/>
          <p:nvPr/>
        </p:nvSpPr>
        <p:spPr>
          <a:xfrm>
            <a:off x="1435100" y="4411266"/>
            <a:ext cx="7226300" cy="9525"/>
          </a:xfrm>
          <a:prstGeom prst="rect">
            <a:avLst/>
          </a:prstGeom>
          <a:solidFill>
            <a:srgbClr val="E6E6E6"/>
          </a:solidFill>
          <a:ln/>
        </p:spPr>
      </p:sp>
      <p:sp>
        <p:nvSpPr>
          <p:cNvPr id="11" name="Text 7"/>
          <p:cNvSpPr/>
          <p:nvPr/>
        </p:nvSpPr>
        <p:spPr>
          <a:xfrm>
            <a:off x="1435100" y="4550966"/>
            <a:ext cx="20955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THE TASK</a:t>
            </a:r>
            <a:endParaRPr lang="en-US" sz="1800" dirty="0"/>
          </a:p>
        </p:txBody>
      </p:sp>
      <p:sp>
        <p:nvSpPr>
          <p:cNvPr id="12" name="Text 8"/>
          <p:cNvSpPr/>
          <p:nvPr/>
        </p:nvSpPr>
        <p:spPr>
          <a:xfrm>
            <a:off x="3549650" y="4563666"/>
            <a:ext cx="5622925" cy="359966"/>
          </a:xfrm>
          <a:prstGeom prst="rect">
            <a:avLst/>
          </a:prstGeom>
          <a:noFill/>
          <a:ln/>
        </p:spPr>
        <p:txBody>
          <a:bodyPr wrap="square" lIns="25400" tIns="25400" rIns="25400" bIns="25400" rtlCol="0" anchor="t">
            <a:normAutofit/>
          </a:bodyPr>
          <a:lstStyle/>
          <a:p>
            <a:pPr algn="l" indent="0" marL="0">
              <a:lnSpc>
                <a:spcPct val="115227"/>
              </a:lnSpc>
              <a:buNone/>
            </a:pPr>
            <a:r>
              <a:rPr lang="en-US" sz="1950" dirty="0">
                <a:solidFill>
                  <a:srgbClr val="000000"/>
                </a:solidFill>
                <a:latin typeface="Arial" pitchFamily="34" charset="0"/>
                <a:ea typeface="Arial" pitchFamily="34" charset="-122"/>
                <a:cs typeface="Arial" pitchFamily="34" charset="-120"/>
              </a:rPr>
              <a:t>Named, from their own work</a:t>
            </a:r>
            <a:endParaRPr lang="en-US" sz="1950" dirty="0"/>
          </a:p>
        </p:txBody>
      </p:sp>
      <p:sp>
        <p:nvSpPr>
          <p:cNvPr id="13" name="Shape 9"/>
          <p:cNvSpPr/>
          <p:nvPr/>
        </p:nvSpPr>
        <p:spPr>
          <a:xfrm>
            <a:off x="1435100" y="5050036"/>
            <a:ext cx="7226300" cy="9525"/>
          </a:xfrm>
          <a:prstGeom prst="rect">
            <a:avLst/>
          </a:prstGeom>
          <a:solidFill>
            <a:srgbClr val="E6E6E6"/>
          </a:solidFill>
          <a:ln/>
        </p:spPr>
      </p:sp>
      <p:sp>
        <p:nvSpPr>
          <p:cNvPr id="14" name="Text 10"/>
          <p:cNvSpPr/>
          <p:nvPr/>
        </p:nvSpPr>
        <p:spPr>
          <a:xfrm>
            <a:off x="1435100" y="5189736"/>
            <a:ext cx="20955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KNOWLEDGE</a:t>
            </a:r>
            <a:endParaRPr lang="en-US" sz="1800" dirty="0"/>
          </a:p>
        </p:txBody>
      </p:sp>
      <p:sp>
        <p:nvSpPr>
          <p:cNvPr id="15" name="Text 11"/>
          <p:cNvSpPr/>
          <p:nvPr/>
        </p:nvSpPr>
        <p:spPr>
          <a:xfrm>
            <a:off x="3549650" y="5202436"/>
            <a:ext cx="5622925" cy="359966"/>
          </a:xfrm>
          <a:prstGeom prst="rect">
            <a:avLst/>
          </a:prstGeom>
          <a:noFill/>
          <a:ln/>
        </p:spPr>
        <p:txBody>
          <a:bodyPr wrap="square" lIns="25400" tIns="25400" rIns="25400" bIns="25400" rtlCol="0" anchor="t">
            <a:normAutofit/>
          </a:bodyPr>
          <a:lstStyle/>
          <a:p>
            <a:pPr algn="l" indent="0" marL="0">
              <a:lnSpc>
                <a:spcPct val="115227"/>
              </a:lnSpc>
              <a:buNone/>
            </a:pPr>
            <a:r>
              <a:rPr lang="en-US" sz="1950" dirty="0">
                <a:solidFill>
                  <a:srgbClr val="000000"/>
                </a:solidFill>
                <a:latin typeface="Arial" pitchFamily="34" charset="0"/>
                <a:ea typeface="Arial" pitchFamily="34" charset="-122"/>
                <a:cs typeface="Arial" pitchFamily="34" charset="-120"/>
              </a:rPr>
              <a:t>b, procedures. Can follow the steps.</a:t>
            </a:r>
            <a:endParaRPr lang="en-US" sz="1950" dirty="0"/>
          </a:p>
        </p:txBody>
      </p:sp>
      <p:sp>
        <p:nvSpPr>
          <p:cNvPr id="16" name="Shape 12"/>
          <p:cNvSpPr/>
          <p:nvPr/>
        </p:nvSpPr>
        <p:spPr>
          <a:xfrm>
            <a:off x="1435100" y="5688806"/>
            <a:ext cx="7226300" cy="9525"/>
          </a:xfrm>
          <a:prstGeom prst="rect">
            <a:avLst/>
          </a:prstGeom>
          <a:solidFill>
            <a:srgbClr val="E6E6E6"/>
          </a:solidFill>
          <a:ln/>
        </p:spPr>
      </p:sp>
      <p:sp>
        <p:nvSpPr>
          <p:cNvPr id="17" name="Text 13"/>
          <p:cNvSpPr/>
          <p:nvPr/>
        </p:nvSpPr>
        <p:spPr>
          <a:xfrm>
            <a:off x="1435100" y="5828506"/>
            <a:ext cx="1981200" cy="769541"/>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TASK PERFORMANCE</a:t>
            </a:r>
            <a:endParaRPr lang="en-US" sz="1800" dirty="0"/>
          </a:p>
        </p:txBody>
      </p:sp>
      <p:sp>
        <p:nvSpPr>
          <p:cNvPr id="18" name="Text 14"/>
          <p:cNvSpPr/>
          <p:nvPr/>
        </p:nvSpPr>
        <p:spPr>
          <a:xfrm>
            <a:off x="3549650" y="5841206"/>
            <a:ext cx="5265103" cy="681831"/>
          </a:xfrm>
          <a:prstGeom prst="rect">
            <a:avLst/>
          </a:prstGeom>
          <a:noFill/>
          <a:ln/>
        </p:spPr>
        <p:txBody>
          <a:bodyPr wrap="square" lIns="25400" tIns="25400" rIns="25400" bIns="25400" rtlCol="0" anchor="t">
            <a:normAutofit/>
          </a:bodyPr>
          <a:lstStyle/>
          <a:p>
            <a:pPr algn="l" indent="0" marL="0">
              <a:lnSpc>
                <a:spcPct val="115227"/>
              </a:lnSpc>
              <a:buNone/>
            </a:pPr>
            <a:r>
              <a:rPr lang="en-US" sz="1950" dirty="0">
                <a:solidFill>
                  <a:srgbClr val="000000"/>
                </a:solidFill>
                <a:latin typeface="Arial" pitchFamily="34" charset="0"/>
                <a:ea typeface="Arial" pitchFamily="34" charset="-122"/>
                <a:cs typeface="Arial" pitchFamily="34" charset="-120"/>
              </a:rPr>
              <a:t>2, partially proficient. Needs help on the hardest parts.</a:t>
            </a:r>
            <a:endParaRPr lang="en-US" sz="1950" dirty="0"/>
          </a:p>
        </p:txBody>
      </p:sp>
      <p:sp>
        <p:nvSpPr>
          <p:cNvPr id="19" name="Shape 15"/>
          <p:cNvSpPr/>
          <p:nvPr/>
        </p:nvSpPr>
        <p:spPr>
          <a:xfrm>
            <a:off x="1435100" y="6693297"/>
            <a:ext cx="7226300" cy="9525"/>
          </a:xfrm>
          <a:prstGeom prst="rect">
            <a:avLst/>
          </a:prstGeom>
          <a:solidFill>
            <a:srgbClr val="E6E6E6"/>
          </a:solidFill>
          <a:ln/>
        </p:spPr>
      </p:sp>
      <p:sp>
        <p:nvSpPr>
          <p:cNvPr id="20" name="Text 16"/>
          <p:cNvSpPr/>
          <p:nvPr/>
        </p:nvSpPr>
        <p:spPr>
          <a:xfrm>
            <a:off x="1435100" y="6832997"/>
            <a:ext cx="20955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ASSESSED BY</a:t>
            </a:r>
            <a:endParaRPr lang="en-US" sz="1800" dirty="0"/>
          </a:p>
        </p:txBody>
      </p:sp>
      <p:sp>
        <p:nvSpPr>
          <p:cNvPr id="21" name="Text 17"/>
          <p:cNvSpPr/>
          <p:nvPr/>
        </p:nvSpPr>
        <p:spPr>
          <a:xfrm>
            <a:off x="3549650" y="6845697"/>
            <a:ext cx="5622925" cy="359966"/>
          </a:xfrm>
          <a:prstGeom prst="rect">
            <a:avLst/>
          </a:prstGeom>
          <a:noFill/>
          <a:ln/>
        </p:spPr>
        <p:txBody>
          <a:bodyPr wrap="square" lIns="25400" tIns="25400" rIns="25400" bIns="25400" rtlCol="0" anchor="t">
            <a:normAutofit/>
          </a:bodyPr>
          <a:lstStyle/>
          <a:p>
            <a:pPr algn="l" indent="0" marL="0">
              <a:lnSpc>
                <a:spcPct val="115227"/>
              </a:lnSpc>
              <a:buNone/>
            </a:pPr>
            <a:r>
              <a:rPr lang="en-US" sz="1950" dirty="0">
                <a:solidFill>
                  <a:srgbClr val="000000"/>
                </a:solidFill>
                <a:latin typeface="Arial" pitchFamily="34" charset="0"/>
                <a:ea typeface="Arial" pitchFamily="34" charset="-122"/>
                <a:cs typeface="Arial" pitchFamily="34" charset="-120"/>
              </a:rPr>
              <a:t>An evaluator, against the published standard</a:t>
            </a:r>
            <a:endParaRPr lang="en-US" sz="1950" dirty="0"/>
          </a:p>
        </p:txBody>
      </p:sp>
      <p:sp>
        <p:nvSpPr>
          <p:cNvPr id="22" name="Shape 18"/>
          <p:cNvSpPr/>
          <p:nvPr/>
        </p:nvSpPr>
        <p:spPr>
          <a:xfrm>
            <a:off x="9334500" y="3696295"/>
            <a:ext cx="7810500" cy="4148733"/>
          </a:xfrm>
          <a:prstGeom prst="rect">
            <a:avLst/>
          </a:prstGeom>
          <a:solidFill>
            <a:srgbClr val="250038"/>
          </a:solidFill>
          <a:ln/>
        </p:spPr>
      </p:sp>
      <p:sp>
        <p:nvSpPr>
          <p:cNvPr id="23" name="Text 19"/>
          <p:cNvSpPr/>
          <p:nvPr/>
        </p:nvSpPr>
        <p:spPr>
          <a:xfrm>
            <a:off x="9620250" y="3924895"/>
            <a:ext cx="74561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DCAFFF"/>
                </a:solidFill>
                <a:latin typeface="Arial" pitchFamily="34" charset="0"/>
                <a:ea typeface="Arial" pitchFamily="34" charset="-122"/>
                <a:cs typeface="Arial" pitchFamily="34" charset="-120"/>
              </a:rPr>
              <a:t>AFTER THE CAPSTONE</a:t>
            </a:r>
            <a:endParaRPr lang="en-US" sz="1800" dirty="0"/>
          </a:p>
        </p:txBody>
      </p:sp>
      <p:sp>
        <p:nvSpPr>
          <p:cNvPr id="24" name="Shape 20"/>
          <p:cNvSpPr/>
          <p:nvPr/>
        </p:nvSpPr>
        <p:spPr>
          <a:xfrm>
            <a:off x="9620250" y="4404916"/>
            <a:ext cx="7239000" cy="9525"/>
          </a:xfrm>
          <a:prstGeom prst="rect">
            <a:avLst/>
          </a:prstGeom>
          <a:solidFill>
            <a:srgbClr val="FFFFFF">
              <a:alpha val="28000"/>
            </a:srgbClr>
          </a:solidFill>
          <a:ln/>
        </p:spPr>
      </p:sp>
      <p:sp>
        <p:nvSpPr>
          <p:cNvPr id="25" name="Text 21"/>
          <p:cNvSpPr/>
          <p:nvPr/>
        </p:nvSpPr>
        <p:spPr>
          <a:xfrm>
            <a:off x="9620250" y="4544616"/>
            <a:ext cx="20955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FFFFFF">
                    <a:alpha val="60000"/>
                  </a:srgbClr>
                </a:solidFill>
                <a:latin typeface="Arial" pitchFamily="34" charset="0"/>
                <a:ea typeface="Arial" pitchFamily="34" charset="-122"/>
                <a:cs typeface="Arial" pitchFamily="34" charset="-120"/>
              </a:rPr>
              <a:t>THE TASK</a:t>
            </a:r>
            <a:endParaRPr lang="en-US" sz="1800" dirty="0"/>
          </a:p>
        </p:txBody>
      </p:sp>
      <p:sp>
        <p:nvSpPr>
          <p:cNvPr id="26" name="Text 22"/>
          <p:cNvSpPr/>
          <p:nvPr/>
        </p:nvSpPr>
        <p:spPr>
          <a:xfrm>
            <a:off x="11734800" y="4557316"/>
            <a:ext cx="5636895" cy="359966"/>
          </a:xfrm>
          <a:prstGeom prst="rect">
            <a:avLst/>
          </a:prstGeom>
          <a:noFill/>
          <a:ln/>
        </p:spPr>
        <p:txBody>
          <a:bodyPr wrap="square" lIns="25400" tIns="25400" rIns="25400" bIns="25400" rtlCol="0" anchor="t">
            <a:normAutofit/>
          </a:bodyPr>
          <a:lstStyle/>
          <a:p>
            <a:pPr algn="l" indent="0" marL="0">
              <a:lnSpc>
                <a:spcPct val="115227"/>
              </a:lnSpc>
              <a:buNone/>
            </a:pPr>
            <a:r>
              <a:rPr lang="en-US" sz="1950" dirty="0">
                <a:solidFill>
                  <a:srgbClr val="FFFFFF"/>
                </a:solidFill>
                <a:latin typeface="Arial" pitchFamily="34" charset="0"/>
                <a:ea typeface="Arial" pitchFamily="34" charset="-122"/>
                <a:cs typeface="Arial" pitchFamily="34" charset="-120"/>
              </a:rPr>
              <a:t>The same task</a:t>
            </a:r>
            <a:endParaRPr lang="en-US" sz="1950" dirty="0"/>
          </a:p>
        </p:txBody>
      </p:sp>
      <p:sp>
        <p:nvSpPr>
          <p:cNvPr id="27" name="Shape 23"/>
          <p:cNvSpPr/>
          <p:nvPr/>
        </p:nvSpPr>
        <p:spPr>
          <a:xfrm>
            <a:off x="9620250" y="5043686"/>
            <a:ext cx="7239000" cy="9525"/>
          </a:xfrm>
          <a:prstGeom prst="rect">
            <a:avLst/>
          </a:prstGeom>
          <a:solidFill>
            <a:srgbClr val="FFFFFF">
              <a:alpha val="28000"/>
            </a:srgbClr>
          </a:solidFill>
          <a:ln/>
        </p:spPr>
      </p:sp>
      <p:sp>
        <p:nvSpPr>
          <p:cNvPr id="28" name="Text 24"/>
          <p:cNvSpPr/>
          <p:nvPr/>
        </p:nvSpPr>
        <p:spPr>
          <a:xfrm>
            <a:off x="9620250" y="5183386"/>
            <a:ext cx="20955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FFFFFF">
                    <a:alpha val="60000"/>
                  </a:srgbClr>
                </a:solidFill>
                <a:latin typeface="Arial" pitchFamily="34" charset="0"/>
                <a:ea typeface="Arial" pitchFamily="34" charset="-122"/>
                <a:cs typeface="Arial" pitchFamily="34" charset="-120"/>
              </a:rPr>
              <a:t>KNOWLEDGE</a:t>
            </a:r>
            <a:endParaRPr lang="en-US" sz="1800" dirty="0"/>
          </a:p>
        </p:txBody>
      </p:sp>
      <p:sp>
        <p:nvSpPr>
          <p:cNvPr id="29" name="Text 25"/>
          <p:cNvSpPr/>
          <p:nvPr/>
        </p:nvSpPr>
        <p:spPr>
          <a:xfrm>
            <a:off x="11734800" y="5196086"/>
            <a:ext cx="5278184" cy="681831"/>
          </a:xfrm>
          <a:prstGeom prst="rect">
            <a:avLst/>
          </a:prstGeom>
          <a:noFill/>
          <a:ln/>
        </p:spPr>
        <p:txBody>
          <a:bodyPr wrap="square" lIns="25400" tIns="25400" rIns="25400" bIns="25400" rtlCol="0" anchor="t">
            <a:normAutofit/>
          </a:bodyPr>
          <a:lstStyle/>
          <a:p>
            <a:pPr algn="l" indent="0" marL="0">
              <a:lnSpc>
                <a:spcPct val="115227"/>
              </a:lnSpc>
              <a:buNone/>
            </a:pPr>
            <a:r>
              <a:rPr lang="en-US" sz="1950" dirty="0">
                <a:solidFill>
                  <a:srgbClr val="FFFFFF"/>
                </a:solidFill>
                <a:latin typeface="Arial" pitchFamily="34" charset="0"/>
                <a:ea typeface="Arial" pitchFamily="34" charset="-122"/>
                <a:cs typeface="Arial" pitchFamily="34" charset="-120"/>
              </a:rPr>
              <a:t>c, operating principles. Knows why each step is needed.</a:t>
            </a:r>
            <a:endParaRPr lang="en-US" sz="1950" dirty="0"/>
          </a:p>
        </p:txBody>
      </p:sp>
      <p:sp>
        <p:nvSpPr>
          <p:cNvPr id="30" name="Shape 26"/>
          <p:cNvSpPr/>
          <p:nvPr/>
        </p:nvSpPr>
        <p:spPr>
          <a:xfrm>
            <a:off x="9620250" y="5973167"/>
            <a:ext cx="7239000" cy="9525"/>
          </a:xfrm>
          <a:prstGeom prst="rect">
            <a:avLst/>
          </a:prstGeom>
          <a:solidFill>
            <a:srgbClr val="FFFFFF">
              <a:alpha val="28000"/>
            </a:srgbClr>
          </a:solidFill>
          <a:ln/>
        </p:spPr>
      </p:sp>
      <p:sp>
        <p:nvSpPr>
          <p:cNvPr id="31" name="Text 27"/>
          <p:cNvSpPr/>
          <p:nvPr/>
        </p:nvSpPr>
        <p:spPr>
          <a:xfrm>
            <a:off x="9620250" y="6112868"/>
            <a:ext cx="1981200" cy="769541"/>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FFFFFF">
                    <a:alpha val="60000"/>
                  </a:srgbClr>
                </a:solidFill>
                <a:latin typeface="Arial" pitchFamily="34" charset="0"/>
                <a:ea typeface="Arial" pitchFamily="34" charset="-122"/>
                <a:cs typeface="Arial" pitchFamily="34" charset="-120"/>
              </a:rPr>
              <a:t>TASK PERFORMANCE</a:t>
            </a:r>
            <a:endParaRPr lang="en-US" sz="1800" dirty="0"/>
          </a:p>
        </p:txBody>
      </p:sp>
      <p:sp>
        <p:nvSpPr>
          <p:cNvPr id="32" name="Text 28"/>
          <p:cNvSpPr/>
          <p:nvPr/>
        </p:nvSpPr>
        <p:spPr>
          <a:xfrm>
            <a:off x="11734800" y="6125567"/>
            <a:ext cx="5636895" cy="359966"/>
          </a:xfrm>
          <a:prstGeom prst="rect">
            <a:avLst/>
          </a:prstGeom>
          <a:noFill/>
          <a:ln/>
        </p:spPr>
        <p:txBody>
          <a:bodyPr wrap="square" lIns="25400" tIns="25400" rIns="25400" bIns="25400" rtlCol="0" anchor="t">
            <a:normAutofit/>
          </a:bodyPr>
          <a:lstStyle/>
          <a:p>
            <a:pPr algn="l" indent="0" marL="0">
              <a:lnSpc>
                <a:spcPct val="115227"/>
              </a:lnSpc>
              <a:buNone/>
            </a:pPr>
            <a:r>
              <a:rPr lang="en-US" sz="1950" dirty="0">
                <a:solidFill>
                  <a:srgbClr val="FFFFFF"/>
                </a:solidFill>
                <a:latin typeface="Arial" pitchFamily="34" charset="0"/>
                <a:ea typeface="Arial" pitchFamily="34" charset="-122"/>
                <a:cs typeface="Arial" pitchFamily="34" charset="-120"/>
              </a:rPr>
              <a:t>3, competent. Needs only a spot check.</a:t>
            </a:r>
            <a:endParaRPr lang="en-US" sz="1950" dirty="0"/>
          </a:p>
        </p:txBody>
      </p:sp>
      <p:sp>
        <p:nvSpPr>
          <p:cNvPr id="33" name="Shape 29"/>
          <p:cNvSpPr/>
          <p:nvPr/>
        </p:nvSpPr>
        <p:spPr>
          <a:xfrm>
            <a:off x="9620250" y="6977658"/>
            <a:ext cx="7239000" cy="9525"/>
          </a:xfrm>
          <a:prstGeom prst="rect">
            <a:avLst/>
          </a:prstGeom>
          <a:solidFill>
            <a:srgbClr val="FFFFFF">
              <a:alpha val="28000"/>
            </a:srgbClr>
          </a:solidFill>
          <a:ln/>
        </p:spPr>
      </p:sp>
      <p:sp>
        <p:nvSpPr>
          <p:cNvPr id="34" name="Text 30"/>
          <p:cNvSpPr/>
          <p:nvPr/>
        </p:nvSpPr>
        <p:spPr>
          <a:xfrm>
            <a:off x="9620250" y="7117358"/>
            <a:ext cx="20955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FFFFFF">
                    <a:alpha val="60000"/>
                  </a:srgbClr>
                </a:solidFill>
                <a:latin typeface="Arial" pitchFamily="34" charset="0"/>
                <a:ea typeface="Arial" pitchFamily="34" charset="-122"/>
                <a:cs typeface="Arial" pitchFamily="34" charset="-120"/>
              </a:rPr>
              <a:t>ASSESSED BY</a:t>
            </a:r>
            <a:endParaRPr lang="en-US" sz="1800" dirty="0"/>
          </a:p>
        </p:txBody>
      </p:sp>
      <p:sp>
        <p:nvSpPr>
          <p:cNvPr id="35" name="Text 31"/>
          <p:cNvSpPr/>
          <p:nvPr/>
        </p:nvSpPr>
        <p:spPr>
          <a:xfrm>
            <a:off x="11734800" y="7130058"/>
            <a:ext cx="5636895" cy="359966"/>
          </a:xfrm>
          <a:prstGeom prst="rect">
            <a:avLst/>
          </a:prstGeom>
          <a:noFill/>
          <a:ln/>
        </p:spPr>
        <p:txBody>
          <a:bodyPr wrap="square" lIns="25400" tIns="25400" rIns="25400" bIns="25400" rtlCol="0" anchor="t">
            <a:normAutofit/>
          </a:bodyPr>
          <a:lstStyle/>
          <a:p>
            <a:pPr algn="l" indent="0" marL="0">
              <a:lnSpc>
                <a:spcPct val="115227"/>
              </a:lnSpc>
              <a:buNone/>
            </a:pPr>
            <a:r>
              <a:rPr lang="en-US" sz="1950" dirty="0">
                <a:solidFill>
                  <a:srgbClr val="FFFFFF"/>
                </a:solidFill>
                <a:latin typeface="Arial" pitchFamily="34" charset="0"/>
                <a:ea typeface="Arial" pitchFamily="34" charset="-122"/>
                <a:cs typeface="Arial" pitchFamily="34" charset="-120"/>
              </a:rPr>
              <a:t>The same evaluator, the same standard</a:t>
            </a:r>
            <a:endParaRPr lang="en-US" sz="1950" dirty="0"/>
          </a:p>
        </p:txBody>
      </p:sp>
      <p:sp>
        <p:nvSpPr>
          <p:cNvPr id="36" name="Text 32"/>
          <p:cNvSpPr/>
          <p:nvPr/>
        </p:nvSpPr>
        <p:spPr>
          <a:xfrm>
            <a:off x="1143000" y="8092678"/>
            <a:ext cx="16482060" cy="731441"/>
          </a:xfrm>
          <a:prstGeom prst="rect">
            <a:avLst/>
          </a:prstGeom>
          <a:noFill/>
          <a:ln/>
        </p:spPr>
        <p:txBody>
          <a:bodyPr wrap="square" lIns="25400" tIns="25400" rIns="25400" bIns="25400" rtlCol="0" anchor="t">
            <a:normAutofit/>
          </a:bodyPr>
          <a:lstStyle/>
          <a:p>
            <a:pPr algn="l" indent="0" marL="0">
              <a:lnSpc>
                <a:spcPct val="113750"/>
              </a:lnSpc>
              <a:buNone/>
            </a:pPr>
            <a:r>
              <a:rPr lang="en-US" sz="2100" b="1" dirty="0">
                <a:solidFill>
                  <a:srgbClr val="000000"/>
                </a:solidFill>
                <a:latin typeface="Arial" pitchFamily="34" charset="0"/>
                <a:ea typeface="Arial" pitchFamily="34" charset="-122"/>
                <a:cs typeface="Arial" pitchFamily="34" charset="-120"/>
              </a:rPr>
              <a:t>Assessed before the task and after it. Fifteen minutes each. Not heavy. Same instrument both times, and the delta is the deliverable, not the certificate. </a:t>
            </a:r>
            <a:pPr algn="l" indent="0" marL="0">
              <a:lnSpc>
                <a:spcPct val="113750"/>
              </a:lnSpc>
              <a:buNone/>
            </a:pPr>
            <a:r>
              <a:rPr lang="en-US" sz="2100" b="1" dirty="0">
                <a:solidFill>
                  <a:srgbClr val="7500C0"/>
                </a:solidFill>
                <a:latin typeface="Arial" pitchFamily="34" charset="0"/>
                <a:ea typeface="Arial" pitchFamily="34" charset="-122"/>
                <a:cs typeface="Arial" pitchFamily="34" charset="-120"/>
              </a:rPr>
              <a:t>Your plan is not asking for a new kind of proof. It is asking why AI is the one skill we were going to take on self-report.</a:t>
            </a:r>
            <a:endParaRPr lang="en-US" sz="2100" dirty="0"/>
          </a:p>
        </p:txBody>
      </p:sp>
      <p:sp>
        <p:nvSpPr>
          <p:cNvPr id="37" name="Text 33"/>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38" name="Text 34"/>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39" name="Text 35"/>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000E"/>
        </a:solidFill>
      </p:bgPr>
    </p:bg>
    <p:spTree>
      <p:nvGrpSpPr>
        <p:cNvPr id="1" name=""/>
        <p:cNvGrpSpPr/>
        <p:nvPr/>
      </p:nvGrpSpPr>
      <p:grpSpPr>
        <a:xfrm>
          <a:off x="0" y="0"/>
          <a:ext cx="0" cy="0"/>
          <a:chOff x="0" y="0"/>
          <a:chExt cx="0" cy="0"/>
        </a:xfrm>
      </p:grpSpPr>
      <p:sp>
        <p:nvSpPr>
          <p:cNvPr id="2" name="Text 0"/>
          <p:cNvSpPr/>
          <p:nvPr/>
        </p:nvSpPr>
        <p:spPr>
          <a:xfrm>
            <a:off x="952500" y="609600"/>
            <a:ext cx="360939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DCAFFF"/>
                </a:solidFill>
                <a:latin typeface="Arial" pitchFamily="34" charset="0"/>
                <a:ea typeface="Arial" pitchFamily="34" charset="-122"/>
                <a:cs typeface="Arial" pitchFamily="34" charset="-120"/>
              </a:rPr>
              <a:t>TRAINING MOMENT TWO</a:t>
            </a:r>
            <a:endParaRPr lang="en-US" sz="1800" dirty="0"/>
          </a:p>
        </p:txBody>
      </p:sp>
      <p:sp>
        <p:nvSpPr>
          <p:cNvPr id="3" name="Text 1"/>
          <p:cNvSpPr/>
          <p:nvPr/>
        </p:nvSpPr>
        <p:spPr>
          <a:xfrm>
            <a:off x="952500" y="1108670"/>
            <a:ext cx="12102495" cy="520005"/>
          </a:xfrm>
          <a:prstGeom prst="rect">
            <a:avLst/>
          </a:prstGeom>
          <a:noFill/>
          <a:ln/>
        </p:spPr>
        <p:txBody>
          <a:bodyPr wrap="square" lIns="25400" tIns="25400" rIns="25400" bIns="25400" rtlCol="0" anchor="t">
            <a:normAutofit/>
          </a:bodyPr>
          <a:lstStyle/>
          <a:p>
            <a:pPr algn="l" indent="0" marL="0">
              <a:lnSpc>
                <a:spcPct val="96076"/>
              </a:lnSpc>
              <a:buNone/>
            </a:pPr>
            <a:r>
              <a:rPr lang="en-US" sz="3450" b="1" spc="-69" kern="0" dirty="0">
                <a:solidFill>
                  <a:srgbClr val="FFFFFF"/>
                </a:solidFill>
                <a:latin typeface="Arial" pitchFamily="34" charset="0"/>
                <a:ea typeface="Arial" pitchFamily="34" charset="-122"/>
                <a:cs typeface="Arial" pitchFamily="34" charset="-120"/>
              </a:rPr>
              <a:t>The system will not surface what you are not cleared to see</a:t>
            </a:r>
            <a:endParaRPr lang="en-US" sz="3450" dirty="0"/>
          </a:p>
        </p:txBody>
      </p:sp>
      <p:sp>
        <p:nvSpPr>
          <p:cNvPr id="4" name="Text 2"/>
          <p:cNvSpPr/>
          <p:nvPr/>
        </p:nvSpPr>
        <p:spPr>
          <a:xfrm>
            <a:off x="952500" y="1723926"/>
            <a:ext cx="12102495"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FFFFFF">
                    <a:alpha val="70000"/>
                  </a:srgbClr>
                </a:solidFill>
                <a:latin typeface="Arial" pitchFamily="34" charset="0"/>
                <a:ea typeface="Arial" pitchFamily="34" charset="-122"/>
                <a:cs typeface="Arial" pitchFamily="34" charset="-120"/>
              </a:rPr>
              <a:t>Infrastructure-level guardrails, running.</a:t>
            </a:r>
            <a:endParaRPr lang="en-US" sz="1800" dirty="0"/>
          </a:p>
        </p:txBody>
      </p:sp>
      <p:pic>
        <p:nvPicPr>
          <p:cNvPr id="5" name="Image 0" descr="preencoded.png">    </p:cNvPr>
          <p:cNvPicPr>
            <a:picLocks noChangeAspect="1"/>
          </p:cNvPicPr>
          <p:nvPr/>
        </p:nvPicPr>
        <p:blipFill>
          <a:blip r:embed="rId1"/>
          <a:stretch>
            <a:fillRect/>
          </a:stretch>
        </p:blipFill>
        <p:spPr>
          <a:xfrm>
            <a:off x="16323370" y="1689596"/>
            <a:ext cx="1012131" cy="266700"/>
          </a:xfrm>
          <a:prstGeom prst="rect">
            <a:avLst/>
          </a:prstGeom>
        </p:spPr>
      </p:pic>
      <p:sp>
        <p:nvSpPr>
          <p:cNvPr id="6" name="Shape 3"/>
          <p:cNvSpPr/>
          <p:nvPr/>
        </p:nvSpPr>
        <p:spPr>
          <a:xfrm>
            <a:off x="952500" y="2261096"/>
            <a:ext cx="16383000" cy="3862387"/>
          </a:xfrm>
          <a:prstGeom prst="rect">
            <a:avLst/>
          </a:prstGeom>
          <a:ln w="6350">
            <a:solidFill>
              <a:srgbClr val="A100FF">
                <a:alpha val="40000"/>
              </a:srgbClr>
            </a:solidFill>
            <a:prstDash val="solid"/>
          </a:ln>
        </p:spPr>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29700" y="4068465"/>
            <a:ext cx="228600" cy="247650"/>
          </a:xfrm>
          <a:prstGeom prst="rect">
            <a:avLst/>
          </a:prstGeom>
        </p:spPr>
      </p:pic>
      <p:sp>
        <p:nvSpPr>
          <p:cNvPr id="8" name="Text 4"/>
          <p:cNvSpPr/>
          <p:nvPr/>
        </p:nvSpPr>
        <p:spPr>
          <a:xfrm>
            <a:off x="952500" y="6237784"/>
            <a:ext cx="16484273" cy="34667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FFFFFF">
                    <a:alpha val="85000"/>
                  </a:srgbClr>
                </a:solidFill>
                <a:latin typeface="Arial" pitchFamily="34" charset="0"/>
                <a:ea typeface="Arial" pitchFamily="34" charset="-122"/>
                <a:cs typeface="Arial" pitchFamily="34" charset="-120"/>
              </a:rPr>
              <a:t>Role-aware retrieval over a corpus with restricted content. Same mechanism for cyber defenders: different playbooks, the same enforcement.</a:t>
            </a:r>
            <a:endParaRPr lang="en-US" sz="1800" dirty="0"/>
          </a:p>
        </p:txBody>
      </p:sp>
      <p:sp>
        <p:nvSpPr>
          <p:cNvPr id="9" name="Shape 5"/>
          <p:cNvSpPr/>
          <p:nvPr/>
        </p:nvSpPr>
        <p:spPr>
          <a:xfrm>
            <a:off x="952500" y="6736854"/>
            <a:ext cx="16383000" cy="1810643"/>
          </a:xfrm>
          <a:prstGeom prst="rect">
            <a:avLst/>
          </a:prstGeom>
          <a:solidFill>
            <a:srgbClr val="FFFFFF">
              <a:alpha val="8000"/>
            </a:srgbClr>
          </a:solidFill>
          <a:ln/>
        </p:spPr>
      </p:sp>
      <p:sp>
        <p:nvSpPr>
          <p:cNvPr id="10" name="Text 6"/>
          <p:cNvSpPr/>
          <p:nvPr/>
        </p:nvSpPr>
        <p:spPr>
          <a:xfrm>
            <a:off x="1257300" y="6965454"/>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DCAFFF"/>
                </a:solidFill>
                <a:latin typeface="Courier New" pitchFamily="34" charset="0"/>
                <a:ea typeface="Courier New" pitchFamily="34" charset="-122"/>
                <a:cs typeface="Courier New" pitchFamily="34" charset="-120"/>
              </a:rPr>
              <a:t>01</a:t>
            </a:r>
            <a:endParaRPr lang="en-US" sz="1800" dirty="0"/>
          </a:p>
        </p:txBody>
      </p:sp>
      <p:sp>
        <p:nvSpPr>
          <p:cNvPr id="11" name="Text 7"/>
          <p:cNvSpPr/>
          <p:nvPr/>
        </p:nvSpPr>
        <p:spPr>
          <a:xfrm>
            <a:off x="1665089" y="6978154"/>
            <a:ext cx="4733891" cy="1378843"/>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FFFFFF">
                    <a:alpha val="90000"/>
                  </a:srgbClr>
                </a:solidFill>
                <a:latin typeface="Arial" pitchFamily="34" charset="0"/>
                <a:ea typeface="Arial" pitchFamily="34" charset="-122"/>
                <a:cs typeface="Arial" pitchFamily="34" charset="-120"/>
              </a:rPr>
              <a:t>A document with restricted content enters the corpus. Sensitive content is redacted before ingestion, not after retrieval. </a:t>
            </a:r>
            <a:pPr algn="l" indent="0" marL="0">
              <a:lnSpc>
                <a:spcPct val="119659"/>
              </a:lnSpc>
              <a:buNone/>
            </a:pPr>
            <a:r>
              <a:rPr lang="en-US" sz="1800" dirty="0">
                <a:solidFill>
                  <a:srgbClr val="DCAFFF"/>
                </a:solidFill>
                <a:latin typeface="Courier New" pitchFamily="34" charset="0"/>
                <a:ea typeface="Courier New" pitchFamily="34" charset="-122"/>
                <a:cs typeface="Courier New" pitchFamily="34" charset="-120"/>
              </a:rPr>
              <a:t>S18</a:t>
            </a:r>
            <a:endParaRPr lang="en-US" sz="1950" dirty="0"/>
          </a:p>
        </p:txBody>
      </p:sp>
      <p:sp>
        <p:nvSpPr>
          <p:cNvPr id="12" name="Text 8"/>
          <p:cNvSpPr/>
          <p:nvPr/>
        </p:nvSpPr>
        <p:spPr>
          <a:xfrm>
            <a:off x="6642100" y="6965454"/>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DCAFFF"/>
                </a:solidFill>
                <a:latin typeface="Courier New" pitchFamily="34" charset="0"/>
                <a:ea typeface="Courier New" pitchFamily="34" charset="-122"/>
                <a:cs typeface="Courier New" pitchFamily="34" charset="-120"/>
              </a:rPr>
              <a:t>02</a:t>
            </a:r>
            <a:endParaRPr lang="en-US" sz="1800" dirty="0"/>
          </a:p>
        </p:txBody>
      </p:sp>
      <p:sp>
        <p:nvSpPr>
          <p:cNvPr id="13" name="Text 9"/>
          <p:cNvSpPr/>
          <p:nvPr/>
        </p:nvSpPr>
        <p:spPr>
          <a:xfrm>
            <a:off x="7049889" y="6978154"/>
            <a:ext cx="4733891" cy="1040904"/>
          </a:xfrm>
          <a:prstGeom prst="rect">
            <a:avLst/>
          </a:prstGeom>
          <a:noFill/>
          <a:ln/>
        </p:spPr>
        <p:txBody>
          <a:bodyPr wrap="square" lIns="25400" tIns="25400" rIns="25400" bIns="25400" rtlCol="0" anchor="t">
            <a:normAutofit/>
          </a:bodyPr>
          <a:lstStyle/>
          <a:p>
            <a:pPr algn="l" indent="0" marL="0">
              <a:lnSpc>
                <a:spcPct val="119659"/>
              </a:lnSpc>
              <a:buNone/>
            </a:pPr>
            <a:r>
              <a:rPr lang="en-US" sz="1950" dirty="0">
                <a:solidFill>
                  <a:srgbClr val="FFFFFF">
                    <a:alpha val="90000"/>
                  </a:srgbClr>
                </a:solidFill>
                <a:latin typeface="Arial" pitchFamily="34" charset="0"/>
                <a:ea typeface="Arial" pitchFamily="34" charset="-122"/>
                <a:cs typeface="Arial" pitchFamily="34" charset="-120"/>
              </a:rPr>
              <a:t>Two users ask the same question. Retrieval is filtered by role, at retrieval time.</a:t>
            </a:r>
            <a:endParaRPr lang="en-US" sz="1950" dirty="0"/>
          </a:p>
        </p:txBody>
      </p:sp>
      <p:sp>
        <p:nvSpPr>
          <p:cNvPr id="14" name="Text 10"/>
          <p:cNvSpPr/>
          <p:nvPr/>
        </p:nvSpPr>
        <p:spPr>
          <a:xfrm>
            <a:off x="12026901" y="6965454"/>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03</a:t>
            </a:r>
            <a:endParaRPr lang="en-US" sz="1800" dirty="0"/>
          </a:p>
        </p:txBody>
      </p:sp>
      <p:sp>
        <p:nvSpPr>
          <p:cNvPr id="15" name="Text 11"/>
          <p:cNvSpPr/>
          <p:nvPr/>
        </p:nvSpPr>
        <p:spPr>
          <a:xfrm>
            <a:off x="12434690" y="6984504"/>
            <a:ext cx="4733891" cy="1040904"/>
          </a:xfrm>
          <a:prstGeom prst="rect">
            <a:avLst/>
          </a:prstGeom>
          <a:noFill/>
          <a:ln/>
        </p:spPr>
        <p:txBody>
          <a:bodyPr wrap="square" lIns="25400" tIns="25400" rIns="25400" bIns="25400" rtlCol="0" anchor="t">
            <a:normAutofit/>
          </a:bodyPr>
          <a:lstStyle/>
          <a:p>
            <a:pPr algn="l" indent="0" marL="0">
              <a:lnSpc>
                <a:spcPct val="119659"/>
              </a:lnSpc>
              <a:buNone/>
            </a:pPr>
            <a:r>
              <a:rPr lang="en-US" sz="1950" b="1" dirty="0">
                <a:solidFill>
                  <a:srgbClr val="A100FF"/>
                </a:solidFill>
                <a:latin typeface="Arial" pitchFamily="34" charset="0"/>
                <a:ea typeface="Arial" pitchFamily="34" charset="-122"/>
                <a:cs typeface="Arial" pitchFamily="34" charset="-120"/>
              </a:rPr>
              <a:t>The restricted passage never enters the second user’s context. The attempt is logged. </a:t>
            </a:r>
            <a:pPr algn="l" indent="0" marL="0">
              <a:lnSpc>
                <a:spcPct val="119659"/>
              </a:lnSpc>
              <a:buNone/>
            </a:pPr>
            <a:r>
              <a:rPr lang="en-US" sz="1800" dirty="0">
                <a:solidFill>
                  <a:srgbClr val="DCAFFF"/>
                </a:solidFill>
                <a:latin typeface="Courier New" pitchFamily="34" charset="0"/>
                <a:ea typeface="Courier New" pitchFamily="34" charset="-122"/>
                <a:cs typeface="Courier New" pitchFamily="34" charset="-120"/>
              </a:rPr>
              <a:t>S19</a:t>
            </a:r>
            <a:endParaRPr lang="en-US" sz="1950" dirty="0"/>
          </a:p>
        </p:txBody>
      </p:sp>
      <p:sp>
        <p:nvSpPr>
          <p:cNvPr id="16" name="Shape 12"/>
          <p:cNvSpPr/>
          <p:nvPr/>
        </p:nvSpPr>
        <p:spPr>
          <a:xfrm>
            <a:off x="952500" y="8680847"/>
            <a:ext cx="16383000" cy="1072753"/>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pic>
        <p:nvPicPr>
          <p:cNvPr id="1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7300" y="8938022"/>
            <a:ext cx="209550" cy="219075"/>
          </a:xfrm>
          <a:prstGeom prst="rect">
            <a:avLst/>
          </a:prstGeom>
        </p:spPr>
      </p:pic>
      <p:sp>
        <p:nvSpPr>
          <p:cNvPr id="18" name="Text 13"/>
          <p:cNvSpPr/>
          <p:nvPr/>
        </p:nvSpPr>
        <p:spPr>
          <a:xfrm>
            <a:off x="1657350" y="8890397"/>
            <a:ext cx="15834551" cy="691753"/>
          </a:xfrm>
          <a:prstGeom prst="rect">
            <a:avLst/>
          </a:prstGeom>
          <a:noFill/>
          <a:ln/>
        </p:spPr>
        <p:txBody>
          <a:bodyPr wrap="square" lIns="25400" tIns="25400" rIns="25400" bIns="25400" rtlCol="0" anchor="t">
            <a:normAutofit/>
          </a:bodyPr>
          <a:lstStyle/>
          <a:p>
            <a:pPr algn="l" indent="0" marL="0">
              <a:lnSpc>
                <a:spcPct val="117000"/>
              </a:lnSpc>
              <a:buNone/>
            </a:pPr>
            <a:r>
              <a:rPr lang="en-US" sz="1950" b="1" dirty="0">
                <a:solidFill>
                  <a:srgbClr val="FFFFFF"/>
                </a:solidFill>
                <a:latin typeface="Arial" pitchFamily="34" charset="0"/>
                <a:ea typeface="Arial" pitchFamily="34" charset="-122"/>
                <a:cs typeface="Arial" pitchFamily="34" charset="-120"/>
              </a:rPr>
              <a:t>Nothing here asked the model to behave. The redaction happened before it saw the document, the filter happened before retrieval returned, and the refusal was logged. Enforcement sits where the model cannot reach it.</a:t>
            </a:r>
            <a:endParaRPr lang="en-US" sz="1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1447532"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THE PATH</a:t>
            </a:r>
            <a:endParaRPr lang="en-US" sz="1800" dirty="0"/>
          </a:p>
        </p:txBody>
      </p:sp>
      <p:sp>
        <p:nvSpPr>
          <p:cNvPr id="3" name="Shape 1"/>
          <p:cNvSpPr/>
          <p:nvPr/>
        </p:nvSpPr>
        <p:spPr>
          <a:xfrm>
            <a:off x="2611338" y="906760"/>
            <a:ext cx="9525" cy="152400"/>
          </a:xfrm>
          <a:prstGeom prst="rect">
            <a:avLst/>
          </a:prstGeom>
          <a:solidFill>
            <a:srgbClr val="C8C8C2"/>
          </a:solidFill>
          <a:ln/>
        </p:spPr>
      </p:sp>
      <p:sp>
        <p:nvSpPr>
          <p:cNvPr id="4" name="Text 2"/>
          <p:cNvSpPr/>
          <p:nvPr/>
        </p:nvSpPr>
        <p:spPr>
          <a:xfrm>
            <a:off x="2773263" y="800100"/>
            <a:ext cx="1412825"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BREADTH</a:t>
            </a:r>
            <a:endParaRPr lang="en-US" sz="1800" dirty="0"/>
          </a:p>
        </p:txBody>
      </p:sp>
      <p:pic>
        <p:nvPicPr>
          <p:cNvPr id="5"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6" name="Text 3"/>
          <p:cNvSpPr/>
          <p:nvPr/>
        </p:nvSpPr>
        <p:spPr>
          <a:xfrm>
            <a:off x="1143000" y="1584920"/>
            <a:ext cx="1697355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Adaptive digital training</a:t>
            </a:r>
            <a:endParaRPr lang="en-US" sz="4200" dirty="0"/>
          </a:p>
        </p:txBody>
      </p:sp>
      <p:sp>
        <p:nvSpPr>
          <p:cNvPr id="7" name="Text 4"/>
          <p:cNvSpPr/>
          <p:nvPr/>
        </p:nvSpPr>
        <p:spPr>
          <a:xfrm>
            <a:off x="1143000" y="2446734"/>
            <a:ext cx="7446972" cy="806053"/>
          </a:xfrm>
          <a:prstGeom prst="rect">
            <a:avLst/>
          </a:prstGeom>
          <a:noFill/>
          <a:ln/>
        </p:spPr>
        <p:txBody>
          <a:bodyPr wrap="square" lIns="25400" tIns="25400" rIns="25400" bIns="25400" rtlCol="0" anchor="t">
            <a:normAutofit/>
          </a:bodyPr>
          <a:lstStyle/>
          <a:p>
            <a:pPr algn="l" indent="0" marL="0">
              <a:lnSpc>
                <a:spcPct val="109964"/>
              </a:lnSpc>
              <a:buNone/>
            </a:pPr>
            <a:r>
              <a:rPr lang="en-US" sz="2400" b="1" dirty="0">
                <a:solidFill>
                  <a:srgbClr val="000000"/>
                </a:solidFill>
                <a:latin typeface="Arial" pitchFamily="34" charset="0"/>
                <a:ea typeface="Arial" pitchFamily="34" charset="-122"/>
                <a:cs typeface="Arial" pitchFamily="34" charset="-120"/>
              </a:rPr>
              <a:t>Self-paced role paths, at scale, across the whole force.</a:t>
            </a:r>
            <a:endParaRPr lang="en-US" sz="2400" dirty="0"/>
          </a:p>
        </p:txBody>
      </p:sp>
      <p:sp>
        <p:nvSpPr>
          <p:cNvPr id="8" name="Text 5"/>
          <p:cNvSpPr/>
          <p:nvPr/>
        </p:nvSpPr>
        <p:spPr>
          <a:xfrm>
            <a:off x="1143000" y="3386138"/>
            <a:ext cx="7446972" cy="691753"/>
          </a:xfrm>
          <a:prstGeom prst="rect">
            <a:avLst/>
          </a:prstGeom>
          <a:noFill/>
          <a:ln/>
        </p:spPr>
        <p:txBody>
          <a:bodyPr wrap="square" lIns="25400" tIns="25400" rIns="25400" bIns="25400" rtlCol="0" anchor="t">
            <a:normAutofit/>
          </a:bodyPr>
          <a:lstStyle/>
          <a:p>
            <a:pPr algn="l" indent="0" marL="0">
              <a:lnSpc>
                <a:spcPct val="117000"/>
              </a:lnSpc>
              <a:buNone/>
            </a:pPr>
            <a:r>
              <a:rPr lang="en-US" sz="1950" b="1" dirty="0">
                <a:solidFill>
                  <a:srgbClr val="460073"/>
                </a:solidFill>
                <a:latin typeface="Arial" pitchFamily="34" charset="0"/>
                <a:ea typeface="Arial" pitchFamily="34" charset="-122"/>
                <a:cs typeface="Arial" pitchFamily="34" charset="-120"/>
              </a:rPr>
              <a:t>Knowledge acquisition, and knowledge in the context of a specific workflow. Stage one, and part of stage two.</a:t>
            </a:r>
            <a:endParaRPr lang="en-US" sz="1950" dirty="0"/>
          </a:p>
        </p:txBody>
      </p:sp>
      <p:sp>
        <p:nvSpPr>
          <p:cNvPr id="9" name="Text 6"/>
          <p:cNvSpPr/>
          <p:nvPr/>
        </p:nvSpPr>
        <p:spPr>
          <a:xfrm>
            <a:off x="1143000" y="4249341"/>
            <a:ext cx="7953077" cy="449560"/>
          </a:xfrm>
          <a:prstGeom prst="rect">
            <a:avLst/>
          </a:prstGeom>
          <a:noFill/>
          <a:ln/>
        </p:spPr>
        <p:txBody>
          <a:bodyPr wrap="square" lIns="25400" tIns="25400" rIns="25400" bIns="25400" rtlCol="0" anchor="t">
            <a:normAutofit/>
          </a:bodyPr>
          <a:lstStyle/>
          <a:p>
            <a:pPr algn="l" indent="0" marL="0">
              <a:lnSpc>
                <a:spcPct val="137872"/>
              </a:lnSpc>
              <a:buNone/>
            </a:pPr>
            <a:r>
              <a:rPr lang="en-US" sz="2025" b="1" spc="-40" kern="0" dirty="0">
                <a:solidFill>
                  <a:srgbClr val="000000"/>
                </a:solidFill>
                <a:latin typeface="Arial" pitchFamily="34" charset="0"/>
                <a:ea typeface="Arial" pitchFamily="34" charset="-122"/>
                <a:cs typeface="Arial" pitchFamily="34" charset="-120"/>
              </a:rPr>
              <a:t>Udacity for Government</a:t>
            </a:r>
            <a:endParaRPr lang="en-US" sz="2025" dirty="0"/>
          </a:p>
        </p:txBody>
      </p:sp>
      <p:sp>
        <p:nvSpPr>
          <p:cNvPr id="10" name="Text 7"/>
          <p:cNvSpPr/>
          <p:nvPr/>
        </p:nvSpPr>
        <p:spPr>
          <a:xfrm>
            <a:off x="1143000" y="4698901"/>
            <a:ext cx="7953077"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7500C0"/>
                </a:solidFill>
                <a:latin typeface="Courier New" pitchFamily="34" charset="0"/>
                <a:ea typeface="Courier New" pitchFamily="34" charset="-122"/>
                <a:cs typeface="Courier New" pitchFamily="34" charset="-120"/>
              </a:rPr>
              <a:t>udacity.com/government/overview</a:t>
            </a:r>
            <a:endParaRPr lang="en-US" sz="1800" dirty="0"/>
          </a:p>
        </p:txBody>
      </p:sp>
      <p:sp>
        <p:nvSpPr>
          <p:cNvPr id="11" name="Shape 8"/>
          <p:cNvSpPr/>
          <p:nvPr/>
        </p:nvSpPr>
        <p:spPr>
          <a:xfrm>
            <a:off x="8830270" y="2446734"/>
            <a:ext cx="8314631" cy="5482928"/>
          </a:xfrm>
          <a:prstGeom prst="rect">
            <a:avLst/>
          </a:prstGeom>
          <a:ln w="6350">
            <a:solidFill>
              <a:srgbClr val="C8C8C2"/>
            </a:solidFill>
            <a:prstDash val="solid"/>
          </a:ln>
        </p:spPr>
      </p:sp>
      <p:sp>
        <p:nvSpPr>
          <p:cNvPr id="12" name="Shape 9"/>
          <p:cNvSpPr/>
          <p:nvPr/>
        </p:nvSpPr>
        <p:spPr>
          <a:xfrm>
            <a:off x="1143000" y="8158262"/>
            <a:ext cx="16002000" cy="791468"/>
          </a:xfrm>
          <a:prstGeom prst="rect">
            <a:avLst/>
          </a:prstGeom>
          <a:solidFill>
            <a:srgbClr val="250038"/>
          </a:solidFill>
          <a:ln/>
        </p:spPr>
      </p:sp>
      <p:pic>
        <p:nvPicPr>
          <p:cNvPr id="1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85900" y="8444409"/>
            <a:ext cx="209550" cy="219075"/>
          </a:xfrm>
          <a:prstGeom prst="rect">
            <a:avLst/>
          </a:prstGeom>
        </p:spPr>
      </p:pic>
      <p:sp>
        <p:nvSpPr>
          <p:cNvPr id="14" name="Text 10"/>
          <p:cNvSpPr/>
          <p:nvPr/>
        </p:nvSpPr>
        <p:spPr>
          <a:xfrm>
            <a:off x="1905000" y="8386862"/>
            <a:ext cx="14996687" cy="372368"/>
          </a:xfrm>
          <a:prstGeom prst="rect">
            <a:avLst/>
          </a:prstGeom>
          <a:noFill/>
          <a:ln/>
        </p:spPr>
        <p:txBody>
          <a:bodyPr wrap="square" lIns="25400" tIns="25400" rIns="25400" bIns="25400" rtlCol="0" anchor="t">
            <a:normAutofit/>
          </a:bodyPr>
          <a:lstStyle/>
          <a:p>
            <a:pPr algn="l" indent="0" marL="0">
              <a:lnSpc>
                <a:spcPct val="112021"/>
              </a:lnSpc>
              <a:buNone/>
            </a:pPr>
            <a:r>
              <a:rPr lang="en-US" sz="2025" b="1" dirty="0">
                <a:solidFill>
                  <a:srgbClr val="FFFFFF"/>
                </a:solidFill>
                <a:latin typeface="Arial" pitchFamily="34" charset="0"/>
                <a:ea typeface="Arial" pitchFamily="34" charset="-122"/>
                <a:cs typeface="Arial" pitchFamily="34" charset="-120"/>
              </a:rPr>
              <a:t>Both modes serve both tracks. The stage decides which you need, not whether the person is an operator or a specialist.</a:t>
            </a:r>
            <a:endParaRPr lang="en-US" sz="2025" dirty="0"/>
          </a:p>
        </p:txBody>
      </p:sp>
      <p:sp>
        <p:nvSpPr>
          <p:cNvPr id="15" name="Text 11"/>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16" name="Text 12"/>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17" name="Text 13"/>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1447532"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THE PATH</a:t>
            </a:r>
            <a:endParaRPr lang="en-US" sz="1800" dirty="0"/>
          </a:p>
        </p:txBody>
      </p:sp>
      <p:sp>
        <p:nvSpPr>
          <p:cNvPr id="3" name="Shape 1"/>
          <p:cNvSpPr/>
          <p:nvPr/>
        </p:nvSpPr>
        <p:spPr>
          <a:xfrm>
            <a:off x="2611338" y="906760"/>
            <a:ext cx="9525" cy="152400"/>
          </a:xfrm>
          <a:prstGeom prst="rect">
            <a:avLst/>
          </a:prstGeom>
          <a:solidFill>
            <a:srgbClr val="C8C8C2"/>
          </a:solidFill>
          <a:ln/>
        </p:spPr>
      </p:sp>
      <p:sp>
        <p:nvSpPr>
          <p:cNvPr id="4" name="Text 2"/>
          <p:cNvSpPr/>
          <p:nvPr/>
        </p:nvSpPr>
        <p:spPr>
          <a:xfrm>
            <a:off x="2773263" y="800100"/>
            <a:ext cx="988219"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DEPTH</a:t>
            </a:r>
            <a:endParaRPr lang="en-US" sz="1800" dirty="0"/>
          </a:p>
        </p:txBody>
      </p:sp>
      <p:pic>
        <p:nvPicPr>
          <p:cNvPr id="5"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6" name="Text 3"/>
          <p:cNvSpPr/>
          <p:nvPr/>
        </p:nvSpPr>
        <p:spPr>
          <a:xfrm>
            <a:off x="1143000" y="1584920"/>
            <a:ext cx="1697355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Hands-on instructor-led technical skilling</a:t>
            </a:r>
            <a:endParaRPr lang="en-US" sz="4200" dirty="0"/>
          </a:p>
        </p:txBody>
      </p:sp>
      <p:sp>
        <p:nvSpPr>
          <p:cNvPr id="7" name="Text 4"/>
          <p:cNvSpPr/>
          <p:nvPr/>
        </p:nvSpPr>
        <p:spPr>
          <a:xfrm>
            <a:off x="1143000" y="2446734"/>
            <a:ext cx="7446972" cy="806053"/>
          </a:xfrm>
          <a:prstGeom prst="rect">
            <a:avLst/>
          </a:prstGeom>
          <a:noFill/>
          <a:ln/>
        </p:spPr>
        <p:txBody>
          <a:bodyPr wrap="square" lIns="25400" tIns="25400" rIns="25400" bIns="25400" rtlCol="0" anchor="t">
            <a:normAutofit/>
          </a:bodyPr>
          <a:lstStyle/>
          <a:p>
            <a:pPr algn="l" indent="0" marL="0">
              <a:lnSpc>
                <a:spcPct val="109964"/>
              </a:lnSpc>
              <a:buNone/>
            </a:pPr>
            <a:r>
              <a:rPr lang="en-US" sz="2400" b="1" dirty="0">
                <a:solidFill>
                  <a:srgbClr val="000000"/>
                </a:solidFill>
                <a:latin typeface="Arial" pitchFamily="34" charset="0"/>
                <a:ea typeface="Arial" pitchFamily="34" charset="-122"/>
                <a:cs typeface="Arial" pitchFamily="34" charset="-120"/>
              </a:rPr>
              <a:t>Instructor-led, lab-based technical practice, where a mistake costs nothing.</a:t>
            </a:r>
            <a:endParaRPr lang="en-US" sz="2400" dirty="0"/>
          </a:p>
        </p:txBody>
      </p:sp>
      <p:sp>
        <p:nvSpPr>
          <p:cNvPr id="8" name="Text 5"/>
          <p:cNvSpPr/>
          <p:nvPr/>
        </p:nvSpPr>
        <p:spPr>
          <a:xfrm>
            <a:off x="1143000" y="3386138"/>
            <a:ext cx="7446972" cy="691753"/>
          </a:xfrm>
          <a:prstGeom prst="rect">
            <a:avLst/>
          </a:prstGeom>
          <a:noFill/>
          <a:ln/>
        </p:spPr>
        <p:txBody>
          <a:bodyPr wrap="square" lIns="25400" tIns="25400" rIns="25400" bIns="25400" rtlCol="0" anchor="t">
            <a:normAutofit/>
          </a:bodyPr>
          <a:lstStyle/>
          <a:p>
            <a:pPr algn="l" indent="0" marL="0">
              <a:lnSpc>
                <a:spcPct val="117000"/>
              </a:lnSpc>
              <a:buNone/>
            </a:pPr>
            <a:r>
              <a:rPr lang="en-US" sz="1950" b="1" dirty="0">
                <a:solidFill>
                  <a:srgbClr val="460073"/>
                </a:solidFill>
                <a:latin typeface="Arial" pitchFamily="34" charset="0"/>
                <a:ea typeface="Arial" pitchFamily="34" charset="-122"/>
                <a:cs typeface="Arial" pitchFamily="34" charset="-120"/>
              </a:rPr>
              <a:t>Deep immersion, capstones, outcome confirmation under expert evaluation. Stage two into stage three.</a:t>
            </a:r>
            <a:endParaRPr lang="en-US" sz="1950" dirty="0"/>
          </a:p>
        </p:txBody>
      </p:sp>
      <p:sp>
        <p:nvSpPr>
          <p:cNvPr id="9" name="Text 6"/>
          <p:cNvSpPr/>
          <p:nvPr/>
        </p:nvSpPr>
        <p:spPr>
          <a:xfrm>
            <a:off x="1143000" y="4249341"/>
            <a:ext cx="7953077" cy="449560"/>
          </a:xfrm>
          <a:prstGeom prst="rect">
            <a:avLst/>
          </a:prstGeom>
          <a:noFill/>
          <a:ln/>
        </p:spPr>
        <p:txBody>
          <a:bodyPr wrap="square" lIns="25400" tIns="25400" rIns="25400" bIns="25400" rtlCol="0" anchor="t">
            <a:normAutofit/>
          </a:bodyPr>
          <a:lstStyle/>
          <a:p>
            <a:pPr algn="l" indent="0" marL="0">
              <a:lnSpc>
                <a:spcPct val="137872"/>
              </a:lnSpc>
              <a:buNone/>
            </a:pPr>
            <a:r>
              <a:rPr lang="en-US" sz="2025" b="1" spc="-40" kern="0" dirty="0">
                <a:solidFill>
                  <a:srgbClr val="000000"/>
                </a:solidFill>
                <a:latin typeface="Arial" pitchFamily="34" charset="0"/>
                <a:ea typeface="Arial" pitchFamily="34" charset="-122"/>
                <a:cs typeface="Arial" pitchFamily="34" charset="-120"/>
              </a:rPr>
              <a:t>Ascendient</a:t>
            </a:r>
            <a:endParaRPr lang="en-US" sz="2025" dirty="0"/>
          </a:p>
        </p:txBody>
      </p:sp>
      <p:sp>
        <p:nvSpPr>
          <p:cNvPr id="10" name="Text 7"/>
          <p:cNvSpPr/>
          <p:nvPr/>
        </p:nvSpPr>
        <p:spPr>
          <a:xfrm>
            <a:off x="1143000" y="4698901"/>
            <a:ext cx="7446972" cy="769541"/>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7500C0"/>
                </a:solidFill>
                <a:latin typeface="Courier New" pitchFamily="34" charset="0"/>
                <a:ea typeface="Courier New" pitchFamily="34" charset="-122"/>
                <a:cs typeface="Courier New" pitchFamily="34" charset="-120"/>
              </a:rPr>
              <a:t>ascendientlearning.com/it-training/topics/generative-ai</a:t>
            </a:r>
            <a:endParaRPr lang="en-US" sz="1800" dirty="0"/>
          </a:p>
        </p:txBody>
      </p:sp>
      <p:sp>
        <p:nvSpPr>
          <p:cNvPr id="11" name="Shape 8"/>
          <p:cNvSpPr/>
          <p:nvPr/>
        </p:nvSpPr>
        <p:spPr>
          <a:xfrm>
            <a:off x="1143000" y="5639892"/>
            <a:ext cx="7230070" cy="2048074"/>
          </a:xfrm>
          <a:prstGeom prst="rect">
            <a:avLst/>
          </a:prstGeom>
          <a:solidFill>
            <a:srgbClr val="F4F4F2"/>
          </a:solidFill>
          <a:ln/>
        </p:spPr>
      </p:sp>
      <p:sp>
        <p:nvSpPr>
          <p:cNvPr id="12" name="Text 9"/>
          <p:cNvSpPr/>
          <p:nvPr/>
        </p:nvSpPr>
        <p:spPr>
          <a:xfrm>
            <a:off x="1390650" y="5830392"/>
            <a:ext cx="7408247"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WHOSE CORPUS</a:t>
            </a:r>
            <a:endParaRPr lang="en-US" sz="1800" dirty="0"/>
          </a:p>
        </p:txBody>
      </p:sp>
      <p:sp>
        <p:nvSpPr>
          <p:cNvPr id="13" name="Text 10"/>
          <p:cNvSpPr/>
          <p:nvPr/>
        </p:nvSpPr>
        <p:spPr>
          <a:xfrm>
            <a:off x="1390650" y="6272312"/>
            <a:ext cx="6936813" cy="1263253"/>
          </a:xfrm>
          <a:prstGeom prst="rect">
            <a:avLst/>
          </a:prstGeom>
          <a:noFill/>
          <a:ln/>
        </p:spPr>
        <p:txBody>
          <a:bodyPr wrap="square" lIns="25400" tIns="25400" rIns="25400" bIns="25400" rtlCol="0" anchor="t">
            <a:normAutofit/>
          </a:bodyPr>
          <a:lstStyle/>
          <a:p>
            <a:pPr algn="l" indent="0" marL="0">
              <a:lnSpc>
                <a:spcPct val="114857"/>
              </a:lnSpc>
              <a:buNone/>
            </a:pPr>
            <a:r>
              <a:rPr lang="en-US" sz="1800" dirty="0">
                <a:solidFill>
                  <a:srgbClr val="1A1A1A"/>
                </a:solidFill>
                <a:latin typeface="Arial" pitchFamily="34" charset="0"/>
                <a:ea typeface="Arial" pitchFamily="34" charset="-122"/>
                <a:cs typeface="Arial" pitchFamily="34" charset="-120"/>
              </a:rPr>
              <a:t>For operators and specialists the corpus is mission doctrine and TTP. For cyber defenders it is defensive playbooks and response procedures. The corpus changes. The enforcement layer does not.</a:t>
            </a:r>
            <a:endParaRPr lang="en-US" sz="1800" dirty="0"/>
          </a:p>
        </p:txBody>
      </p:sp>
      <p:sp>
        <p:nvSpPr>
          <p:cNvPr id="14" name="Shape 11"/>
          <p:cNvSpPr/>
          <p:nvPr/>
        </p:nvSpPr>
        <p:spPr>
          <a:xfrm>
            <a:off x="8830270" y="2446734"/>
            <a:ext cx="8314631" cy="5482928"/>
          </a:xfrm>
          <a:prstGeom prst="rect">
            <a:avLst/>
          </a:prstGeom>
          <a:ln w="6350">
            <a:solidFill>
              <a:srgbClr val="C8C8C2"/>
            </a:solidFill>
            <a:prstDash val="solid"/>
          </a:ln>
        </p:spPr>
      </p:sp>
      <p:sp>
        <p:nvSpPr>
          <p:cNvPr id="15" name="Shape 12"/>
          <p:cNvSpPr/>
          <p:nvPr/>
        </p:nvSpPr>
        <p:spPr>
          <a:xfrm>
            <a:off x="1143000" y="8158262"/>
            <a:ext cx="16002000" cy="791468"/>
          </a:xfrm>
          <a:prstGeom prst="rect">
            <a:avLst/>
          </a:prstGeom>
          <a:solidFill>
            <a:srgbClr val="250038"/>
          </a:solidFill>
          <a:ln/>
        </p:spPr>
      </p:sp>
      <p:pic>
        <p:nvPicPr>
          <p:cNvPr id="1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85900" y="8444409"/>
            <a:ext cx="209550" cy="219075"/>
          </a:xfrm>
          <a:prstGeom prst="rect">
            <a:avLst/>
          </a:prstGeom>
        </p:spPr>
      </p:pic>
      <p:sp>
        <p:nvSpPr>
          <p:cNvPr id="17" name="Text 13"/>
          <p:cNvSpPr/>
          <p:nvPr/>
        </p:nvSpPr>
        <p:spPr>
          <a:xfrm>
            <a:off x="1905000" y="8386862"/>
            <a:ext cx="14996687" cy="372368"/>
          </a:xfrm>
          <a:prstGeom prst="rect">
            <a:avLst/>
          </a:prstGeom>
          <a:noFill/>
          <a:ln/>
        </p:spPr>
        <p:txBody>
          <a:bodyPr wrap="square" lIns="25400" tIns="25400" rIns="25400" bIns="25400" rtlCol="0" anchor="t">
            <a:normAutofit/>
          </a:bodyPr>
          <a:lstStyle/>
          <a:p>
            <a:pPr algn="l" indent="0" marL="0">
              <a:lnSpc>
                <a:spcPct val="112021"/>
              </a:lnSpc>
              <a:buNone/>
            </a:pPr>
            <a:r>
              <a:rPr lang="en-US" sz="2025" b="1" dirty="0">
                <a:solidFill>
                  <a:srgbClr val="FFFFFF"/>
                </a:solidFill>
                <a:latin typeface="Arial" pitchFamily="34" charset="0"/>
                <a:ea typeface="Arial" pitchFamily="34" charset="-122"/>
                <a:cs typeface="Arial" pitchFamily="34" charset="-120"/>
              </a:rPr>
              <a:t>Both modes serve both tracks. The stage decides which you need, not whether the person is an operator or a specialist.</a:t>
            </a:r>
            <a:endParaRPr lang="en-US" sz="2025" dirty="0"/>
          </a:p>
        </p:txBody>
      </p:sp>
      <p:sp>
        <p:nvSpPr>
          <p:cNvPr id="18" name="Text 14"/>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19" name="Text 15"/>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20" name="Text 16"/>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sp>
        <p:nvSpPr>
          <p:cNvPr id="3" name="Text 1"/>
          <p:cNvSpPr/>
          <p:nvPr/>
        </p:nvSpPr>
        <p:spPr>
          <a:xfrm>
            <a:off x="1143000" y="800100"/>
            <a:ext cx="545299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FFFFFF">
                    <a:alpha val="85000"/>
                  </a:srgbClr>
                </a:solidFill>
                <a:latin typeface="Arial" pitchFamily="34" charset="0"/>
                <a:ea typeface="Arial" pitchFamily="34" charset="-122"/>
                <a:cs typeface="Arial" pitchFamily="34" charset="-120"/>
              </a:rPr>
              <a:t>WHAT IS TRUE ABOUT AI RIGHT NOW</a:t>
            </a:r>
            <a:endParaRPr lang="en-US" sz="1800" dirty="0"/>
          </a:p>
        </p:txBody>
      </p:sp>
      <p:pic>
        <p:nvPicPr>
          <p:cNvPr id="4"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5" name="Text 2"/>
          <p:cNvSpPr/>
          <p:nvPr/>
        </p:nvSpPr>
        <p:spPr>
          <a:xfrm>
            <a:off x="1143000" y="3030240"/>
            <a:ext cx="16764000" cy="859532"/>
          </a:xfrm>
          <a:prstGeom prst="rect">
            <a:avLst/>
          </a:prstGeom>
          <a:noFill/>
          <a:ln/>
        </p:spPr>
        <p:txBody>
          <a:bodyPr wrap="square" lIns="25400" tIns="25400" rIns="25400" bIns="25400" rtlCol="0" anchor="t">
            <a:normAutofit/>
          </a:bodyPr>
          <a:lstStyle/>
          <a:p>
            <a:pPr algn="l" indent="0" marL="0">
              <a:lnSpc>
                <a:spcPct val="69548"/>
              </a:lnSpc>
              <a:buNone/>
            </a:pPr>
            <a:r>
              <a:rPr lang="en-US" sz="6600" b="1" spc="-198" kern="0" dirty="0">
                <a:solidFill>
                  <a:srgbClr val="FFFFFF"/>
                </a:solidFill>
                <a:latin typeface="Arial" pitchFamily="34" charset="0"/>
                <a:ea typeface="Arial" pitchFamily="34" charset="-122"/>
                <a:cs typeface="Arial" pitchFamily="34" charset="-120"/>
              </a:rPr>
              <a:t>What is true about AI right now</a:t>
            </a:r>
            <a:endParaRPr lang="en-US" sz="6600" dirty="0"/>
          </a:p>
        </p:txBody>
      </p:sp>
      <p:sp>
        <p:nvSpPr>
          <p:cNvPr id="6" name="Text 3"/>
          <p:cNvSpPr/>
          <p:nvPr/>
        </p:nvSpPr>
        <p:spPr>
          <a:xfrm>
            <a:off x="1143000" y="4080272"/>
            <a:ext cx="15716250" cy="452537"/>
          </a:xfrm>
          <a:prstGeom prst="rect">
            <a:avLst/>
          </a:prstGeom>
          <a:noFill/>
          <a:ln/>
        </p:spPr>
        <p:txBody>
          <a:bodyPr wrap="square" lIns="25400" tIns="25400" rIns="25400" bIns="25400" rtlCol="0" anchor="t">
            <a:normAutofit/>
          </a:bodyPr>
          <a:lstStyle/>
          <a:p>
            <a:pPr algn="l" indent="0" marL="0">
              <a:lnSpc>
                <a:spcPct val="110644"/>
              </a:lnSpc>
              <a:buNone/>
            </a:pPr>
            <a:r>
              <a:rPr lang="en-US" sz="2550" dirty="0">
                <a:solidFill>
                  <a:srgbClr val="FFFFFF">
                    <a:alpha val="90000"/>
                  </a:srgbClr>
                </a:solidFill>
                <a:latin typeface="Arial" pitchFamily="34" charset="0"/>
                <a:ea typeface="Arial" pitchFamily="34" charset="-122"/>
                <a:cs typeface="Arial" pitchFamily="34" charset="-120"/>
              </a:rPr>
              <a:t>Things you may still believe that are no longer true, and what they change about how you train.</a:t>
            </a:r>
            <a:endParaRPr lang="en-US" sz="255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3000" y="4809034"/>
            <a:ext cx="171450" cy="180975"/>
          </a:xfrm>
          <a:prstGeom prst="rect">
            <a:avLst/>
          </a:prstGeom>
        </p:spPr>
      </p:pic>
      <p:sp>
        <p:nvSpPr>
          <p:cNvPr id="8" name="Text 4"/>
          <p:cNvSpPr/>
          <p:nvPr/>
        </p:nvSpPr>
        <p:spPr>
          <a:xfrm>
            <a:off x="1466850" y="4723309"/>
            <a:ext cx="6569720" cy="403820"/>
          </a:xfrm>
          <a:prstGeom prst="rect">
            <a:avLst/>
          </a:prstGeom>
          <a:noFill/>
          <a:ln/>
        </p:spPr>
        <p:txBody>
          <a:bodyPr wrap="square" lIns="25400" tIns="25400" rIns="25400" bIns="25400" rtlCol="0" anchor="t">
            <a:normAutofit/>
          </a:bodyPr>
          <a:lstStyle/>
          <a:p>
            <a:pPr algn="l" indent="0" marL="0">
              <a:lnSpc>
                <a:spcPct val="110769"/>
              </a:lnSpc>
              <a:buNone/>
            </a:pPr>
            <a:r>
              <a:rPr lang="en-US" sz="2250" b="1" dirty="0">
                <a:solidFill>
                  <a:srgbClr val="FFFFFF"/>
                </a:solidFill>
                <a:latin typeface="Arial" pitchFamily="34" charset="0"/>
                <a:ea typeface="Arial" pitchFamily="34" charset="-122"/>
                <a:cs typeface="Arial" pitchFamily="34" charset="-120"/>
              </a:rPr>
              <a:t>Pilots do not fail because the models are weak.</a:t>
            </a:r>
            <a:endParaRPr lang="en-US" sz="2250" dirty="0"/>
          </a:p>
        </p:txBody>
      </p:sp>
      <p:pic>
        <p:nvPicPr>
          <p:cNvPr id="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3000" y="5308104"/>
            <a:ext cx="171450" cy="180975"/>
          </a:xfrm>
          <a:prstGeom prst="rect">
            <a:avLst/>
          </a:prstGeom>
        </p:spPr>
      </p:pic>
      <p:sp>
        <p:nvSpPr>
          <p:cNvPr id="10" name="Text 5"/>
          <p:cNvSpPr/>
          <p:nvPr/>
        </p:nvSpPr>
        <p:spPr>
          <a:xfrm>
            <a:off x="1466850" y="5222379"/>
            <a:ext cx="7286883" cy="403820"/>
          </a:xfrm>
          <a:prstGeom prst="rect">
            <a:avLst/>
          </a:prstGeom>
          <a:noFill/>
          <a:ln/>
        </p:spPr>
        <p:txBody>
          <a:bodyPr wrap="square" lIns="25400" tIns="25400" rIns="25400" bIns="25400" rtlCol="0" anchor="t">
            <a:normAutofit/>
          </a:bodyPr>
          <a:lstStyle/>
          <a:p>
            <a:pPr algn="l" indent="0" marL="0">
              <a:lnSpc>
                <a:spcPct val="110769"/>
              </a:lnSpc>
              <a:buNone/>
            </a:pPr>
            <a:r>
              <a:rPr lang="en-US" sz="2250" b="1" dirty="0">
                <a:solidFill>
                  <a:srgbClr val="FFFFFF"/>
                </a:solidFill>
                <a:latin typeface="Arial" pitchFamily="34" charset="0"/>
                <a:ea typeface="Arial" pitchFamily="34" charset="-122"/>
                <a:cs typeface="Arial" pitchFamily="34" charset="-120"/>
              </a:rPr>
              <a:t>Buying or partnering beat building, about two to one.</a:t>
            </a:r>
            <a:endParaRPr lang="en-US" sz="225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43000" y="5807175"/>
            <a:ext cx="171450" cy="180975"/>
          </a:xfrm>
          <a:prstGeom prst="rect">
            <a:avLst/>
          </a:prstGeom>
        </p:spPr>
      </p:pic>
      <p:sp>
        <p:nvSpPr>
          <p:cNvPr id="12" name="Text 6"/>
          <p:cNvSpPr/>
          <p:nvPr/>
        </p:nvSpPr>
        <p:spPr>
          <a:xfrm>
            <a:off x="1466850" y="5721450"/>
            <a:ext cx="5800279" cy="403820"/>
          </a:xfrm>
          <a:prstGeom prst="rect">
            <a:avLst/>
          </a:prstGeom>
          <a:noFill/>
          <a:ln/>
        </p:spPr>
        <p:txBody>
          <a:bodyPr wrap="square" lIns="25400" tIns="25400" rIns="25400" bIns="25400" rtlCol="0" anchor="t">
            <a:normAutofit/>
          </a:bodyPr>
          <a:lstStyle/>
          <a:p>
            <a:pPr algn="l" indent="0" marL="0">
              <a:lnSpc>
                <a:spcPct val="110769"/>
              </a:lnSpc>
              <a:buNone/>
            </a:pPr>
            <a:r>
              <a:rPr lang="en-US" sz="2250" b="1" dirty="0">
                <a:solidFill>
                  <a:srgbClr val="FFFFFF"/>
                </a:solidFill>
                <a:latin typeface="Arial" pitchFamily="34" charset="0"/>
                <a:ea typeface="Arial" pitchFamily="34" charset="-122"/>
                <a:cs typeface="Arial" pitchFamily="34" charset="-120"/>
              </a:rPr>
              <a:t>AI amplifies the system you already have.</a:t>
            </a:r>
            <a:endParaRPr lang="en-US" sz="225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43000" y="6306245"/>
            <a:ext cx="171450" cy="180975"/>
          </a:xfrm>
          <a:prstGeom prst="rect">
            <a:avLst/>
          </a:prstGeom>
        </p:spPr>
      </p:pic>
      <p:sp>
        <p:nvSpPr>
          <p:cNvPr id="14" name="Text 7"/>
          <p:cNvSpPr/>
          <p:nvPr/>
        </p:nvSpPr>
        <p:spPr>
          <a:xfrm>
            <a:off x="1466850" y="6220520"/>
            <a:ext cx="7932450" cy="403820"/>
          </a:xfrm>
          <a:prstGeom prst="rect">
            <a:avLst/>
          </a:prstGeom>
          <a:noFill/>
          <a:ln/>
        </p:spPr>
        <p:txBody>
          <a:bodyPr wrap="square" lIns="25400" tIns="25400" rIns="25400" bIns="25400" rtlCol="0" anchor="t">
            <a:normAutofit/>
          </a:bodyPr>
          <a:lstStyle/>
          <a:p>
            <a:pPr algn="l" indent="0" marL="0">
              <a:lnSpc>
                <a:spcPct val="110769"/>
              </a:lnSpc>
              <a:buNone/>
            </a:pPr>
            <a:r>
              <a:rPr lang="en-US" sz="2250" b="1" dirty="0">
                <a:solidFill>
                  <a:srgbClr val="FFFFFF"/>
                </a:solidFill>
                <a:latin typeface="Arial" pitchFamily="34" charset="0"/>
                <a:ea typeface="Arial" pitchFamily="34" charset="-122"/>
                <a:cs typeface="Arial" pitchFamily="34" charset="-120"/>
              </a:rPr>
              <a:t>A guardrail the model enforces on itself is not a guardrail.</a:t>
            </a:r>
            <a:endParaRPr lang="en-US" sz="2250" dirty="0"/>
          </a:p>
        </p:txBody>
      </p:sp>
      <p:pic>
        <p:nvPicPr>
          <p:cNvPr id="15"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43000" y="6805315"/>
            <a:ext cx="171450" cy="180975"/>
          </a:xfrm>
          <a:prstGeom prst="rect">
            <a:avLst/>
          </a:prstGeom>
        </p:spPr>
      </p:pic>
      <p:sp>
        <p:nvSpPr>
          <p:cNvPr id="16" name="Text 8"/>
          <p:cNvSpPr/>
          <p:nvPr/>
        </p:nvSpPr>
        <p:spPr>
          <a:xfrm>
            <a:off x="1466850" y="6719590"/>
            <a:ext cx="4700359" cy="403820"/>
          </a:xfrm>
          <a:prstGeom prst="rect">
            <a:avLst/>
          </a:prstGeom>
          <a:noFill/>
          <a:ln/>
        </p:spPr>
        <p:txBody>
          <a:bodyPr wrap="square" lIns="25400" tIns="25400" rIns="25400" bIns="25400" rtlCol="0" anchor="t">
            <a:normAutofit/>
          </a:bodyPr>
          <a:lstStyle/>
          <a:p>
            <a:pPr algn="l" indent="0" marL="0">
              <a:lnSpc>
                <a:spcPct val="110769"/>
              </a:lnSpc>
              <a:buNone/>
            </a:pPr>
            <a:r>
              <a:rPr lang="en-US" sz="2250" b="1" dirty="0">
                <a:solidFill>
                  <a:srgbClr val="FFFFFF"/>
                </a:solidFill>
                <a:latin typeface="Arial" pitchFamily="34" charset="0"/>
                <a:ea typeface="Arial" pitchFamily="34" charset="-122"/>
                <a:cs typeface="Arial" pitchFamily="34" charset="-120"/>
              </a:rPr>
              <a:t>Hallucinations are not unsolvable.</a:t>
            </a:r>
            <a:endParaRPr lang="en-US" sz="2250" dirty="0"/>
          </a:p>
        </p:txBody>
      </p:sp>
      <p:sp>
        <p:nvSpPr>
          <p:cNvPr id="17" name="Text 9"/>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70000"/>
                  </a:srgbClr>
                </a:solidFill>
                <a:latin typeface="Arial" pitchFamily="34" charset="0"/>
                <a:ea typeface="Arial" pitchFamily="34" charset="-122"/>
                <a:cs typeface="Arial" pitchFamily="34" charset="-120"/>
              </a:rPr>
              <a:t>DAFITC 2026</a:t>
            </a:r>
            <a:endParaRPr lang="en-US" sz="1800" dirty="0"/>
          </a:p>
        </p:txBody>
      </p:sp>
      <p:sp>
        <p:nvSpPr>
          <p:cNvPr id="18" name="Text 10"/>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40000"/>
                  </a:srgbClr>
                </a:solidFill>
                <a:latin typeface="Arial" pitchFamily="34" charset="0"/>
                <a:ea typeface="Arial" pitchFamily="34" charset="-122"/>
                <a:cs typeface="Arial" pitchFamily="34" charset="-120"/>
              </a:rPr>
              <a:t>/</a:t>
            </a:r>
            <a:endParaRPr lang="en-US" sz="1800" dirty="0"/>
          </a:p>
        </p:txBody>
      </p:sp>
      <p:sp>
        <p:nvSpPr>
          <p:cNvPr id="19" name="Text 11"/>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FFFFFF">
                    <a:alpha val="70000"/>
                  </a:srgbClr>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3249335"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WHY ADOPTION FAILS</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470620"/>
            <a:ext cx="1634490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Pilots do not fail because the models are weak</a:t>
            </a:r>
            <a:endParaRPr lang="en-US" sz="4200" dirty="0"/>
          </a:p>
        </p:txBody>
      </p:sp>
      <p:sp>
        <p:nvSpPr>
          <p:cNvPr id="5" name="Text 2"/>
          <p:cNvSpPr/>
          <p:nvPr/>
        </p:nvSpPr>
        <p:spPr>
          <a:xfrm>
            <a:off x="1143000" y="3423742"/>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01</a:t>
            </a:r>
            <a:endParaRPr lang="en-US" sz="1800" dirty="0"/>
          </a:p>
        </p:txBody>
      </p:sp>
      <p:sp>
        <p:nvSpPr>
          <p:cNvPr id="6" name="Text 3"/>
          <p:cNvSpPr/>
          <p:nvPr/>
        </p:nvSpPr>
        <p:spPr>
          <a:xfrm>
            <a:off x="1607939" y="3357067"/>
            <a:ext cx="8954115" cy="397173"/>
          </a:xfrm>
          <a:prstGeom prst="rect">
            <a:avLst/>
          </a:prstGeom>
          <a:noFill/>
          <a:ln/>
        </p:spPr>
        <p:txBody>
          <a:bodyPr wrap="square" lIns="25400" tIns="25400" rIns="25400" bIns="25400" rtlCol="0" anchor="t">
            <a:normAutofit/>
          </a:bodyPr>
          <a:lstStyle/>
          <a:p>
            <a:pPr algn="l" indent="0" marL="0">
              <a:lnSpc>
                <a:spcPct val="115408"/>
              </a:lnSpc>
              <a:buNone/>
            </a:pPr>
            <a:r>
              <a:rPr lang="en-US" sz="2175" dirty="0">
                <a:solidFill>
                  <a:srgbClr val="000000"/>
                </a:solidFill>
                <a:latin typeface="Arial" pitchFamily="34" charset="0"/>
                <a:ea typeface="Arial" pitchFamily="34" charset="-122"/>
                <a:cs typeface="Arial" pitchFamily="34" charset="-120"/>
              </a:rPr>
              <a:t>The failure mode is workflows that were never redesigned </a:t>
            </a:r>
            <a:pPr algn="l" indent="0" marL="0">
              <a:lnSpc>
                <a:spcPct val="115408"/>
              </a:lnSpc>
              <a:buNone/>
            </a:pPr>
            <a:r>
              <a:rPr lang="en-US" sz="1800" dirty="0">
                <a:solidFill>
                  <a:srgbClr val="7500C0"/>
                </a:solidFill>
                <a:latin typeface="Courier New" pitchFamily="34" charset="0"/>
                <a:ea typeface="Courier New" pitchFamily="34" charset="-122"/>
                <a:cs typeface="Courier New" pitchFamily="34" charset="-120"/>
              </a:rPr>
              <a:t>S13</a:t>
            </a:r>
            <a:endParaRPr lang="en-US" sz="2175" dirty="0"/>
          </a:p>
        </p:txBody>
      </p:sp>
      <p:sp>
        <p:nvSpPr>
          <p:cNvPr id="7" name="Text 4"/>
          <p:cNvSpPr/>
          <p:nvPr/>
        </p:nvSpPr>
        <p:spPr>
          <a:xfrm>
            <a:off x="1143000" y="4027587"/>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02</a:t>
            </a:r>
            <a:endParaRPr lang="en-US" sz="1800" dirty="0"/>
          </a:p>
        </p:txBody>
      </p:sp>
      <p:sp>
        <p:nvSpPr>
          <p:cNvPr id="8" name="Text 5"/>
          <p:cNvSpPr/>
          <p:nvPr/>
        </p:nvSpPr>
        <p:spPr>
          <a:xfrm>
            <a:off x="1607939" y="3960912"/>
            <a:ext cx="11451799" cy="397173"/>
          </a:xfrm>
          <a:prstGeom prst="rect">
            <a:avLst/>
          </a:prstGeom>
          <a:noFill/>
          <a:ln/>
        </p:spPr>
        <p:txBody>
          <a:bodyPr wrap="square" lIns="25400" tIns="25400" rIns="25400" bIns="25400" rtlCol="0" anchor="t">
            <a:normAutofit/>
          </a:bodyPr>
          <a:lstStyle/>
          <a:p>
            <a:pPr algn="l" indent="0" marL="0">
              <a:lnSpc>
                <a:spcPct val="115408"/>
              </a:lnSpc>
              <a:buNone/>
            </a:pPr>
            <a:r>
              <a:rPr lang="en-US" sz="2175" dirty="0">
                <a:solidFill>
                  <a:srgbClr val="000000"/>
                </a:solidFill>
                <a:latin typeface="Arial" pitchFamily="34" charset="0"/>
                <a:ea typeface="Arial" pitchFamily="34" charset="-122"/>
                <a:cs typeface="Arial" pitchFamily="34" charset="-120"/>
              </a:rPr>
              <a:t>Buying or partnering succeeded roughly twice as often as building internally </a:t>
            </a:r>
            <a:pPr algn="l" indent="0" marL="0">
              <a:lnSpc>
                <a:spcPct val="115408"/>
              </a:lnSpc>
              <a:buNone/>
            </a:pPr>
            <a:r>
              <a:rPr lang="en-US" sz="1800" dirty="0">
                <a:solidFill>
                  <a:srgbClr val="7500C0"/>
                </a:solidFill>
                <a:latin typeface="Courier New" pitchFamily="34" charset="0"/>
                <a:ea typeface="Courier New" pitchFamily="34" charset="-122"/>
                <a:cs typeface="Courier New" pitchFamily="34" charset="-120"/>
              </a:rPr>
              <a:t>S13</a:t>
            </a:r>
            <a:endParaRPr lang="en-US" sz="2175" dirty="0"/>
          </a:p>
        </p:txBody>
      </p:sp>
      <p:sp>
        <p:nvSpPr>
          <p:cNvPr id="9" name="Text 6"/>
          <p:cNvSpPr/>
          <p:nvPr/>
        </p:nvSpPr>
        <p:spPr>
          <a:xfrm>
            <a:off x="1143000" y="4631432"/>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03</a:t>
            </a:r>
            <a:endParaRPr lang="en-US" sz="1800" dirty="0"/>
          </a:p>
        </p:txBody>
      </p:sp>
      <p:sp>
        <p:nvSpPr>
          <p:cNvPr id="10" name="Text 7"/>
          <p:cNvSpPr/>
          <p:nvPr/>
        </p:nvSpPr>
        <p:spPr>
          <a:xfrm>
            <a:off x="1607939" y="4564757"/>
            <a:ext cx="15017859" cy="397173"/>
          </a:xfrm>
          <a:prstGeom prst="rect">
            <a:avLst/>
          </a:prstGeom>
          <a:noFill/>
          <a:ln/>
        </p:spPr>
        <p:txBody>
          <a:bodyPr wrap="square" lIns="25400" tIns="25400" rIns="25400" bIns="25400" rtlCol="0" anchor="t">
            <a:normAutofit/>
          </a:bodyPr>
          <a:lstStyle/>
          <a:p>
            <a:pPr algn="l" indent="0" marL="0">
              <a:lnSpc>
                <a:spcPct val="115408"/>
              </a:lnSpc>
              <a:buNone/>
            </a:pPr>
            <a:r>
              <a:rPr lang="en-US" sz="2175" dirty="0">
                <a:solidFill>
                  <a:srgbClr val="000000"/>
                </a:solidFill>
                <a:latin typeface="Arial" pitchFamily="34" charset="0"/>
                <a:ea typeface="Arial" pitchFamily="34" charset="-122"/>
                <a:cs typeface="Arial" pitchFamily="34" charset="-120"/>
              </a:rPr>
              <a:t>Back-office work returned more than the sales and marketing pilots that absorbed most of the budget </a:t>
            </a:r>
            <a:pPr algn="l" indent="0" marL="0">
              <a:lnSpc>
                <a:spcPct val="115408"/>
              </a:lnSpc>
              <a:buNone/>
            </a:pPr>
            <a:r>
              <a:rPr lang="en-US" sz="1800" dirty="0">
                <a:solidFill>
                  <a:srgbClr val="7500C0"/>
                </a:solidFill>
                <a:latin typeface="Courier New" pitchFamily="34" charset="0"/>
                <a:ea typeface="Courier New" pitchFamily="34" charset="-122"/>
                <a:cs typeface="Courier New" pitchFamily="34" charset="-120"/>
              </a:rPr>
              <a:t>S13</a:t>
            </a:r>
            <a:endParaRPr lang="en-US" sz="2175" dirty="0"/>
          </a:p>
        </p:txBody>
      </p:sp>
      <p:sp>
        <p:nvSpPr>
          <p:cNvPr id="11" name="Text 8"/>
          <p:cNvSpPr/>
          <p:nvPr/>
        </p:nvSpPr>
        <p:spPr>
          <a:xfrm>
            <a:off x="1143000" y="5235278"/>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04</a:t>
            </a:r>
            <a:endParaRPr lang="en-US" sz="1800" dirty="0"/>
          </a:p>
        </p:txBody>
      </p:sp>
      <p:sp>
        <p:nvSpPr>
          <p:cNvPr id="12" name="Text 9"/>
          <p:cNvSpPr/>
          <p:nvPr/>
        </p:nvSpPr>
        <p:spPr>
          <a:xfrm>
            <a:off x="1607939" y="5168603"/>
            <a:ext cx="12597775" cy="397173"/>
          </a:xfrm>
          <a:prstGeom prst="rect">
            <a:avLst/>
          </a:prstGeom>
          <a:noFill/>
          <a:ln/>
        </p:spPr>
        <p:txBody>
          <a:bodyPr wrap="square" lIns="25400" tIns="25400" rIns="25400" bIns="25400" rtlCol="0" anchor="t">
            <a:normAutofit/>
          </a:bodyPr>
          <a:lstStyle/>
          <a:p>
            <a:pPr algn="l" indent="0" marL="0">
              <a:lnSpc>
                <a:spcPct val="115408"/>
              </a:lnSpc>
              <a:buNone/>
            </a:pPr>
            <a:r>
              <a:rPr lang="en-US" sz="2175" dirty="0">
                <a:solidFill>
                  <a:srgbClr val="000000"/>
                </a:solidFill>
                <a:latin typeface="Arial" pitchFamily="34" charset="0"/>
                <a:ea typeface="Arial" pitchFamily="34" charset="-122"/>
                <a:cs typeface="Arial" pitchFamily="34" charset="-120"/>
              </a:rPr>
              <a:t>Gartner forecasts more than 40 percent of agentic projects canceled by end of 2027 </a:t>
            </a:r>
            <a:pPr algn="l" indent="0" marL="0">
              <a:lnSpc>
                <a:spcPct val="115408"/>
              </a:lnSpc>
              <a:buNone/>
            </a:pPr>
            <a:r>
              <a:rPr lang="en-US" sz="1800" dirty="0">
                <a:solidFill>
                  <a:srgbClr val="7500C0"/>
                </a:solidFill>
                <a:latin typeface="Courier New" pitchFamily="34" charset="0"/>
                <a:ea typeface="Courier New" pitchFamily="34" charset="-122"/>
                <a:cs typeface="Courier New" pitchFamily="34" charset="-120"/>
              </a:rPr>
              <a:t>S14</a:t>
            </a:r>
            <a:endParaRPr lang="en-US" sz="2175" dirty="0"/>
          </a:p>
        </p:txBody>
      </p:sp>
      <p:sp>
        <p:nvSpPr>
          <p:cNvPr id="13" name="Shape 10"/>
          <p:cNvSpPr/>
          <p:nvPr/>
        </p:nvSpPr>
        <p:spPr>
          <a:xfrm>
            <a:off x="1143000" y="6911479"/>
            <a:ext cx="7877175" cy="1606451"/>
          </a:xfrm>
          <a:prstGeom prst="rect">
            <a:avLst/>
          </a:prstGeom>
          <a:solidFill>
            <a:srgbClr val="F1E4FF"/>
          </a:solidFill>
          <a:ln/>
        </p:spPr>
      </p:sp>
      <p:sp>
        <p:nvSpPr>
          <p:cNvPr id="14" name="Text 11"/>
          <p:cNvSpPr/>
          <p:nvPr/>
        </p:nvSpPr>
        <p:spPr>
          <a:xfrm>
            <a:off x="1447800" y="7159129"/>
            <a:ext cx="799433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460073"/>
                </a:solidFill>
                <a:latin typeface="Arial" pitchFamily="34" charset="0"/>
                <a:ea typeface="Arial" pitchFamily="34" charset="-122"/>
                <a:cs typeface="Arial" pitchFamily="34" charset="-120"/>
              </a:rPr>
              <a:t>WORKED</a:t>
            </a:r>
            <a:endParaRPr lang="en-US" sz="1800" dirty="0"/>
          </a:p>
        </p:txBody>
      </p:sp>
      <p:sp>
        <p:nvSpPr>
          <p:cNvPr id="15" name="Text 12"/>
          <p:cNvSpPr/>
          <p:nvPr/>
        </p:nvSpPr>
        <p:spPr>
          <a:xfrm>
            <a:off x="1447800" y="7620099"/>
            <a:ext cx="7485602" cy="68828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250038"/>
                </a:solidFill>
                <a:latin typeface="Arial" pitchFamily="34" charset="0"/>
                <a:ea typeface="Arial" pitchFamily="34" charset="-122"/>
                <a:cs typeface="Arial" pitchFamily="34" charset="-120"/>
              </a:rPr>
              <a:t>PANDA, Air Force predictive aircraft maintenance: a bounded workflow, verifiable output, a maintainer in the loop. </a:t>
            </a:r>
            <a:pPr algn="l" indent="0" marL="0">
              <a:lnSpc>
                <a:spcPct val="120000"/>
              </a:lnSpc>
              <a:buNone/>
            </a:pPr>
            <a:r>
              <a:rPr lang="en-US" sz="1800" dirty="0">
                <a:solidFill>
                  <a:srgbClr val="7500C0"/>
                </a:solidFill>
                <a:latin typeface="Courier New" pitchFamily="34" charset="0"/>
                <a:ea typeface="Courier New" pitchFamily="34" charset="-122"/>
                <a:cs typeface="Courier New" pitchFamily="34" charset="-120"/>
              </a:rPr>
              <a:t>S21</a:t>
            </a:r>
            <a:endParaRPr lang="en-US" sz="1800" dirty="0"/>
          </a:p>
        </p:txBody>
      </p:sp>
      <p:sp>
        <p:nvSpPr>
          <p:cNvPr id="16" name="Shape 13"/>
          <p:cNvSpPr/>
          <p:nvPr/>
        </p:nvSpPr>
        <p:spPr>
          <a:xfrm>
            <a:off x="9267825" y="6911479"/>
            <a:ext cx="7877175" cy="1606451"/>
          </a:xfrm>
          <a:prstGeom prst="rect">
            <a:avLst/>
          </a:prstGeom>
          <a:solidFill>
            <a:srgbClr val="F4F4F2"/>
          </a:solidFill>
          <a:ln/>
        </p:spPr>
      </p:sp>
      <p:sp>
        <p:nvSpPr>
          <p:cNvPr id="17" name="Text 14"/>
          <p:cNvSpPr/>
          <p:nvPr/>
        </p:nvSpPr>
        <p:spPr>
          <a:xfrm>
            <a:off x="9572625" y="7159129"/>
            <a:ext cx="799433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DID NOT WORK</a:t>
            </a:r>
            <a:endParaRPr lang="en-US" sz="1800" dirty="0"/>
          </a:p>
        </p:txBody>
      </p:sp>
      <p:sp>
        <p:nvSpPr>
          <p:cNvPr id="18" name="Text 15"/>
          <p:cNvSpPr/>
          <p:nvPr/>
        </p:nvSpPr>
        <p:spPr>
          <a:xfrm>
            <a:off x="9572625" y="7620099"/>
            <a:ext cx="7485602" cy="688281"/>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1A1A1A"/>
                </a:solidFill>
                <a:latin typeface="Arial" pitchFamily="34" charset="0"/>
                <a:ea typeface="Arial" pitchFamily="34" charset="-122"/>
                <a:cs typeface="Arial" pitchFamily="34" charset="-120"/>
              </a:rPr>
              <a:t>Programs that could not use their own model outputs because data rights were never negotiated, with no lessons written down. </a:t>
            </a:r>
            <a:pPr algn="l" indent="0" marL="0">
              <a:lnSpc>
                <a:spcPct val="120000"/>
              </a:lnSpc>
              <a:buNone/>
            </a:pPr>
            <a:r>
              <a:rPr lang="en-US" sz="1800" dirty="0">
                <a:solidFill>
                  <a:srgbClr val="7500C0"/>
                </a:solidFill>
                <a:latin typeface="Courier New" pitchFamily="34" charset="0"/>
                <a:ea typeface="Courier New" pitchFamily="34" charset="-122"/>
                <a:cs typeface="Courier New" pitchFamily="34" charset="-120"/>
              </a:rPr>
              <a:t>S15</a:t>
            </a:r>
            <a:endParaRPr lang="en-US" sz="1800" dirty="0"/>
          </a:p>
        </p:txBody>
      </p:sp>
      <p:pic>
        <p:nvPicPr>
          <p:cNvPr id="1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3000" y="8738592"/>
            <a:ext cx="190500" cy="200025"/>
          </a:xfrm>
          <a:prstGeom prst="rect">
            <a:avLst/>
          </a:prstGeom>
        </p:spPr>
      </p:pic>
      <p:sp>
        <p:nvSpPr>
          <p:cNvPr id="20" name="Text 16"/>
          <p:cNvSpPr/>
          <p:nvPr/>
        </p:nvSpPr>
        <p:spPr>
          <a:xfrm>
            <a:off x="1524000" y="8670330"/>
            <a:ext cx="14898241" cy="374650"/>
          </a:xfrm>
          <a:prstGeom prst="rect">
            <a:avLst/>
          </a:prstGeom>
          <a:noFill/>
          <a:ln/>
        </p:spPr>
        <p:txBody>
          <a:bodyPr wrap="square" lIns="25400" tIns="25400" rIns="25400" bIns="25400" rtlCol="0" anchor="t">
            <a:normAutofit/>
          </a:bodyPr>
          <a:lstStyle/>
          <a:p>
            <a:pPr algn="l" indent="0" marL="0">
              <a:lnSpc>
                <a:spcPct val="112021"/>
              </a:lnSpc>
              <a:buNone/>
            </a:pPr>
            <a:r>
              <a:rPr lang="en-US" sz="2025" b="1" dirty="0">
                <a:solidFill>
                  <a:srgbClr val="000000"/>
                </a:solidFill>
                <a:latin typeface="Arial" pitchFamily="34" charset="0"/>
                <a:ea typeface="Arial" pitchFamily="34" charset="-122"/>
                <a:cs typeface="Arial" pitchFamily="34" charset="-120"/>
              </a:rPr>
              <a:t>BCG’s 10/20/70: roughly 10 percent algorithms, 20 percent technology and data, 70 percent people and process. </a:t>
            </a:r>
            <a:pPr algn="l" indent="0" marL="0">
              <a:lnSpc>
                <a:spcPct val="112021"/>
              </a:lnSpc>
              <a:buNone/>
            </a:pPr>
            <a:r>
              <a:rPr lang="en-US" sz="1800" dirty="0">
                <a:solidFill>
                  <a:srgbClr val="7500C0"/>
                </a:solidFill>
                <a:latin typeface="Courier New" pitchFamily="34" charset="0"/>
                <a:ea typeface="Courier New" pitchFamily="34" charset="-122"/>
                <a:cs typeface="Courier New" pitchFamily="34" charset="-120"/>
              </a:rPr>
              <a:t>S23</a:t>
            </a:r>
            <a:endParaRPr lang="en-US" sz="2025" dirty="0"/>
          </a:p>
        </p:txBody>
      </p:sp>
      <p:sp>
        <p:nvSpPr>
          <p:cNvPr id="21" name="Text 17"/>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22" name="Text 18"/>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23" name="Text 19"/>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1480165"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THE GATE</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470620"/>
            <a:ext cx="1634490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Applied to every workflow, starting with the first</a:t>
            </a:r>
            <a:endParaRPr lang="en-US" sz="4200" dirty="0"/>
          </a:p>
        </p:txBody>
      </p:sp>
      <p:sp>
        <p:nvSpPr>
          <p:cNvPr id="5" name="Shape 2"/>
          <p:cNvSpPr/>
          <p:nvPr/>
        </p:nvSpPr>
        <p:spPr>
          <a:xfrm>
            <a:off x="1143000" y="2260302"/>
            <a:ext cx="5054600" cy="19050"/>
          </a:xfrm>
          <a:prstGeom prst="rect">
            <a:avLst/>
          </a:prstGeom>
          <a:solidFill>
            <a:srgbClr val="000000"/>
          </a:solidFill>
          <a:ln/>
        </p:spPr>
      </p:sp>
      <p:sp>
        <p:nvSpPr>
          <p:cNvPr id="6" name="Text 3"/>
          <p:cNvSpPr/>
          <p:nvPr/>
        </p:nvSpPr>
        <p:spPr>
          <a:xfrm>
            <a:off x="1143000" y="2431752"/>
            <a:ext cx="5560060"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01</a:t>
            </a:r>
            <a:endParaRPr lang="en-US" sz="1800" dirty="0"/>
          </a:p>
        </p:txBody>
      </p:sp>
      <p:sp>
        <p:nvSpPr>
          <p:cNvPr id="7" name="Text 4"/>
          <p:cNvSpPr/>
          <p:nvPr/>
        </p:nvSpPr>
        <p:spPr>
          <a:xfrm>
            <a:off x="1143000" y="2854623"/>
            <a:ext cx="5560060" cy="369491"/>
          </a:xfrm>
          <a:prstGeom prst="rect">
            <a:avLst/>
          </a:prstGeom>
          <a:noFill/>
          <a:ln/>
        </p:spPr>
        <p:txBody>
          <a:bodyPr wrap="square" lIns="25400" tIns="25400" rIns="25400" bIns="25400" rtlCol="0" anchor="t">
            <a:normAutofit/>
          </a:bodyPr>
          <a:lstStyle/>
          <a:p>
            <a:pPr algn="l" indent="0" marL="0">
              <a:lnSpc>
                <a:spcPct val="100385"/>
              </a:lnSpc>
              <a:buNone/>
            </a:pPr>
            <a:r>
              <a:rPr lang="en-US" sz="2250" b="1" spc="-45" kern="0" dirty="0">
                <a:solidFill>
                  <a:srgbClr val="000000"/>
                </a:solidFill>
                <a:latin typeface="Arial" pitchFamily="34" charset="0"/>
                <a:ea typeface="Arial" pitchFamily="34" charset="-122"/>
                <a:cs typeface="Arial" pitchFamily="34" charset="-120"/>
              </a:rPr>
              <a:t>Is it bounded, or open-ended?</a:t>
            </a:r>
            <a:endParaRPr lang="en-US" sz="2250" dirty="0"/>
          </a:p>
        </p:txBody>
      </p:sp>
      <p:sp>
        <p:nvSpPr>
          <p:cNvPr id="8" name="Text 5"/>
          <p:cNvSpPr/>
          <p:nvPr/>
        </p:nvSpPr>
        <p:spPr>
          <a:xfrm>
            <a:off x="1143000" y="3243163"/>
            <a:ext cx="5560060" cy="339824"/>
          </a:xfrm>
          <a:prstGeom prst="rect">
            <a:avLst/>
          </a:prstGeom>
          <a:noFill/>
          <a:ln/>
        </p:spPr>
        <p:txBody>
          <a:bodyPr wrap="square" lIns="25400" tIns="25400" rIns="25400" bIns="25400" rtlCol="0" anchor="t">
            <a:normAutofit/>
          </a:bodyPr>
          <a:lstStyle/>
          <a:p>
            <a:pPr algn="l" indent="0" marL="0">
              <a:lnSpc>
                <a:spcPct val="113143"/>
              </a:lnSpc>
              <a:buNone/>
            </a:pPr>
            <a:r>
              <a:rPr lang="en-US" sz="1800" dirty="0">
                <a:solidFill>
                  <a:srgbClr val="4D4D4D"/>
                </a:solidFill>
                <a:latin typeface="Arial" pitchFamily="34" charset="0"/>
                <a:ea typeface="Arial" pitchFamily="34" charset="-122"/>
                <a:cs typeface="Arial" pitchFamily="34" charset="-120"/>
              </a:rPr>
              <a:t>A closed system, not an open field.</a:t>
            </a:r>
            <a:endParaRPr lang="en-US" sz="1800" dirty="0"/>
          </a:p>
        </p:txBody>
      </p:sp>
      <p:sp>
        <p:nvSpPr>
          <p:cNvPr id="9" name="Shape 6"/>
          <p:cNvSpPr/>
          <p:nvPr/>
        </p:nvSpPr>
        <p:spPr>
          <a:xfrm>
            <a:off x="6616700" y="2260302"/>
            <a:ext cx="5054600" cy="19050"/>
          </a:xfrm>
          <a:prstGeom prst="rect">
            <a:avLst/>
          </a:prstGeom>
          <a:solidFill>
            <a:srgbClr val="000000"/>
          </a:solidFill>
          <a:ln/>
        </p:spPr>
      </p:sp>
      <p:sp>
        <p:nvSpPr>
          <p:cNvPr id="10" name="Text 7"/>
          <p:cNvSpPr/>
          <p:nvPr/>
        </p:nvSpPr>
        <p:spPr>
          <a:xfrm>
            <a:off x="6616700" y="2450802"/>
            <a:ext cx="5560060"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02</a:t>
            </a:r>
            <a:endParaRPr lang="en-US" sz="1800" dirty="0"/>
          </a:p>
        </p:txBody>
      </p:sp>
      <p:sp>
        <p:nvSpPr>
          <p:cNvPr id="11" name="Text 8"/>
          <p:cNvSpPr/>
          <p:nvPr/>
        </p:nvSpPr>
        <p:spPr>
          <a:xfrm>
            <a:off x="6616700" y="2892723"/>
            <a:ext cx="5560060" cy="369491"/>
          </a:xfrm>
          <a:prstGeom prst="rect">
            <a:avLst/>
          </a:prstGeom>
          <a:noFill/>
          <a:ln/>
        </p:spPr>
        <p:txBody>
          <a:bodyPr wrap="square" lIns="25400" tIns="25400" rIns="25400" bIns="25400" rtlCol="0" anchor="t">
            <a:normAutofit/>
          </a:bodyPr>
          <a:lstStyle/>
          <a:p>
            <a:pPr algn="l" indent="0" marL="0">
              <a:lnSpc>
                <a:spcPct val="100385"/>
              </a:lnSpc>
              <a:buNone/>
            </a:pPr>
            <a:r>
              <a:rPr lang="en-US" sz="2250" b="1" spc="-45" kern="0" dirty="0">
                <a:solidFill>
                  <a:srgbClr val="000000"/>
                </a:solidFill>
                <a:latin typeface="Arial" pitchFamily="34" charset="0"/>
                <a:ea typeface="Arial" pitchFamily="34" charset="-122"/>
                <a:cs typeface="Arial" pitchFamily="34" charset="-120"/>
              </a:rPr>
              <a:t>Is the output verifiable?</a:t>
            </a:r>
            <a:endParaRPr lang="en-US" sz="2250" dirty="0"/>
          </a:p>
        </p:txBody>
      </p:sp>
      <p:sp>
        <p:nvSpPr>
          <p:cNvPr id="12" name="Text 9"/>
          <p:cNvSpPr/>
          <p:nvPr/>
        </p:nvSpPr>
        <p:spPr>
          <a:xfrm>
            <a:off x="6616700" y="3300313"/>
            <a:ext cx="5206238" cy="641548"/>
          </a:xfrm>
          <a:prstGeom prst="rect">
            <a:avLst/>
          </a:prstGeom>
          <a:noFill/>
          <a:ln/>
        </p:spPr>
        <p:txBody>
          <a:bodyPr wrap="square" lIns="25400" tIns="25400" rIns="25400" bIns="25400" rtlCol="0" anchor="t">
            <a:normAutofit/>
          </a:bodyPr>
          <a:lstStyle/>
          <a:p>
            <a:pPr algn="l" indent="0" marL="0">
              <a:lnSpc>
                <a:spcPct val="113143"/>
              </a:lnSpc>
              <a:buNone/>
            </a:pPr>
            <a:r>
              <a:rPr lang="en-US" sz="1800" dirty="0">
                <a:solidFill>
                  <a:srgbClr val="4D4D4D"/>
                </a:solidFill>
                <a:latin typeface="Arial" pitchFamily="34" charset="0"/>
                <a:ea typeface="Arial" pitchFamily="34" charset="-122"/>
                <a:cs typeface="Arial" pitchFamily="34" charset="-120"/>
              </a:rPr>
              <a:t>Testable repeatedly, against a measured baseline rather than an estimated one.</a:t>
            </a:r>
            <a:endParaRPr lang="en-US" sz="1800" dirty="0"/>
          </a:p>
        </p:txBody>
      </p:sp>
      <p:sp>
        <p:nvSpPr>
          <p:cNvPr id="13" name="Shape 10"/>
          <p:cNvSpPr/>
          <p:nvPr/>
        </p:nvSpPr>
        <p:spPr>
          <a:xfrm>
            <a:off x="12090400" y="2260302"/>
            <a:ext cx="5054600" cy="19050"/>
          </a:xfrm>
          <a:prstGeom prst="rect">
            <a:avLst/>
          </a:prstGeom>
          <a:solidFill>
            <a:srgbClr val="000000"/>
          </a:solidFill>
          <a:ln/>
        </p:spPr>
      </p:sp>
      <p:sp>
        <p:nvSpPr>
          <p:cNvPr id="14" name="Text 11"/>
          <p:cNvSpPr/>
          <p:nvPr/>
        </p:nvSpPr>
        <p:spPr>
          <a:xfrm>
            <a:off x="12090400" y="2450802"/>
            <a:ext cx="5560060"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03</a:t>
            </a:r>
            <a:endParaRPr lang="en-US" sz="1800" dirty="0"/>
          </a:p>
        </p:txBody>
      </p:sp>
      <p:sp>
        <p:nvSpPr>
          <p:cNvPr id="15" name="Text 12"/>
          <p:cNvSpPr/>
          <p:nvPr/>
        </p:nvSpPr>
        <p:spPr>
          <a:xfrm>
            <a:off x="12090400" y="2892723"/>
            <a:ext cx="5560060" cy="369491"/>
          </a:xfrm>
          <a:prstGeom prst="rect">
            <a:avLst/>
          </a:prstGeom>
          <a:noFill/>
          <a:ln/>
        </p:spPr>
        <p:txBody>
          <a:bodyPr wrap="square" lIns="25400" tIns="25400" rIns="25400" bIns="25400" rtlCol="0" anchor="t">
            <a:normAutofit/>
          </a:bodyPr>
          <a:lstStyle/>
          <a:p>
            <a:pPr algn="l" indent="0" marL="0">
              <a:lnSpc>
                <a:spcPct val="100385"/>
              </a:lnSpc>
              <a:buNone/>
            </a:pPr>
            <a:r>
              <a:rPr lang="en-US" sz="2250" b="1" spc="-45" kern="0" dirty="0">
                <a:solidFill>
                  <a:srgbClr val="000000"/>
                </a:solidFill>
                <a:latin typeface="Arial" pitchFamily="34" charset="0"/>
                <a:ea typeface="Arial" pitchFamily="34" charset="-122"/>
                <a:cs typeface="Arial" pitchFamily="34" charset="-120"/>
              </a:rPr>
              <a:t>Is the risk of a wrong answer low?</a:t>
            </a:r>
            <a:endParaRPr lang="en-US" sz="2250" dirty="0"/>
          </a:p>
        </p:txBody>
      </p:sp>
      <p:sp>
        <p:nvSpPr>
          <p:cNvPr id="16" name="Text 13"/>
          <p:cNvSpPr/>
          <p:nvPr/>
        </p:nvSpPr>
        <p:spPr>
          <a:xfrm>
            <a:off x="12090400" y="3300313"/>
            <a:ext cx="5560060" cy="339824"/>
          </a:xfrm>
          <a:prstGeom prst="rect">
            <a:avLst/>
          </a:prstGeom>
          <a:noFill/>
          <a:ln/>
        </p:spPr>
        <p:txBody>
          <a:bodyPr wrap="square" lIns="25400" tIns="25400" rIns="25400" bIns="25400" rtlCol="0" anchor="t">
            <a:normAutofit/>
          </a:bodyPr>
          <a:lstStyle/>
          <a:p>
            <a:pPr algn="l" indent="0" marL="0">
              <a:lnSpc>
                <a:spcPct val="113143"/>
              </a:lnSpc>
              <a:buNone/>
            </a:pPr>
            <a:r>
              <a:rPr lang="en-US" sz="1800" dirty="0">
                <a:solidFill>
                  <a:srgbClr val="4D4D4D"/>
                </a:solidFill>
                <a:latin typeface="Arial" pitchFamily="34" charset="0"/>
                <a:ea typeface="Arial" pitchFamily="34" charset="-122"/>
                <a:cs typeface="Arial" pitchFamily="34" charset="-120"/>
              </a:rPr>
              <a:t>Risk, not cost. They are not the same gate.</a:t>
            </a:r>
            <a:endParaRPr lang="en-US" sz="1800" dirty="0"/>
          </a:p>
        </p:txBody>
      </p:sp>
      <p:sp>
        <p:nvSpPr>
          <p:cNvPr id="17" name="Shape 14"/>
          <p:cNvSpPr/>
          <p:nvPr/>
        </p:nvSpPr>
        <p:spPr>
          <a:xfrm>
            <a:off x="1143000" y="4113312"/>
            <a:ext cx="5054600" cy="19050"/>
          </a:xfrm>
          <a:prstGeom prst="rect">
            <a:avLst/>
          </a:prstGeom>
          <a:solidFill>
            <a:srgbClr val="000000"/>
          </a:solidFill>
          <a:ln/>
        </p:spPr>
      </p:sp>
      <p:sp>
        <p:nvSpPr>
          <p:cNvPr id="18" name="Text 15"/>
          <p:cNvSpPr/>
          <p:nvPr/>
        </p:nvSpPr>
        <p:spPr>
          <a:xfrm>
            <a:off x="1143000" y="4303812"/>
            <a:ext cx="5560060"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04</a:t>
            </a:r>
            <a:endParaRPr lang="en-US" sz="1800" dirty="0"/>
          </a:p>
        </p:txBody>
      </p:sp>
      <p:sp>
        <p:nvSpPr>
          <p:cNvPr id="19" name="Text 16"/>
          <p:cNvSpPr/>
          <p:nvPr/>
        </p:nvSpPr>
        <p:spPr>
          <a:xfrm>
            <a:off x="1143000" y="4745732"/>
            <a:ext cx="5206238" cy="700881"/>
          </a:xfrm>
          <a:prstGeom prst="rect">
            <a:avLst/>
          </a:prstGeom>
          <a:noFill/>
          <a:ln/>
        </p:spPr>
        <p:txBody>
          <a:bodyPr wrap="square" lIns="25400" tIns="25400" rIns="25400" bIns="25400" rtlCol="0" anchor="t">
            <a:normAutofit/>
          </a:bodyPr>
          <a:lstStyle/>
          <a:p>
            <a:pPr algn="l" indent="0" marL="0">
              <a:lnSpc>
                <a:spcPct val="100385"/>
              </a:lnSpc>
              <a:buNone/>
            </a:pPr>
            <a:r>
              <a:rPr lang="en-US" sz="2250" b="1" spc="-45" kern="0" dirty="0">
                <a:solidFill>
                  <a:srgbClr val="000000"/>
                </a:solidFill>
                <a:latin typeface="Arial" pitchFamily="34" charset="0"/>
                <a:ea typeface="Arial" pitchFamily="34" charset="-122"/>
                <a:cs typeface="Arial" pitchFamily="34" charset="-120"/>
              </a:rPr>
              <a:t>Is it cheaper or faster than the person doing it today?</a:t>
            </a:r>
            <a:endParaRPr lang="en-US" sz="2250" dirty="0"/>
          </a:p>
        </p:txBody>
      </p:sp>
      <p:sp>
        <p:nvSpPr>
          <p:cNvPr id="20" name="Text 17"/>
          <p:cNvSpPr/>
          <p:nvPr/>
        </p:nvSpPr>
        <p:spPr>
          <a:xfrm>
            <a:off x="1143000" y="5484713"/>
            <a:ext cx="5206238" cy="641548"/>
          </a:xfrm>
          <a:prstGeom prst="rect">
            <a:avLst/>
          </a:prstGeom>
          <a:noFill/>
          <a:ln/>
        </p:spPr>
        <p:txBody>
          <a:bodyPr wrap="square" lIns="25400" tIns="25400" rIns="25400" bIns="25400" rtlCol="0" anchor="t">
            <a:normAutofit/>
          </a:bodyPr>
          <a:lstStyle/>
          <a:p>
            <a:pPr algn="l" indent="0" marL="0">
              <a:lnSpc>
                <a:spcPct val="113143"/>
              </a:lnSpc>
              <a:buNone/>
            </a:pPr>
            <a:r>
              <a:rPr lang="en-US" sz="1800" dirty="0">
                <a:solidFill>
                  <a:srgbClr val="4D4D4D"/>
                </a:solidFill>
                <a:latin typeface="Arial" pitchFamily="34" charset="0"/>
                <a:ea typeface="Arial" pitchFamily="34" charset="-122"/>
                <a:cs typeface="Arial" pitchFamily="34" charset="-120"/>
              </a:rPr>
              <a:t>Run it against this year’s numbers, not next year’s.</a:t>
            </a:r>
            <a:endParaRPr lang="en-US" sz="1800" dirty="0"/>
          </a:p>
        </p:txBody>
      </p:sp>
      <p:sp>
        <p:nvSpPr>
          <p:cNvPr id="21" name="Shape 18"/>
          <p:cNvSpPr/>
          <p:nvPr/>
        </p:nvSpPr>
        <p:spPr>
          <a:xfrm>
            <a:off x="6616700" y="4113312"/>
            <a:ext cx="5054600" cy="19050"/>
          </a:xfrm>
          <a:prstGeom prst="rect">
            <a:avLst/>
          </a:prstGeom>
          <a:solidFill>
            <a:srgbClr val="000000"/>
          </a:solidFill>
          <a:ln/>
        </p:spPr>
      </p:sp>
      <p:sp>
        <p:nvSpPr>
          <p:cNvPr id="22" name="Text 19"/>
          <p:cNvSpPr/>
          <p:nvPr/>
        </p:nvSpPr>
        <p:spPr>
          <a:xfrm>
            <a:off x="6616700" y="4303812"/>
            <a:ext cx="5560060"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05</a:t>
            </a:r>
            <a:endParaRPr lang="en-US" sz="1800" dirty="0"/>
          </a:p>
        </p:txBody>
      </p:sp>
      <p:sp>
        <p:nvSpPr>
          <p:cNvPr id="23" name="Text 20"/>
          <p:cNvSpPr/>
          <p:nvPr/>
        </p:nvSpPr>
        <p:spPr>
          <a:xfrm>
            <a:off x="6616700" y="4745732"/>
            <a:ext cx="5560060" cy="369491"/>
          </a:xfrm>
          <a:prstGeom prst="rect">
            <a:avLst/>
          </a:prstGeom>
          <a:noFill/>
          <a:ln/>
        </p:spPr>
        <p:txBody>
          <a:bodyPr wrap="square" lIns="25400" tIns="25400" rIns="25400" bIns="25400" rtlCol="0" anchor="t">
            <a:normAutofit/>
          </a:bodyPr>
          <a:lstStyle/>
          <a:p>
            <a:pPr algn="l" indent="0" marL="0">
              <a:lnSpc>
                <a:spcPct val="100385"/>
              </a:lnSpc>
              <a:buNone/>
            </a:pPr>
            <a:r>
              <a:rPr lang="en-US" sz="2250" b="1" spc="-45" kern="0" dirty="0">
                <a:solidFill>
                  <a:srgbClr val="000000"/>
                </a:solidFill>
                <a:latin typeface="Arial" pitchFamily="34" charset="0"/>
                <a:ea typeface="Arial" pitchFamily="34" charset="-122"/>
                <a:cs typeface="Arial" pitchFamily="34" charset="-120"/>
              </a:rPr>
              <a:t>Can a human course-correct?</a:t>
            </a:r>
            <a:endParaRPr lang="en-US" sz="2250" dirty="0"/>
          </a:p>
        </p:txBody>
      </p:sp>
      <p:sp>
        <p:nvSpPr>
          <p:cNvPr id="24" name="Text 21"/>
          <p:cNvSpPr/>
          <p:nvPr/>
        </p:nvSpPr>
        <p:spPr>
          <a:xfrm>
            <a:off x="6616700" y="5153323"/>
            <a:ext cx="5560060" cy="339824"/>
          </a:xfrm>
          <a:prstGeom prst="rect">
            <a:avLst/>
          </a:prstGeom>
          <a:noFill/>
          <a:ln/>
        </p:spPr>
        <p:txBody>
          <a:bodyPr wrap="square" lIns="25400" tIns="25400" rIns="25400" bIns="25400" rtlCol="0" anchor="t">
            <a:normAutofit/>
          </a:bodyPr>
          <a:lstStyle/>
          <a:p>
            <a:pPr algn="l" indent="0" marL="0">
              <a:lnSpc>
                <a:spcPct val="113143"/>
              </a:lnSpc>
              <a:buNone/>
            </a:pPr>
            <a:r>
              <a:rPr lang="en-US" sz="1800" dirty="0">
                <a:solidFill>
                  <a:srgbClr val="4D4D4D"/>
                </a:solidFill>
                <a:latin typeface="Arial" pitchFamily="34" charset="0"/>
                <a:ea typeface="Arial" pitchFamily="34" charset="-122"/>
                <a:cs typeface="Arial" pitchFamily="34" charset="-120"/>
              </a:rPr>
              <a:t>Positioned to intervene, not notified afterwards.</a:t>
            </a:r>
            <a:endParaRPr lang="en-US" sz="1800" dirty="0"/>
          </a:p>
        </p:txBody>
      </p:sp>
      <p:sp>
        <p:nvSpPr>
          <p:cNvPr id="25" name="Shape 22"/>
          <p:cNvSpPr/>
          <p:nvPr/>
        </p:nvSpPr>
        <p:spPr>
          <a:xfrm>
            <a:off x="12090400" y="4113312"/>
            <a:ext cx="5054600" cy="19050"/>
          </a:xfrm>
          <a:prstGeom prst="rect">
            <a:avLst/>
          </a:prstGeom>
          <a:solidFill>
            <a:srgbClr val="000000"/>
          </a:solidFill>
          <a:ln/>
        </p:spPr>
      </p:sp>
      <p:sp>
        <p:nvSpPr>
          <p:cNvPr id="26" name="Text 23"/>
          <p:cNvSpPr/>
          <p:nvPr/>
        </p:nvSpPr>
        <p:spPr>
          <a:xfrm>
            <a:off x="12090400" y="4303812"/>
            <a:ext cx="5560060"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06</a:t>
            </a:r>
            <a:endParaRPr lang="en-US" sz="1800" dirty="0"/>
          </a:p>
        </p:txBody>
      </p:sp>
      <p:sp>
        <p:nvSpPr>
          <p:cNvPr id="27" name="Text 24"/>
          <p:cNvSpPr/>
          <p:nvPr/>
        </p:nvSpPr>
        <p:spPr>
          <a:xfrm>
            <a:off x="12090400" y="4745732"/>
            <a:ext cx="5206238" cy="700881"/>
          </a:xfrm>
          <a:prstGeom prst="rect">
            <a:avLst/>
          </a:prstGeom>
          <a:noFill/>
          <a:ln/>
        </p:spPr>
        <p:txBody>
          <a:bodyPr wrap="square" lIns="25400" tIns="25400" rIns="25400" bIns="25400" rtlCol="0" anchor="t">
            <a:normAutofit/>
          </a:bodyPr>
          <a:lstStyle/>
          <a:p>
            <a:pPr algn="l" indent="0" marL="0">
              <a:lnSpc>
                <a:spcPct val="100385"/>
              </a:lnSpc>
              <a:buNone/>
            </a:pPr>
            <a:r>
              <a:rPr lang="en-US" sz="2250" b="1" spc="-45" kern="0" dirty="0">
                <a:solidFill>
                  <a:srgbClr val="000000"/>
                </a:solidFill>
                <a:latin typeface="Arial" pitchFamily="34" charset="0"/>
                <a:ea typeface="Arial" pitchFamily="34" charset="-122"/>
                <a:cs typeface="Arial" pitchFamily="34" charset="-120"/>
              </a:rPr>
              <a:t>Are data access, classification and compliance settled?</a:t>
            </a:r>
            <a:endParaRPr lang="en-US" sz="2250" dirty="0"/>
          </a:p>
        </p:txBody>
      </p:sp>
      <p:sp>
        <p:nvSpPr>
          <p:cNvPr id="28" name="Text 25"/>
          <p:cNvSpPr/>
          <p:nvPr/>
        </p:nvSpPr>
        <p:spPr>
          <a:xfrm>
            <a:off x="12090400" y="5484713"/>
            <a:ext cx="5560060" cy="339824"/>
          </a:xfrm>
          <a:prstGeom prst="rect">
            <a:avLst/>
          </a:prstGeom>
          <a:noFill/>
          <a:ln/>
        </p:spPr>
        <p:txBody>
          <a:bodyPr wrap="square" lIns="25400" tIns="25400" rIns="25400" bIns="25400" rtlCol="0" anchor="t">
            <a:normAutofit/>
          </a:bodyPr>
          <a:lstStyle/>
          <a:p>
            <a:pPr algn="l" indent="0" marL="0">
              <a:lnSpc>
                <a:spcPct val="113143"/>
              </a:lnSpc>
              <a:buNone/>
            </a:pPr>
            <a:r>
              <a:rPr lang="en-US" sz="1800" dirty="0">
                <a:solidFill>
                  <a:srgbClr val="4D4D4D"/>
                </a:solidFill>
                <a:latin typeface="Arial" pitchFamily="34" charset="0"/>
                <a:ea typeface="Arial" pitchFamily="34" charset="-122"/>
                <a:cs typeface="Arial" pitchFamily="34" charset="-120"/>
              </a:rPr>
              <a:t>Before the build, not discovered at the end.</a:t>
            </a:r>
            <a:endParaRPr lang="en-US" sz="1800" dirty="0"/>
          </a:p>
        </p:txBody>
      </p:sp>
      <p:sp>
        <p:nvSpPr>
          <p:cNvPr id="29" name="Shape 26"/>
          <p:cNvSpPr/>
          <p:nvPr/>
        </p:nvSpPr>
        <p:spPr>
          <a:xfrm>
            <a:off x="1143000" y="6244630"/>
            <a:ext cx="16002000" cy="1060648"/>
          </a:xfrm>
          <a:prstGeom prst="rect">
            <a:avLst/>
          </a:prstGeom>
          <a:ln w="19050">
            <a:solidFill>
              <a:srgbClr val="A100FF"/>
            </a:solidFill>
            <a:prstDash val="solid"/>
          </a:ln>
        </p:spPr>
      </p:sp>
      <p:sp>
        <p:nvSpPr>
          <p:cNvPr id="30" name="Text 27"/>
          <p:cNvSpPr/>
          <p:nvPr/>
        </p:nvSpPr>
        <p:spPr>
          <a:xfrm>
            <a:off x="1466850" y="6454180"/>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07</a:t>
            </a:r>
            <a:endParaRPr lang="en-US" sz="1800" dirty="0"/>
          </a:p>
        </p:txBody>
      </p:sp>
      <p:sp>
        <p:nvSpPr>
          <p:cNvPr id="31" name="Text 28"/>
          <p:cNvSpPr/>
          <p:nvPr/>
        </p:nvSpPr>
        <p:spPr>
          <a:xfrm>
            <a:off x="1969889" y="6454180"/>
            <a:ext cx="6901726" cy="381000"/>
          </a:xfrm>
          <a:prstGeom prst="rect">
            <a:avLst/>
          </a:prstGeom>
          <a:noFill/>
          <a:ln/>
        </p:spPr>
        <p:txBody>
          <a:bodyPr wrap="square" lIns="25400" tIns="25400" rIns="25400" bIns="25400" rtlCol="0" anchor="t">
            <a:normAutofit/>
          </a:bodyPr>
          <a:lstStyle/>
          <a:p>
            <a:pPr algn="l" indent="0" marL="0">
              <a:lnSpc>
                <a:spcPct val="103846"/>
              </a:lnSpc>
              <a:buNone/>
            </a:pPr>
            <a:r>
              <a:rPr lang="en-US" sz="2250" b="1" spc="-45" kern="0" dirty="0">
                <a:solidFill>
                  <a:srgbClr val="000000"/>
                </a:solidFill>
                <a:latin typeface="Arial" pitchFamily="34" charset="0"/>
                <a:ea typeface="Arial" pitchFamily="34" charset="-122"/>
                <a:cs typeface="Arial" pitchFamily="34" charset="-120"/>
              </a:rPr>
              <a:t>Is the workflow already automated, or automatable?</a:t>
            </a:r>
            <a:endParaRPr lang="en-US" sz="2250" dirty="0"/>
          </a:p>
        </p:txBody>
      </p:sp>
      <p:sp>
        <p:nvSpPr>
          <p:cNvPr id="32" name="Text 29"/>
          <p:cNvSpPr/>
          <p:nvPr/>
        </p:nvSpPr>
        <p:spPr>
          <a:xfrm>
            <a:off x="8472785" y="6492280"/>
            <a:ext cx="8598816" cy="641548"/>
          </a:xfrm>
          <a:prstGeom prst="rect">
            <a:avLst/>
          </a:prstGeom>
          <a:noFill/>
          <a:ln/>
        </p:spPr>
        <p:txBody>
          <a:bodyPr wrap="square" lIns="25400" tIns="25400" rIns="25400" bIns="25400" rtlCol="0" anchor="t">
            <a:normAutofit/>
          </a:bodyPr>
          <a:lstStyle/>
          <a:p>
            <a:pPr algn="l" indent="0" marL="0">
              <a:lnSpc>
                <a:spcPct val="113143"/>
              </a:lnSpc>
              <a:buNone/>
            </a:pPr>
            <a:r>
              <a:rPr lang="en-US" sz="1800" dirty="0">
                <a:solidFill>
                  <a:srgbClr val="4D4D4D"/>
                </a:solidFill>
                <a:latin typeface="Arial" pitchFamily="34" charset="0"/>
                <a:ea typeface="Arial" pitchFamily="34" charset="-122"/>
                <a:cs typeface="Arial" pitchFamily="34" charset="-120"/>
              </a:rPr>
              <a:t>If yes, a strong AI candidate. If no, AI plus a human partner might get you to baseline.</a:t>
            </a:r>
            <a:endParaRPr lang="en-US" sz="1800" dirty="0"/>
          </a:p>
        </p:txBody>
      </p:sp>
      <p:sp>
        <p:nvSpPr>
          <p:cNvPr id="33" name="Shape 30"/>
          <p:cNvSpPr/>
          <p:nvPr/>
        </p:nvSpPr>
        <p:spPr>
          <a:xfrm>
            <a:off x="1143000" y="7419579"/>
            <a:ext cx="16002000" cy="1289149"/>
          </a:xfrm>
          <a:prstGeom prst="rect">
            <a:avLst/>
          </a:prstGeom>
          <a:solidFill>
            <a:srgbClr val="F4F4F2"/>
          </a:solidFill>
          <a:ln/>
        </p:spPr>
      </p:sp>
      <p:sp>
        <p:nvSpPr>
          <p:cNvPr id="34" name="Text 31"/>
          <p:cNvSpPr/>
          <p:nvPr/>
        </p:nvSpPr>
        <p:spPr>
          <a:xfrm>
            <a:off x="1428750" y="7619604"/>
            <a:ext cx="2300089"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OUR SYNTHESIS</a:t>
            </a:r>
            <a:endParaRPr lang="en-US" sz="1800" dirty="0"/>
          </a:p>
        </p:txBody>
      </p:sp>
      <p:sp>
        <p:nvSpPr>
          <p:cNvPr id="35" name="Text 32"/>
          <p:cNvSpPr/>
          <p:nvPr/>
        </p:nvSpPr>
        <p:spPr>
          <a:xfrm>
            <a:off x="3843139" y="7591029"/>
            <a:ext cx="13406595" cy="984349"/>
          </a:xfrm>
          <a:prstGeom prst="rect">
            <a:avLst/>
          </a:prstGeom>
          <a:noFill/>
          <a:ln/>
        </p:spPr>
        <p:txBody>
          <a:bodyPr wrap="square" lIns="25400" tIns="25400" rIns="25400" bIns="25400" rtlCol="0" anchor="t">
            <a:normAutofit/>
          </a:bodyPr>
          <a:lstStyle/>
          <a:p>
            <a:pPr algn="l" indent="0" marL="0">
              <a:lnSpc>
                <a:spcPct val="118286"/>
              </a:lnSpc>
              <a:buNone/>
            </a:pPr>
            <a:r>
              <a:rPr lang="en-US" sz="1800" dirty="0">
                <a:solidFill>
                  <a:srgbClr val="1A1A1A"/>
                </a:solidFill>
                <a:latin typeface="Arial" pitchFamily="34" charset="0"/>
                <a:ea typeface="Arial" pitchFamily="34" charset="-122"/>
                <a:cs typeface="Arial" pitchFamily="34" charset="-120"/>
              </a:rPr>
              <a:t>The gate is our synthesis. Value and feasibility are standard use case ranking; organizational readiness is ours, and it is the axis that decides whether a qualified workflow actually survives contact with your environment. Sequence deliberately rather than starting with whatever is most visible.</a:t>
            </a:r>
            <a:endParaRPr lang="en-US" sz="1800" dirty="0"/>
          </a:p>
        </p:txBody>
      </p:sp>
      <p:sp>
        <p:nvSpPr>
          <p:cNvPr id="36" name="Shape 33"/>
          <p:cNvSpPr/>
          <p:nvPr/>
        </p:nvSpPr>
        <p:spPr>
          <a:xfrm>
            <a:off x="1143000" y="8823028"/>
            <a:ext cx="16002000" cy="740073"/>
          </a:xfrm>
          <a:prstGeom prst="rect">
            <a:avLst/>
          </a:prstGeom>
          <a:solidFill>
            <a:srgbClr val="250038"/>
          </a:solidFill>
          <a:ln/>
        </p:spPr>
      </p:sp>
      <p:pic>
        <p:nvPicPr>
          <p:cNvPr id="3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24000" y="9083477"/>
            <a:ext cx="209550" cy="219075"/>
          </a:xfrm>
          <a:prstGeom prst="rect">
            <a:avLst/>
          </a:prstGeom>
        </p:spPr>
      </p:pic>
      <p:sp>
        <p:nvSpPr>
          <p:cNvPr id="38" name="Text 34"/>
          <p:cNvSpPr/>
          <p:nvPr/>
        </p:nvSpPr>
        <p:spPr>
          <a:xfrm>
            <a:off x="1943100" y="9013528"/>
            <a:ext cx="8917881" cy="397173"/>
          </a:xfrm>
          <a:prstGeom prst="rect">
            <a:avLst/>
          </a:prstGeom>
          <a:noFill/>
          <a:ln/>
        </p:spPr>
        <p:txBody>
          <a:bodyPr wrap="square" lIns="25400" tIns="25400" rIns="25400" bIns="25400" rtlCol="0" anchor="t">
            <a:normAutofit/>
          </a:bodyPr>
          <a:lstStyle/>
          <a:p>
            <a:pPr algn="l" indent="0" marL="0">
              <a:lnSpc>
                <a:spcPct val="115408"/>
              </a:lnSpc>
              <a:buNone/>
            </a:pPr>
            <a:r>
              <a:rPr lang="en-US" sz="2175" b="1" dirty="0">
                <a:solidFill>
                  <a:srgbClr val="FFFFFF"/>
                </a:solidFill>
                <a:latin typeface="Arial" pitchFamily="34" charset="0"/>
                <a:ea typeface="Arial" pitchFamily="34" charset="-122"/>
                <a:cs typeface="Arial" pitchFamily="34" charset="-120"/>
              </a:rPr>
              <a:t>If a candidate workflow fails two of these, it is not your beachhead.</a:t>
            </a:r>
            <a:endParaRPr lang="en-US" sz="21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2301776"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AMPLIFICATION</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470620"/>
            <a:ext cx="1466850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AI amplifies the system you already have</a:t>
            </a:r>
            <a:endParaRPr lang="en-US" sz="4200" dirty="0"/>
          </a:p>
        </p:txBody>
      </p:sp>
      <p:sp>
        <p:nvSpPr>
          <p:cNvPr id="5" name="Shape 2"/>
          <p:cNvSpPr/>
          <p:nvPr/>
        </p:nvSpPr>
        <p:spPr>
          <a:xfrm>
            <a:off x="1143000" y="3049191"/>
            <a:ext cx="7848600" cy="3758903"/>
          </a:xfrm>
          <a:prstGeom prst="rect">
            <a:avLst/>
          </a:prstGeom>
          <a:solidFill>
            <a:srgbClr val="F4F4F2"/>
          </a:solidFill>
          <a:ln/>
        </p:spPr>
      </p:sp>
      <p:sp>
        <p:nvSpPr>
          <p:cNvPr id="6" name="Text 3"/>
          <p:cNvSpPr/>
          <p:nvPr/>
        </p:nvSpPr>
        <p:spPr>
          <a:xfrm>
            <a:off x="1524000" y="3392091"/>
            <a:ext cx="779526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MATURITY</a:t>
            </a:r>
            <a:endParaRPr lang="en-US" sz="1800" dirty="0"/>
          </a:p>
        </p:txBody>
      </p:sp>
      <p:sp>
        <p:nvSpPr>
          <p:cNvPr id="7" name="Text 4"/>
          <p:cNvSpPr/>
          <p:nvPr/>
        </p:nvSpPr>
        <p:spPr>
          <a:xfrm>
            <a:off x="1524000" y="3910211"/>
            <a:ext cx="7299198" cy="1226641"/>
          </a:xfrm>
          <a:prstGeom prst="rect">
            <a:avLst/>
          </a:prstGeom>
          <a:noFill/>
          <a:ln/>
        </p:spPr>
        <p:txBody>
          <a:bodyPr wrap="square" lIns="25400" tIns="25400" rIns="25400" bIns="25400" rtlCol="0" anchor="t">
            <a:normAutofit/>
          </a:bodyPr>
          <a:lstStyle/>
          <a:p>
            <a:pPr algn="l" indent="0" marL="0">
              <a:lnSpc>
                <a:spcPct val="113455"/>
              </a:lnSpc>
              <a:buNone/>
            </a:pPr>
            <a:r>
              <a:rPr lang="en-US" sz="2400" b="1" dirty="0">
                <a:solidFill>
                  <a:srgbClr val="000000"/>
                </a:solidFill>
                <a:latin typeface="Arial" pitchFamily="34" charset="0"/>
                <a:ea typeface="Arial" pitchFamily="34" charset="-122"/>
                <a:cs typeface="Arial" pitchFamily="34" charset="-120"/>
              </a:rPr>
              <a:t>Bad at virtual machine management, then moved to cloud? Cloud let you be bad at a scale you had never seen. AI does the same to a weak workflow.</a:t>
            </a:r>
            <a:endParaRPr lang="en-US" sz="2400" dirty="0"/>
          </a:p>
        </p:txBody>
      </p:sp>
      <p:sp>
        <p:nvSpPr>
          <p:cNvPr id="8" name="Shape 5"/>
          <p:cNvSpPr/>
          <p:nvPr/>
        </p:nvSpPr>
        <p:spPr>
          <a:xfrm>
            <a:off x="1524000" y="5308303"/>
            <a:ext cx="1183581" cy="530820"/>
          </a:xfrm>
          <a:prstGeom prst="rect">
            <a:avLst/>
          </a:prstGeom>
          <a:ln w="6350">
            <a:solidFill>
              <a:srgbClr val="C8C8C2"/>
            </a:solidFill>
            <a:prstDash val="solid"/>
          </a:ln>
        </p:spPr>
      </p:sp>
      <p:sp>
        <p:nvSpPr>
          <p:cNvPr id="9" name="Text 6"/>
          <p:cNvSpPr/>
          <p:nvPr/>
        </p:nvSpPr>
        <p:spPr>
          <a:xfrm>
            <a:off x="1663700" y="5390853"/>
            <a:ext cx="980381" cy="403820"/>
          </a:xfrm>
          <a:prstGeom prst="rect">
            <a:avLst/>
          </a:prstGeom>
          <a:noFill/>
          <a:ln/>
        </p:spPr>
        <p:txBody>
          <a:bodyPr wrap="none" lIns="25400" tIns="25400" rIns="25400" bIns="25400" rtlCol="0" anchor="t">
            <a:normAutofit/>
          </a:bodyPr>
          <a:lstStyle/>
          <a:p>
            <a:pPr algn="l" indent="0" marL="0">
              <a:lnSpc>
                <a:spcPct val="137143"/>
              </a:lnSpc>
              <a:buNone/>
            </a:pPr>
            <a:r>
              <a:rPr lang="en-US" sz="1800" dirty="0">
                <a:solidFill>
                  <a:srgbClr val="1A1A1A"/>
                </a:solidFill>
                <a:latin typeface="Arial" pitchFamily="34" charset="0"/>
                <a:ea typeface="Arial" pitchFamily="34" charset="-122"/>
                <a:cs typeface="Arial" pitchFamily="34" charset="-120"/>
              </a:rPr>
              <a:t>Security</a:t>
            </a:r>
            <a:endParaRPr lang="en-US" sz="1800" dirty="0"/>
          </a:p>
        </p:txBody>
      </p:sp>
      <p:sp>
        <p:nvSpPr>
          <p:cNvPr id="10" name="Shape 7"/>
          <p:cNvSpPr/>
          <p:nvPr/>
        </p:nvSpPr>
        <p:spPr>
          <a:xfrm>
            <a:off x="2802831" y="5308303"/>
            <a:ext cx="1331913" cy="530820"/>
          </a:xfrm>
          <a:prstGeom prst="rect">
            <a:avLst/>
          </a:prstGeom>
          <a:ln w="6350">
            <a:solidFill>
              <a:srgbClr val="C8C8C2"/>
            </a:solidFill>
            <a:prstDash val="solid"/>
          </a:ln>
        </p:spPr>
      </p:sp>
      <p:sp>
        <p:nvSpPr>
          <p:cNvPr id="11" name="Text 8"/>
          <p:cNvSpPr/>
          <p:nvPr/>
        </p:nvSpPr>
        <p:spPr>
          <a:xfrm>
            <a:off x="2942531" y="5390853"/>
            <a:ext cx="1128713" cy="403820"/>
          </a:xfrm>
          <a:prstGeom prst="rect">
            <a:avLst/>
          </a:prstGeom>
          <a:noFill/>
          <a:ln/>
        </p:spPr>
        <p:txBody>
          <a:bodyPr wrap="none" lIns="25400" tIns="25400" rIns="25400" bIns="25400" rtlCol="0" anchor="t">
            <a:normAutofit/>
          </a:bodyPr>
          <a:lstStyle/>
          <a:p>
            <a:pPr algn="l" indent="0" marL="0">
              <a:lnSpc>
                <a:spcPct val="137143"/>
              </a:lnSpc>
              <a:buNone/>
            </a:pPr>
            <a:r>
              <a:rPr lang="en-US" sz="1800" dirty="0">
                <a:solidFill>
                  <a:srgbClr val="1A1A1A"/>
                </a:solidFill>
                <a:latin typeface="Arial" pitchFamily="34" charset="0"/>
                <a:ea typeface="Arial" pitchFamily="34" charset="-122"/>
                <a:cs typeface="Arial" pitchFamily="34" charset="-120"/>
              </a:rPr>
              <a:t>Reliability</a:t>
            </a:r>
            <a:endParaRPr lang="en-US" sz="1800" dirty="0"/>
          </a:p>
        </p:txBody>
      </p:sp>
      <p:sp>
        <p:nvSpPr>
          <p:cNvPr id="12" name="Shape 9"/>
          <p:cNvSpPr/>
          <p:nvPr/>
        </p:nvSpPr>
        <p:spPr>
          <a:xfrm>
            <a:off x="4229993" y="5308303"/>
            <a:ext cx="1674118" cy="530820"/>
          </a:xfrm>
          <a:prstGeom prst="rect">
            <a:avLst/>
          </a:prstGeom>
          <a:ln w="6350">
            <a:solidFill>
              <a:srgbClr val="C8C8C2"/>
            </a:solidFill>
            <a:prstDash val="solid"/>
          </a:ln>
        </p:spPr>
      </p:sp>
      <p:sp>
        <p:nvSpPr>
          <p:cNvPr id="13" name="Text 10"/>
          <p:cNvSpPr/>
          <p:nvPr/>
        </p:nvSpPr>
        <p:spPr>
          <a:xfrm>
            <a:off x="4369693" y="5390853"/>
            <a:ext cx="1470918" cy="403820"/>
          </a:xfrm>
          <a:prstGeom prst="rect">
            <a:avLst/>
          </a:prstGeom>
          <a:noFill/>
          <a:ln/>
        </p:spPr>
        <p:txBody>
          <a:bodyPr wrap="none" lIns="25400" tIns="25400" rIns="25400" bIns="25400" rtlCol="0" anchor="t">
            <a:normAutofit/>
          </a:bodyPr>
          <a:lstStyle/>
          <a:p>
            <a:pPr algn="l" indent="0" marL="0">
              <a:lnSpc>
                <a:spcPct val="137143"/>
              </a:lnSpc>
              <a:buNone/>
            </a:pPr>
            <a:r>
              <a:rPr lang="en-US" sz="1800" dirty="0">
                <a:solidFill>
                  <a:srgbClr val="1A1A1A"/>
                </a:solidFill>
                <a:latin typeface="Arial" pitchFamily="34" charset="0"/>
                <a:ea typeface="Arial" pitchFamily="34" charset="-122"/>
                <a:cs typeface="Arial" pitchFamily="34" charset="-120"/>
              </a:rPr>
              <a:t>Performance</a:t>
            </a:r>
            <a:endParaRPr lang="en-US" sz="1800" dirty="0"/>
          </a:p>
        </p:txBody>
      </p:sp>
      <p:sp>
        <p:nvSpPr>
          <p:cNvPr id="14" name="Shape 11"/>
          <p:cNvSpPr/>
          <p:nvPr/>
        </p:nvSpPr>
        <p:spPr>
          <a:xfrm>
            <a:off x="5999361" y="5308303"/>
            <a:ext cx="2277467" cy="530820"/>
          </a:xfrm>
          <a:prstGeom prst="rect">
            <a:avLst/>
          </a:prstGeom>
          <a:ln w="6350">
            <a:solidFill>
              <a:srgbClr val="C8C8C2"/>
            </a:solidFill>
            <a:prstDash val="solid"/>
          </a:ln>
        </p:spPr>
      </p:sp>
      <p:sp>
        <p:nvSpPr>
          <p:cNvPr id="15" name="Text 12"/>
          <p:cNvSpPr/>
          <p:nvPr/>
        </p:nvSpPr>
        <p:spPr>
          <a:xfrm>
            <a:off x="6139061" y="5390853"/>
            <a:ext cx="2074267" cy="403820"/>
          </a:xfrm>
          <a:prstGeom prst="rect">
            <a:avLst/>
          </a:prstGeom>
          <a:noFill/>
          <a:ln/>
        </p:spPr>
        <p:txBody>
          <a:bodyPr wrap="none" lIns="25400" tIns="25400" rIns="25400" bIns="25400" rtlCol="0" anchor="t">
            <a:normAutofit/>
          </a:bodyPr>
          <a:lstStyle/>
          <a:p>
            <a:pPr algn="l" indent="0" marL="0">
              <a:lnSpc>
                <a:spcPct val="137143"/>
              </a:lnSpc>
              <a:buNone/>
            </a:pPr>
            <a:r>
              <a:rPr lang="en-US" sz="1800" dirty="0">
                <a:solidFill>
                  <a:srgbClr val="1A1A1A"/>
                </a:solidFill>
                <a:latin typeface="Arial" pitchFamily="34" charset="0"/>
                <a:ea typeface="Arial" pitchFamily="34" charset="-122"/>
                <a:cs typeface="Arial" pitchFamily="34" charset="-120"/>
              </a:rPr>
              <a:t>Cost effectiveness</a:t>
            </a:r>
            <a:endParaRPr lang="en-US" sz="1800" dirty="0"/>
          </a:p>
        </p:txBody>
      </p:sp>
      <p:sp>
        <p:nvSpPr>
          <p:cNvPr id="16" name="Shape 13"/>
          <p:cNvSpPr/>
          <p:nvPr/>
        </p:nvSpPr>
        <p:spPr>
          <a:xfrm>
            <a:off x="1524000" y="5934373"/>
            <a:ext cx="2758976" cy="530820"/>
          </a:xfrm>
          <a:prstGeom prst="rect">
            <a:avLst/>
          </a:prstGeom>
          <a:ln w="6350">
            <a:solidFill>
              <a:srgbClr val="C8C8C2"/>
            </a:solidFill>
            <a:prstDash val="solid"/>
          </a:ln>
        </p:spPr>
      </p:sp>
      <p:sp>
        <p:nvSpPr>
          <p:cNvPr id="17" name="Text 14"/>
          <p:cNvSpPr/>
          <p:nvPr/>
        </p:nvSpPr>
        <p:spPr>
          <a:xfrm>
            <a:off x="1663700" y="6016923"/>
            <a:ext cx="2562345" cy="403820"/>
          </a:xfrm>
          <a:prstGeom prst="rect">
            <a:avLst/>
          </a:prstGeom>
          <a:noFill/>
          <a:ln/>
        </p:spPr>
        <p:txBody>
          <a:bodyPr wrap="none" lIns="25400" tIns="25400" rIns="25400" bIns="25400" rtlCol="0" anchor="t">
            <a:normAutofit/>
          </a:bodyPr>
          <a:lstStyle/>
          <a:p>
            <a:pPr algn="l" indent="0" marL="0">
              <a:lnSpc>
                <a:spcPct val="137143"/>
              </a:lnSpc>
              <a:buNone/>
            </a:pPr>
            <a:r>
              <a:rPr lang="en-US" sz="1800" dirty="0">
                <a:solidFill>
                  <a:srgbClr val="1A1A1A"/>
                </a:solidFill>
                <a:latin typeface="Arial" pitchFamily="34" charset="0"/>
                <a:ea typeface="Arial" pitchFamily="34" charset="-122"/>
                <a:cs typeface="Arial" pitchFamily="34" charset="-120"/>
              </a:rPr>
              <a:t>Operational excellence</a:t>
            </a:r>
            <a:endParaRPr lang="en-US" sz="1800" dirty="0"/>
          </a:p>
        </p:txBody>
      </p:sp>
      <p:sp>
        <p:nvSpPr>
          <p:cNvPr id="18" name="Shape 15"/>
          <p:cNvSpPr/>
          <p:nvPr/>
        </p:nvSpPr>
        <p:spPr>
          <a:xfrm>
            <a:off x="9296400" y="3049191"/>
            <a:ext cx="7848600" cy="3758903"/>
          </a:xfrm>
          <a:prstGeom prst="rect">
            <a:avLst/>
          </a:prstGeom>
          <a:solidFill>
            <a:srgbClr val="F1E4FF"/>
          </a:solidFill>
          <a:ln/>
        </p:spPr>
      </p:sp>
      <p:sp>
        <p:nvSpPr>
          <p:cNvPr id="19" name="Text 16"/>
          <p:cNvSpPr/>
          <p:nvPr/>
        </p:nvSpPr>
        <p:spPr>
          <a:xfrm>
            <a:off x="9677400" y="3392091"/>
            <a:ext cx="779526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460073"/>
                </a:solidFill>
                <a:latin typeface="Arial" pitchFamily="34" charset="0"/>
                <a:ea typeface="Arial" pitchFamily="34" charset="-122"/>
                <a:cs typeface="Arial" pitchFamily="34" charset="-120"/>
              </a:rPr>
              <a:t>VERIFIABILITY</a:t>
            </a:r>
            <a:endParaRPr lang="en-US" sz="1800" dirty="0"/>
          </a:p>
        </p:txBody>
      </p:sp>
      <p:sp>
        <p:nvSpPr>
          <p:cNvPr id="20" name="Text 17"/>
          <p:cNvSpPr/>
          <p:nvPr/>
        </p:nvSpPr>
        <p:spPr>
          <a:xfrm>
            <a:off x="9677400" y="3910211"/>
            <a:ext cx="7299198" cy="1226641"/>
          </a:xfrm>
          <a:prstGeom prst="rect">
            <a:avLst/>
          </a:prstGeom>
          <a:noFill/>
          <a:ln/>
        </p:spPr>
        <p:txBody>
          <a:bodyPr wrap="square" lIns="25400" tIns="25400" rIns="25400" bIns="25400" rtlCol="0" anchor="t">
            <a:normAutofit/>
          </a:bodyPr>
          <a:lstStyle/>
          <a:p>
            <a:pPr algn="l" indent="0" marL="0">
              <a:lnSpc>
                <a:spcPct val="113455"/>
              </a:lnSpc>
              <a:buNone/>
            </a:pPr>
            <a:r>
              <a:rPr lang="en-US" sz="2400" b="1" dirty="0">
                <a:solidFill>
                  <a:srgbClr val="250038"/>
                </a:solidFill>
                <a:latin typeface="Arial" pitchFamily="34" charset="0"/>
                <a:ea typeface="Arial" pitchFamily="34" charset="-122"/>
                <a:cs typeface="Arial" pitchFamily="34" charset="-120"/>
              </a:rPr>
              <a:t>You cannot automate a workflow whose output you cannot verify. If you cannot test at pipeline speed without AI, you cannot with it.</a:t>
            </a:r>
            <a:endParaRPr lang="en-US" sz="2400" dirty="0"/>
          </a:p>
        </p:txBody>
      </p:sp>
      <p:sp>
        <p:nvSpPr>
          <p:cNvPr id="21" name="Text 18"/>
          <p:cNvSpPr/>
          <p:nvPr/>
        </p:nvSpPr>
        <p:spPr>
          <a:xfrm>
            <a:off x="9677400" y="5251153"/>
            <a:ext cx="7299198" cy="704850"/>
          </a:xfrm>
          <a:prstGeom prst="rect">
            <a:avLst/>
          </a:prstGeom>
          <a:noFill/>
          <a:ln/>
        </p:spPr>
        <p:txBody>
          <a:bodyPr wrap="square" lIns="25400" tIns="25400" rIns="25400" bIns="25400" rtlCol="0" anchor="t">
            <a:normAutofit/>
          </a:bodyPr>
          <a:lstStyle/>
          <a:p>
            <a:pPr algn="l" indent="0" marL="0">
              <a:lnSpc>
                <a:spcPct val="122093"/>
              </a:lnSpc>
              <a:buNone/>
            </a:pPr>
            <a:r>
              <a:rPr lang="en-US" sz="1875" dirty="0">
                <a:solidFill>
                  <a:srgbClr val="460073"/>
                </a:solidFill>
                <a:latin typeface="Arial" pitchFamily="34" charset="0"/>
                <a:ea typeface="Arial" pitchFamily="34" charset="-122"/>
                <a:cs typeface="Arial" pitchFamily="34" charset="-120"/>
              </a:rPr>
              <a:t>Code produces testable artifacts. Data work qualifies when evaluations play that role.</a:t>
            </a:r>
            <a:endParaRPr lang="en-US" sz="1875" dirty="0"/>
          </a:p>
        </p:txBody>
      </p:sp>
      <p:sp>
        <p:nvSpPr>
          <p:cNvPr id="22" name="Shape 19"/>
          <p:cNvSpPr/>
          <p:nvPr/>
        </p:nvSpPr>
        <p:spPr>
          <a:xfrm>
            <a:off x="1143000" y="7734499"/>
            <a:ext cx="16002000" cy="1215231"/>
          </a:xfrm>
          <a:prstGeom prst="rect">
            <a:avLst/>
          </a:prstGeom>
          <a:solidFill>
            <a:srgbClr val="250038"/>
          </a:solidFill>
          <a:ln/>
        </p:spPr>
      </p:sp>
      <p:pic>
        <p:nvPicPr>
          <p:cNvPr id="23"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24000" y="8232577"/>
            <a:ext cx="209550" cy="219075"/>
          </a:xfrm>
          <a:prstGeom prst="rect">
            <a:avLst/>
          </a:prstGeom>
        </p:spPr>
      </p:pic>
      <p:sp>
        <p:nvSpPr>
          <p:cNvPr id="24" name="Text 20"/>
          <p:cNvSpPr/>
          <p:nvPr/>
        </p:nvSpPr>
        <p:spPr>
          <a:xfrm>
            <a:off x="1943100" y="7982149"/>
            <a:ext cx="15265527" cy="758031"/>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FFFFFF"/>
                </a:solidFill>
                <a:latin typeface="Arial" pitchFamily="34" charset="0"/>
                <a:ea typeface="Arial" pitchFamily="34" charset="-122"/>
                <a:cs typeface="Arial" pitchFamily="34" charset="-120"/>
              </a:rPr>
              <a:t>A dozen agents at ten times human speed are worth nothing if every decision chokes through one reviewer. Verification methodology is what eventually lets some decisions move without a human, and it does not exist yet for most work.</a:t>
            </a:r>
            <a:endParaRPr lang="en-US" sz="2100" dirty="0"/>
          </a:p>
        </p:txBody>
      </p:sp>
      <p:sp>
        <p:nvSpPr>
          <p:cNvPr id="25" name="Text 21"/>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26" name="Text 22"/>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27" name="Text 23"/>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2348379"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THE CORE IDEA</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6482060" cy="1104900"/>
          </a:xfrm>
          <a:prstGeom prst="rect">
            <a:avLst/>
          </a:prstGeom>
          <a:noFill/>
          <a:ln/>
        </p:spPr>
        <p:txBody>
          <a:bodyPr wrap="square" lIns="25400" tIns="25400" rIns="25400" bIns="25400" rtlCol="0" anchor="t">
            <a:normAutofit/>
          </a:bodyPr>
          <a:lstStyle/>
          <a:p>
            <a:pPr algn="l" indent="0" marL="0">
              <a:lnSpc>
                <a:spcPct val="97674"/>
              </a:lnSpc>
              <a:buNone/>
            </a:pPr>
            <a:r>
              <a:rPr lang="en-US" sz="3750" b="1" spc="-75" kern="0" dirty="0">
                <a:solidFill>
                  <a:srgbClr val="000000"/>
                </a:solidFill>
                <a:latin typeface="Arial" pitchFamily="34" charset="0"/>
                <a:ea typeface="Arial" pitchFamily="34" charset="-122"/>
                <a:cs typeface="Arial" pitchFamily="34" charset="-120"/>
              </a:rPr>
              <a:t>Guardrails the AI enforces on itself are bypassable. </a:t>
            </a:r>
            <a:pPr algn="l" indent="0" marL="0">
              <a:lnSpc>
                <a:spcPct val="97674"/>
              </a:lnSpc>
              <a:buNone/>
            </a:pPr>
            <a:r>
              <a:rPr lang="en-US" sz="3750" b="1" spc="-75" kern="0" dirty="0">
                <a:solidFill>
                  <a:srgbClr val="A100FF"/>
                </a:solidFill>
                <a:latin typeface="Arial" pitchFamily="34" charset="0"/>
                <a:ea typeface="Arial" pitchFamily="34" charset="-122"/>
                <a:cs typeface="Arial" pitchFamily="34" charset="-120"/>
              </a:rPr>
              <a:t>Guardrails the infrastructure enforces are not</a:t>
            </a:r>
            <a:endParaRPr lang="en-US" sz="3750" dirty="0"/>
          </a:p>
        </p:txBody>
      </p:sp>
      <p:sp>
        <p:nvSpPr>
          <p:cNvPr id="5" name="Text 2"/>
          <p:cNvSpPr/>
          <p:nvPr/>
        </p:nvSpPr>
        <p:spPr>
          <a:xfrm>
            <a:off x="1143000" y="2842220"/>
            <a:ext cx="16285845" cy="707132"/>
          </a:xfrm>
          <a:prstGeom prst="rect">
            <a:avLst/>
          </a:prstGeom>
          <a:noFill/>
          <a:ln/>
        </p:spPr>
        <p:txBody>
          <a:bodyPr wrap="square" lIns="25400" tIns="25400" rIns="25400" bIns="25400" rtlCol="0" anchor="t">
            <a:normAutofit/>
          </a:bodyPr>
          <a:lstStyle/>
          <a:p>
            <a:pPr algn="l" indent="0" marL="0">
              <a:lnSpc>
                <a:spcPct val="120349"/>
              </a:lnSpc>
              <a:buNone/>
            </a:pPr>
            <a:r>
              <a:rPr lang="en-US" sz="1875" dirty="0">
                <a:solidFill>
                  <a:srgbClr val="4D4D4D"/>
                </a:solidFill>
                <a:latin typeface="Arial" pitchFamily="34" charset="0"/>
                <a:ea typeface="Arial" pitchFamily="34" charset="-122"/>
                <a:cs typeface="Arial" pitchFamily="34" charset="-120"/>
              </a:rPr>
              <a:t>The DoD defined trustworthy in 2020 as five principles. The one that governs AI you turn loose in a mission is </a:t>
            </a:r>
            <a:pPr algn="l" indent="0" marL="0">
              <a:lnSpc>
                <a:spcPct val="120349"/>
              </a:lnSpc>
              <a:buNone/>
            </a:pPr>
            <a:r>
              <a:rPr lang="en-US" sz="1875" b="1" dirty="0">
                <a:solidFill>
                  <a:srgbClr val="7500C0"/>
                </a:solidFill>
                <a:latin typeface="Arial" pitchFamily="34" charset="0"/>
                <a:ea typeface="Arial" pitchFamily="34" charset="-122"/>
                <a:cs typeface="Arial" pitchFamily="34" charset="-120"/>
              </a:rPr>
              <a:t>Governable </a:t>
            </a:r>
            <a:pPr algn="l" indent="0" marL="0">
              <a:lnSpc>
                <a:spcPct val="120349"/>
              </a:lnSpc>
              <a:buNone/>
            </a:pPr>
            <a:r>
              <a:rPr lang="en-US" sz="1875" dirty="0">
                <a:solidFill>
                  <a:srgbClr val="4D4D4D"/>
                </a:solidFill>
                <a:latin typeface="Arial" pitchFamily="34" charset="0"/>
                <a:ea typeface="Arial" pitchFamily="34" charset="-122"/>
                <a:cs typeface="Arial" pitchFamily="34" charset="-120"/>
              </a:rPr>
              <a:t>: the system detects unintended behavior and can disengage on command. </a:t>
            </a:r>
            <a:pPr algn="l" indent="0" marL="0">
              <a:lnSpc>
                <a:spcPct val="120349"/>
              </a:lnSpc>
              <a:buNone/>
            </a:pPr>
            <a:r>
              <a:rPr lang="en-US" sz="1800" dirty="0">
                <a:solidFill>
                  <a:srgbClr val="7500C0"/>
                </a:solidFill>
                <a:latin typeface="Courier New" pitchFamily="34" charset="0"/>
                <a:ea typeface="Courier New" pitchFamily="34" charset="-122"/>
                <a:cs typeface="Courier New" pitchFamily="34" charset="-120"/>
              </a:rPr>
              <a:t>S3 S4</a:t>
            </a:r>
            <a:endParaRPr lang="en-US" sz="1875" dirty="0"/>
          </a:p>
        </p:txBody>
      </p:sp>
      <p:sp>
        <p:nvSpPr>
          <p:cNvPr id="6" name="Shape 3"/>
          <p:cNvSpPr/>
          <p:nvPr/>
        </p:nvSpPr>
        <p:spPr>
          <a:xfrm>
            <a:off x="1143000" y="3663653"/>
            <a:ext cx="25400" cy="1949053"/>
          </a:xfrm>
          <a:prstGeom prst="rect">
            <a:avLst/>
          </a:prstGeom>
          <a:solidFill>
            <a:srgbClr val="A100FF"/>
          </a:solidFill>
          <a:ln/>
        </p:spPr>
      </p:sp>
      <p:sp>
        <p:nvSpPr>
          <p:cNvPr id="7" name="Text 4"/>
          <p:cNvSpPr/>
          <p:nvPr/>
        </p:nvSpPr>
        <p:spPr>
          <a:xfrm>
            <a:off x="1416050" y="3682703"/>
            <a:ext cx="7979819" cy="1325563"/>
          </a:xfrm>
          <a:prstGeom prst="rect">
            <a:avLst/>
          </a:prstGeom>
          <a:noFill/>
          <a:ln/>
        </p:spPr>
        <p:txBody>
          <a:bodyPr wrap="square" lIns="25400" tIns="25400" rIns="25400" bIns="25400" rtlCol="0" anchor="t">
            <a:normAutofit/>
          </a:bodyPr>
          <a:lstStyle/>
          <a:p>
            <a:pPr algn="l" indent="0" marL="0">
              <a:lnSpc>
                <a:spcPct val="115227"/>
              </a:lnSpc>
              <a:buNone/>
            </a:pPr>
            <a:r>
              <a:rPr lang="en-US" sz="1950" b="1" dirty="0">
                <a:solidFill>
                  <a:srgbClr val="000000"/>
                </a:solidFill>
                <a:latin typeface="Arial" pitchFamily="34" charset="0"/>
                <a:ea typeface="Arial" pitchFamily="34" charset="-122"/>
                <a:cs typeface="Arial" pitchFamily="34" charset="-120"/>
              </a:rPr>
              <a:t>In a high-risk environment you cannot claim a measured outcome on a mission workflow unless the enforcement is deterministic. Guardrails are not a second subject. They are the reason the outcome is trustworthy.</a:t>
            </a:r>
            <a:endParaRPr lang="en-US" sz="1950" dirty="0"/>
          </a:p>
        </p:txBody>
      </p:sp>
      <p:sp>
        <p:nvSpPr>
          <p:cNvPr id="8" name="Text 5"/>
          <p:cNvSpPr/>
          <p:nvPr/>
        </p:nvSpPr>
        <p:spPr>
          <a:xfrm>
            <a:off x="9506347" y="3663653"/>
            <a:ext cx="8402519"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DEMONSTRATED LIVE, THREE BEATS</a:t>
            </a:r>
            <a:endParaRPr lang="en-US" sz="1800" dirty="0"/>
          </a:p>
        </p:txBody>
      </p:sp>
      <p:sp>
        <p:nvSpPr>
          <p:cNvPr id="9" name="Text 6"/>
          <p:cNvSpPr/>
          <p:nvPr/>
        </p:nvSpPr>
        <p:spPr>
          <a:xfrm>
            <a:off x="9506347" y="4105573"/>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01</a:t>
            </a:r>
            <a:endParaRPr lang="en-US" sz="1800" dirty="0"/>
          </a:p>
        </p:txBody>
      </p:sp>
      <p:sp>
        <p:nvSpPr>
          <p:cNvPr id="10" name="Text 7"/>
          <p:cNvSpPr/>
          <p:nvPr/>
        </p:nvSpPr>
        <p:spPr>
          <a:xfrm>
            <a:off x="9914137" y="4143673"/>
            <a:ext cx="3843605" cy="330696"/>
          </a:xfrm>
          <a:prstGeom prst="rect">
            <a:avLst/>
          </a:prstGeom>
          <a:noFill/>
          <a:ln/>
        </p:spPr>
        <p:txBody>
          <a:bodyPr wrap="square" lIns="25400" tIns="25400" rIns="25400" bIns="25400" rtlCol="0" anchor="t">
            <a:normAutofit/>
          </a:bodyPr>
          <a:lstStyle/>
          <a:p>
            <a:pPr algn="l" indent="0" marL="0">
              <a:lnSpc>
                <a:spcPct val="109714"/>
              </a:lnSpc>
              <a:buNone/>
            </a:pPr>
            <a:r>
              <a:rPr lang="en-US" sz="1800" dirty="0">
                <a:solidFill>
                  <a:srgbClr val="000000"/>
                </a:solidFill>
                <a:latin typeface="Arial" pitchFamily="34" charset="0"/>
                <a:ea typeface="Arial" pitchFamily="34" charset="-122"/>
                <a:cs typeface="Arial" pitchFamily="34" charset="-120"/>
              </a:rPr>
              <a:t>A request inside policy executes.</a:t>
            </a:r>
            <a:endParaRPr lang="en-US" sz="1800" dirty="0"/>
          </a:p>
        </p:txBody>
      </p:sp>
      <p:sp>
        <p:nvSpPr>
          <p:cNvPr id="11" name="Text 8"/>
          <p:cNvSpPr/>
          <p:nvPr/>
        </p:nvSpPr>
        <p:spPr>
          <a:xfrm>
            <a:off x="9506347" y="4547493"/>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02</a:t>
            </a:r>
            <a:endParaRPr lang="en-US" sz="1800" dirty="0"/>
          </a:p>
        </p:txBody>
      </p:sp>
      <p:sp>
        <p:nvSpPr>
          <p:cNvPr id="12" name="Text 9"/>
          <p:cNvSpPr/>
          <p:nvPr/>
        </p:nvSpPr>
        <p:spPr>
          <a:xfrm>
            <a:off x="9914137" y="4585593"/>
            <a:ext cx="7447790" cy="623292"/>
          </a:xfrm>
          <a:prstGeom prst="rect">
            <a:avLst/>
          </a:prstGeom>
          <a:noFill/>
          <a:ln/>
        </p:spPr>
        <p:txBody>
          <a:bodyPr wrap="square" lIns="25400" tIns="25400" rIns="25400" bIns="25400" rtlCol="0" anchor="t">
            <a:normAutofit/>
          </a:bodyPr>
          <a:lstStyle/>
          <a:p>
            <a:pPr algn="l" indent="0" marL="0">
              <a:lnSpc>
                <a:spcPct val="109714"/>
              </a:lnSpc>
              <a:buNone/>
            </a:pPr>
            <a:r>
              <a:rPr lang="en-US" sz="1800" dirty="0">
                <a:solidFill>
                  <a:srgbClr val="000000"/>
                </a:solidFill>
                <a:latin typeface="Arial" pitchFamily="34" charset="0"/>
                <a:ea typeface="Arial" pitchFamily="34" charset="-122"/>
                <a:cs typeface="Arial" pitchFamily="34" charset="-120"/>
              </a:rPr>
              <a:t>A request outside policy. The operator pushes, and the model agrees to answer anyway.</a:t>
            </a:r>
            <a:endParaRPr lang="en-US" sz="1800" dirty="0"/>
          </a:p>
        </p:txBody>
      </p:sp>
      <p:sp>
        <p:nvSpPr>
          <p:cNvPr id="13" name="Text 10"/>
          <p:cNvSpPr/>
          <p:nvPr/>
        </p:nvSpPr>
        <p:spPr>
          <a:xfrm>
            <a:off x="9506347" y="5246986"/>
            <a:ext cx="350639" cy="403820"/>
          </a:xfrm>
          <a:prstGeom prst="rect">
            <a:avLst/>
          </a:prstGeom>
          <a:noFill/>
          <a:ln/>
        </p:spPr>
        <p:txBody>
          <a:bodyPr wrap="square" lIns="25400" tIns="25400" rIns="25400" bIns="25400" rtlCol="0" anchor="t">
            <a:normAutofit/>
          </a:bodyPr>
          <a:lstStyle/>
          <a:p>
            <a:pPr algn="l" indent="0" marL="0">
              <a:lnSpc>
                <a:spcPct val="140488"/>
              </a:lnSpc>
              <a:buNone/>
            </a:pPr>
            <a:r>
              <a:rPr lang="en-US" sz="1800" dirty="0">
                <a:solidFill>
                  <a:srgbClr val="A100FF"/>
                </a:solidFill>
                <a:latin typeface="Courier New" pitchFamily="34" charset="0"/>
                <a:ea typeface="Courier New" pitchFamily="34" charset="-122"/>
                <a:cs typeface="Courier New" pitchFamily="34" charset="-120"/>
              </a:rPr>
              <a:t>03</a:t>
            </a:r>
            <a:endParaRPr lang="en-US" sz="1800" dirty="0"/>
          </a:p>
        </p:txBody>
      </p:sp>
      <p:sp>
        <p:nvSpPr>
          <p:cNvPr id="14" name="Text 11"/>
          <p:cNvSpPr/>
          <p:nvPr/>
        </p:nvSpPr>
        <p:spPr>
          <a:xfrm>
            <a:off x="9914137" y="5291435"/>
            <a:ext cx="6108274" cy="330696"/>
          </a:xfrm>
          <a:prstGeom prst="rect">
            <a:avLst/>
          </a:prstGeom>
          <a:noFill/>
          <a:ln/>
        </p:spPr>
        <p:txBody>
          <a:bodyPr wrap="square" lIns="25400" tIns="25400" rIns="25400" bIns="25400" rtlCol="0" anchor="t">
            <a:normAutofit/>
          </a:bodyPr>
          <a:lstStyle/>
          <a:p>
            <a:pPr algn="l" indent="0" marL="0">
              <a:lnSpc>
                <a:spcPct val="109714"/>
              </a:lnSpc>
              <a:buNone/>
            </a:pPr>
            <a:r>
              <a:rPr lang="en-US" sz="1800" b="1" dirty="0">
                <a:solidFill>
                  <a:srgbClr val="460073"/>
                </a:solidFill>
                <a:latin typeface="Arial" pitchFamily="34" charset="0"/>
                <a:ea typeface="Arial" pitchFamily="34" charset="-122"/>
                <a:cs typeface="Arial" pitchFamily="34" charset="-120"/>
              </a:rPr>
              <a:t>The call is denied at the policy layer before it executes.</a:t>
            </a:r>
            <a:endParaRPr lang="en-US" sz="1800" dirty="0"/>
          </a:p>
        </p:txBody>
      </p:sp>
      <p:sp>
        <p:nvSpPr>
          <p:cNvPr id="15" name="Shape 12"/>
          <p:cNvSpPr/>
          <p:nvPr/>
        </p:nvSpPr>
        <p:spPr>
          <a:xfrm>
            <a:off x="1143000" y="5784156"/>
            <a:ext cx="8001000" cy="3879552"/>
          </a:xfrm>
          <a:prstGeom prst="rect">
            <a:avLst/>
          </a:prstGeom>
          <a:solidFill>
            <a:srgbClr val="F4F4F2"/>
          </a:solidFill>
          <a:ln/>
        </p:spPr>
      </p:sp>
      <p:sp>
        <p:nvSpPr>
          <p:cNvPr id="16" name="Text 13"/>
          <p:cNvSpPr/>
          <p:nvPr/>
        </p:nvSpPr>
        <p:spPr>
          <a:xfrm>
            <a:off x="1562100" y="6050856"/>
            <a:ext cx="787908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PROMPT-LEVEL GUARDRAIL</a:t>
            </a:r>
            <a:endParaRPr lang="en-US" sz="1800" dirty="0"/>
          </a:p>
        </p:txBody>
      </p:sp>
      <p:sp>
        <p:nvSpPr>
          <p:cNvPr id="17" name="Shape 14"/>
          <p:cNvSpPr/>
          <p:nvPr/>
        </p:nvSpPr>
        <p:spPr>
          <a:xfrm>
            <a:off x="1562100" y="6588026"/>
            <a:ext cx="7162800" cy="9525"/>
          </a:xfrm>
          <a:prstGeom prst="rect">
            <a:avLst/>
          </a:prstGeom>
          <a:solidFill>
            <a:srgbClr val="C8C8C2"/>
          </a:solidFill>
          <a:ln/>
        </p:spPr>
      </p:sp>
      <p:sp>
        <p:nvSpPr>
          <p:cNvPr id="18" name="Text 15"/>
          <p:cNvSpPr/>
          <p:nvPr/>
        </p:nvSpPr>
        <p:spPr>
          <a:xfrm>
            <a:off x="1562100" y="6708676"/>
            <a:ext cx="737768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1A1A1A"/>
                </a:solidFill>
                <a:latin typeface="Arial" pitchFamily="34" charset="0"/>
                <a:ea typeface="Arial" pitchFamily="34" charset="-122"/>
                <a:cs typeface="Arial" pitchFamily="34" charset="-120"/>
              </a:rPr>
              <a:t>Probabilistic: the same input can produce a different output</a:t>
            </a:r>
            <a:endParaRPr lang="en-US" sz="1875" dirty="0"/>
          </a:p>
        </p:txBody>
      </p:sp>
      <p:sp>
        <p:nvSpPr>
          <p:cNvPr id="19" name="Shape 16"/>
          <p:cNvSpPr/>
          <p:nvPr/>
        </p:nvSpPr>
        <p:spPr>
          <a:xfrm>
            <a:off x="1562100" y="7132538"/>
            <a:ext cx="7162800" cy="9525"/>
          </a:xfrm>
          <a:prstGeom prst="rect">
            <a:avLst/>
          </a:prstGeom>
          <a:solidFill>
            <a:srgbClr val="C8C8C2"/>
          </a:solidFill>
          <a:ln/>
        </p:spPr>
      </p:sp>
      <p:sp>
        <p:nvSpPr>
          <p:cNvPr id="20" name="Text 17"/>
          <p:cNvSpPr/>
          <p:nvPr/>
        </p:nvSpPr>
        <p:spPr>
          <a:xfrm>
            <a:off x="1562100" y="7253188"/>
            <a:ext cx="737768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1A1A1A"/>
                </a:solidFill>
                <a:latin typeface="Arial" pitchFamily="34" charset="0"/>
                <a:ea typeface="Arial" pitchFamily="34" charset="-122"/>
                <a:cs typeface="Arial" pitchFamily="34" charset="-120"/>
              </a:rPr>
              <a:t>The model chooses to comply</a:t>
            </a:r>
            <a:endParaRPr lang="en-US" sz="1875" dirty="0"/>
          </a:p>
        </p:txBody>
      </p:sp>
      <p:sp>
        <p:nvSpPr>
          <p:cNvPr id="21" name="Shape 18"/>
          <p:cNvSpPr/>
          <p:nvPr/>
        </p:nvSpPr>
        <p:spPr>
          <a:xfrm>
            <a:off x="1562100" y="7677051"/>
            <a:ext cx="7162800" cy="9525"/>
          </a:xfrm>
          <a:prstGeom prst="rect">
            <a:avLst/>
          </a:prstGeom>
          <a:solidFill>
            <a:srgbClr val="C8C8C2"/>
          </a:solidFill>
          <a:ln/>
        </p:spPr>
      </p:sp>
      <p:sp>
        <p:nvSpPr>
          <p:cNvPr id="22" name="Text 19"/>
          <p:cNvSpPr/>
          <p:nvPr/>
        </p:nvSpPr>
        <p:spPr>
          <a:xfrm>
            <a:off x="1562100" y="7797701"/>
            <a:ext cx="7377684" cy="978595"/>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1A1A1A"/>
                </a:solidFill>
                <a:latin typeface="Arial" pitchFamily="34" charset="0"/>
                <a:ea typeface="Arial" pitchFamily="34" charset="-122"/>
                <a:cs typeface="Arial" pitchFamily="34" charset="-120"/>
              </a:rPr>
              <a:t>Jailbreakable: large reasoning models acting as autonomous jailbreak agents reached a 97.14% success rate across model combinations </a:t>
            </a:r>
            <a:pPr algn="l" indent="0" marL="0">
              <a:lnSpc>
                <a:spcPct val="113372"/>
              </a:lnSpc>
              <a:buNone/>
            </a:pPr>
            <a:r>
              <a:rPr lang="en-US" sz="1800" dirty="0">
                <a:solidFill>
                  <a:srgbClr val="7500C0"/>
                </a:solidFill>
                <a:latin typeface="Courier New" pitchFamily="34" charset="0"/>
                <a:ea typeface="Courier New" pitchFamily="34" charset="-122"/>
                <a:cs typeface="Courier New" pitchFamily="34" charset="-120"/>
              </a:rPr>
              <a:t>S24</a:t>
            </a:r>
            <a:endParaRPr lang="en-US" sz="1875" dirty="0"/>
          </a:p>
        </p:txBody>
      </p:sp>
      <p:sp>
        <p:nvSpPr>
          <p:cNvPr id="23" name="Shape 20"/>
          <p:cNvSpPr/>
          <p:nvPr/>
        </p:nvSpPr>
        <p:spPr>
          <a:xfrm>
            <a:off x="1562100" y="8852496"/>
            <a:ext cx="7162800" cy="9525"/>
          </a:xfrm>
          <a:prstGeom prst="rect">
            <a:avLst/>
          </a:prstGeom>
          <a:solidFill>
            <a:srgbClr val="C8C8C2"/>
          </a:solidFill>
          <a:ln/>
        </p:spPr>
      </p:sp>
      <p:sp>
        <p:nvSpPr>
          <p:cNvPr id="24" name="Text 21"/>
          <p:cNvSpPr/>
          <p:nvPr/>
        </p:nvSpPr>
        <p:spPr>
          <a:xfrm>
            <a:off x="1562100" y="8973146"/>
            <a:ext cx="737768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1A1A1A"/>
                </a:solidFill>
                <a:latin typeface="Arial" pitchFamily="34" charset="0"/>
                <a:ea typeface="Arial" pitchFamily="34" charset="-122"/>
                <a:cs typeface="Arial" pitchFamily="34" charset="-120"/>
              </a:rPr>
              <a:t>Drifts with every model change</a:t>
            </a:r>
            <a:endParaRPr lang="en-US" sz="1875" dirty="0"/>
          </a:p>
        </p:txBody>
      </p:sp>
      <p:sp>
        <p:nvSpPr>
          <p:cNvPr id="25" name="Shape 22"/>
          <p:cNvSpPr/>
          <p:nvPr/>
        </p:nvSpPr>
        <p:spPr>
          <a:xfrm>
            <a:off x="9144000" y="5784156"/>
            <a:ext cx="8001000" cy="3879552"/>
          </a:xfrm>
          <a:prstGeom prst="rect">
            <a:avLst/>
          </a:prstGeom>
          <a:solidFill>
            <a:srgbClr val="250038"/>
          </a:solidFill>
          <a:ln/>
        </p:spPr>
      </p:sp>
      <p:sp>
        <p:nvSpPr>
          <p:cNvPr id="26" name="Text 23"/>
          <p:cNvSpPr/>
          <p:nvPr/>
        </p:nvSpPr>
        <p:spPr>
          <a:xfrm>
            <a:off x="9563100" y="6050856"/>
            <a:ext cx="787908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DCAFFF"/>
                </a:solidFill>
                <a:latin typeface="Arial" pitchFamily="34" charset="0"/>
                <a:ea typeface="Arial" pitchFamily="34" charset="-122"/>
                <a:cs typeface="Arial" pitchFamily="34" charset="-120"/>
              </a:rPr>
              <a:t>INFRASTRUCTURE-LEVEL GUARDRAIL</a:t>
            </a:r>
            <a:endParaRPr lang="en-US" sz="1800" dirty="0"/>
          </a:p>
        </p:txBody>
      </p:sp>
      <p:sp>
        <p:nvSpPr>
          <p:cNvPr id="27" name="Shape 24"/>
          <p:cNvSpPr/>
          <p:nvPr/>
        </p:nvSpPr>
        <p:spPr>
          <a:xfrm>
            <a:off x="9563100" y="6588026"/>
            <a:ext cx="7162800" cy="9525"/>
          </a:xfrm>
          <a:prstGeom prst="rect">
            <a:avLst/>
          </a:prstGeom>
          <a:solidFill>
            <a:srgbClr val="FFFFFF">
              <a:alpha val="28000"/>
            </a:srgbClr>
          </a:solidFill>
          <a:ln/>
        </p:spPr>
      </p:sp>
      <p:sp>
        <p:nvSpPr>
          <p:cNvPr id="28" name="Text 25"/>
          <p:cNvSpPr/>
          <p:nvPr/>
        </p:nvSpPr>
        <p:spPr>
          <a:xfrm>
            <a:off x="9563100" y="6708676"/>
            <a:ext cx="737768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FFFFFF"/>
                </a:solidFill>
                <a:latin typeface="Arial" pitchFamily="34" charset="0"/>
                <a:ea typeface="Arial" pitchFamily="34" charset="-122"/>
                <a:cs typeface="Arial" pitchFamily="34" charset="-120"/>
              </a:rPr>
              <a:t>Deterministic: the same rule gives the same result, every time</a:t>
            </a:r>
            <a:endParaRPr lang="en-US" sz="1875" dirty="0"/>
          </a:p>
        </p:txBody>
      </p:sp>
      <p:sp>
        <p:nvSpPr>
          <p:cNvPr id="29" name="Shape 26"/>
          <p:cNvSpPr/>
          <p:nvPr/>
        </p:nvSpPr>
        <p:spPr>
          <a:xfrm>
            <a:off x="9563100" y="7132538"/>
            <a:ext cx="7162800" cy="9525"/>
          </a:xfrm>
          <a:prstGeom prst="rect">
            <a:avLst/>
          </a:prstGeom>
          <a:solidFill>
            <a:srgbClr val="FFFFFF">
              <a:alpha val="28000"/>
            </a:srgbClr>
          </a:solidFill>
          <a:ln/>
        </p:spPr>
      </p:sp>
      <p:sp>
        <p:nvSpPr>
          <p:cNvPr id="30" name="Text 27"/>
          <p:cNvSpPr/>
          <p:nvPr/>
        </p:nvSpPr>
        <p:spPr>
          <a:xfrm>
            <a:off x="9563100" y="7253188"/>
            <a:ext cx="737768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FFFFFF"/>
                </a:solidFill>
                <a:latin typeface="Arial" pitchFamily="34" charset="0"/>
                <a:ea typeface="Arial" pitchFamily="34" charset="-122"/>
                <a:cs typeface="Arial" pitchFamily="34" charset="-120"/>
              </a:rPr>
              <a:t>The action is blocked before the model decides</a:t>
            </a:r>
            <a:endParaRPr lang="en-US" sz="1875" dirty="0"/>
          </a:p>
        </p:txBody>
      </p:sp>
      <p:sp>
        <p:nvSpPr>
          <p:cNvPr id="31" name="Shape 28"/>
          <p:cNvSpPr/>
          <p:nvPr/>
        </p:nvSpPr>
        <p:spPr>
          <a:xfrm>
            <a:off x="9563100" y="7677051"/>
            <a:ext cx="7162800" cy="9525"/>
          </a:xfrm>
          <a:prstGeom prst="rect">
            <a:avLst/>
          </a:prstGeom>
          <a:solidFill>
            <a:srgbClr val="FFFFFF">
              <a:alpha val="28000"/>
            </a:srgbClr>
          </a:solidFill>
          <a:ln/>
        </p:spPr>
      </p:sp>
      <p:sp>
        <p:nvSpPr>
          <p:cNvPr id="32" name="Text 29"/>
          <p:cNvSpPr/>
          <p:nvPr/>
        </p:nvSpPr>
        <p:spPr>
          <a:xfrm>
            <a:off x="9563100" y="7797701"/>
            <a:ext cx="737768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FFFFFF"/>
                </a:solidFill>
                <a:latin typeface="Arial" pitchFamily="34" charset="0"/>
                <a:ea typeface="Arial" pitchFamily="34" charset="-122"/>
                <a:cs typeface="Arial" pitchFamily="34" charset="-120"/>
              </a:rPr>
              <a:t>Enforced</a:t>
            </a:r>
            <a:endParaRPr lang="en-US" sz="1875" dirty="0"/>
          </a:p>
        </p:txBody>
      </p:sp>
      <p:sp>
        <p:nvSpPr>
          <p:cNvPr id="33" name="Shape 30"/>
          <p:cNvSpPr/>
          <p:nvPr/>
        </p:nvSpPr>
        <p:spPr>
          <a:xfrm>
            <a:off x="9563100" y="8221563"/>
            <a:ext cx="7162800" cy="9525"/>
          </a:xfrm>
          <a:prstGeom prst="rect">
            <a:avLst/>
          </a:prstGeom>
          <a:solidFill>
            <a:srgbClr val="FFFFFF">
              <a:alpha val="28000"/>
            </a:srgbClr>
          </a:solidFill>
          <a:ln/>
        </p:spPr>
      </p:sp>
      <p:sp>
        <p:nvSpPr>
          <p:cNvPr id="34" name="Text 31"/>
          <p:cNvSpPr/>
          <p:nvPr/>
        </p:nvSpPr>
        <p:spPr>
          <a:xfrm>
            <a:off x="9563100" y="8342213"/>
            <a:ext cx="7377684" cy="347663"/>
          </a:xfrm>
          <a:prstGeom prst="rect">
            <a:avLst/>
          </a:prstGeom>
          <a:noFill/>
          <a:ln/>
        </p:spPr>
        <p:txBody>
          <a:bodyPr wrap="square" lIns="25400" tIns="25400" rIns="25400" bIns="25400" rtlCol="0" anchor="t">
            <a:normAutofit/>
          </a:bodyPr>
          <a:lstStyle/>
          <a:p>
            <a:pPr algn="l" indent="0" marL="0">
              <a:lnSpc>
                <a:spcPct val="113372"/>
              </a:lnSpc>
              <a:buNone/>
            </a:pPr>
            <a:r>
              <a:rPr lang="en-US" sz="1875" dirty="0">
                <a:solidFill>
                  <a:srgbClr val="FFFFFF"/>
                </a:solidFill>
                <a:latin typeface="Arial" pitchFamily="34" charset="0"/>
                <a:ea typeface="Arial" pitchFamily="34" charset="-122"/>
                <a:cs typeface="Arial" pitchFamily="34" charset="-120"/>
              </a:rPr>
              <a:t>Logged</a:t>
            </a:r>
            <a:endParaRPr lang="en-US" sz="1875" dirty="0"/>
          </a:p>
        </p:txBody>
      </p:sp>
      <p:sp>
        <p:nvSpPr>
          <p:cNvPr id="35" name="Shape 32"/>
          <p:cNvSpPr/>
          <p:nvPr/>
        </p:nvSpPr>
        <p:spPr>
          <a:xfrm>
            <a:off x="0" y="9380240"/>
            <a:ext cx="18288000" cy="906760"/>
          </a:xfrm>
          <a:prstGeom prst="rect">
            <a:avLst/>
          </a:prstGeom>
          <a:gradFill rotWithShape="1">
            <a:gsLst>
              <a:gs pos="0">
                <a:srgbClr val="460073">
                  <a:alpha val="100000"/>
                </a:srgbClr>
              </a:gs>
              <a:gs pos="42000">
                <a:srgbClr val="A100FF">
                  <a:alpha val="100000"/>
                </a:srgbClr>
              </a:gs>
              <a:gs pos="68000">
                <a:srgbClr val="C724B1">
                  <a:alpha val="100000"/>
                </a:srgbClr>
              </a:gs>
              <a:gs pos="100000">
                <a:srgbClr val="FF6900">
                  <a:alpha val="100000"/>
                </a:srgbClr>
              </a:gs>
            </a:gsLst>
            <a:lin ang="1500000" scaled="0"/>
          </a:gradFill>
          <a:ln/>
        </p:spPr>
      </p:sp>
      <p:pic>
        <p:nvPicPr>
          <p:cNvPr id="3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3000" y="9704983"/>
            <a:ext cx="247650" cy="257175"/>
          </a:xfrm>
          <a:prstGeom prst="rect">
            <a:avLst/>
          </a:prstGeom>
        </p:spPr>
      </p:pic>
      <p:sp>
        <p:nvSpPr>
          <p:cNvPr id="37" name="Text 33"/>
          <p:cNvSpPr/>
          <p:nvPr/>
        </p:nvSpPr>
        <p:spPr>
          <a:xfrm>
            <a:off x="1600200" y="9589790"/>
            <a:ext cx="8348930" cy="525760"/>
          </a:xfrm>
          <a:prstGeom prst="rect">
            <a:avLst/>
          </a:prstGeom>
          <a:noFill/>
          <a:ln/>
        </p:spPr>
        <p:txBody>
          <a:bodyPr wrap="square" lIns="25400" tIns="25400" rIns="25400" bIns="25400" rtlCol="0" anchor="t">
            <a:normAutofit/>
          </a:bodyPr>
          <a:lstStyle/>
          <a:p>
            <a:pPr algn="l" indent="0" marL="0">
              <a:lnSpc>
                <a:spcPct val="139636"/>
              </a:lnSpc>
              <a:buNone/>
            </a:pPr>
            <a:r>
              <a:rPr lang="en-US" sz="2400" b="1" dirty="0">
                <a:solidFill>
                  <a:srgbClr val="FFFFFF"/>
                </a:solidFill>
                <a:latin typeface="Arial" pitchFamily="34" charset="0"/>
                <a:ea typeface="Arial" pitchFamily="34" charset="-122"/>
                <a:cs typeface="Arial" pitchFamily="34" charset="-120"/>
              </a:rPr>
              <a:t>Governable in practice means enforced by infrastructure</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341719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LEVELS OF AUTONOMY</a:t>
            </a:r>
            <a:endParaRPr lang="en-US" sz="1800" dirty="0"/>
          </a:p>
        </p:txBody>
      </p:sp>
      <p:sp>
        <p:nvSpPr>
          <p:cNvPr id="3" name="Shape 1"/>
          <p:cNvSpPr/>
          <p:nvPr/>
        </p:nvSpPr>
        <p:spPr>
          <a:xfrm>
            <a:off x="4401939" y="906760"/>
            <a:ext cx="9525" cy="152400"/>
          </a:xfrm>
          <a:prstGeom prst="rect">
            <a:avLst/>
          </a:prstGeom>
          <a:solidFill>
            <a:srgbClr val="C8C8C2"/>
          </a:solidFill>
          <a:ln/>
        </p:spPr>
      </p:sp>
      <p:pic>
        <p:nvPicPr>
          <p:cNvPr id="4"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5" name="Text 2"/>
          <p:cNvSpPr/>
          <p:nvPr/>
        </p:nvSpPr>
        <p:spPr>
          <a:xfrm>
            <a:off x="1143000" y="1470620"/>
            <a:ext cx="1697355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Five levels, and most of the value is not at the top</a:t>
            </a:r>
            <a:endParaRPr lang="en-US" sz="4200" dirty="0"/>
          </a:p>
        </p:txBody>
      </p:sp>
      <p:sp>
        <p:nvSpPr>
          <p:cNvPr id="6" name="Shape 3"/>
          <p:cNvSpPr/>
          <p:nvPr/>
        </p:nvSpPr>
        <p:spPr>
          <a:xfrm>
            <a:off x="1143000" y="3122811"/>
            <a:ext cx="16002000" cy="19050"/>
          </a:xfrm>
          <a:prstGeom prst="rect">
            <a:avLst/>
          </a:prstGeom>
          <a:solidFill>
            <a:srgbClr val="000000"/>
          </a:solidFill>
          <a:ln/>
        </p:spPr>
      </p:sp>
      <p:sp>
        <p:nvSpPr>
          <p:cNvPr id="7" name="Text 4"/>
          <p:cNvSpPr/>
          <p:nvPr/>
        </p:nvSpPr>
        <p:spPr>
          <a:xfrm>
            <a:off x="1333500" y="2642791"/>
            <a:ext cx="11049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LEVEL</a:t>
            </a:r>
            <a:endParaRPr lang="en-US" sz="1800" dirty="0"/>
          </a:p>
        </p:txBody>
      </p:sp>
      <p:sp>
        <p:nvSpPr>
          <p:cNvPr id="8" name="Text 5"/>
          <p:cNvSpPr/>
          <p:nvPr/>
        </p:nvSpPr>
        <p:spPr>
          <a:xfrm>
            <a:off x="2686050" y="2642791"/>
            <a:ext cx="10833735"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96968C"/>
                </a:solidFill>
                <a:latin typeface="Arial" pitchFamily="34" charset="0"/>
                <a:ea typeface="Arial" pitchFamily="34" charset="-122"/>
                <a:cs typeface="Arial" pitchFamily="34" charset="-120"/>
              </a:rPr>
              <a:t>CAPABILITY</a:t>
            </a:r>
            <a:endParaRPr lang="en-US" sz="1800" dirty="0"/>
          </a:p>
        </p:txBody>
      </p:sp>
      <p:sp>
        <p:nvSpPr>
          <p:cNvPr id="9" name="Text 6"/>
          <p:cNvSpPr/>
          <p:nvPr/>
        </p:nvSpPr>
        <p:spPr>
          <a:xfrm>
            <a:off x="12858750" y="2642791"/>
            <a:ext cx="4505325"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7500C0"/>
                </a:solidFill>
                <a:latin typeface="Arial" pitchFamily="34" charset="0"/>
                <a:ea typeface="Arial" pitchFamily="34" charset="-122"/>
                <a:cs typeface="Arial" pitchFamily="34" charset="-120"/>
              </a:rPr>
              <a:t>CONTROL POSTURE</a:t>
            </a:r>
            <a:endParaRPr lang="en-US" sz="1800" dirty="0"/>
          </a:p>
        </p:txBody>
      </p:sp>
      <p:sp>
        <p:nvSpPr>
          <p:cNvPr id="10" name="Shape 7"/>
          <p:cNvSpPr/>
          <p:nvPr/>
        </p:nvSpPr>
        <p:spPr>
          <a:xfrm>
            <a:off x="1143000" y="3873302"/>
            <a:ext cx="16002000" cy="9525"/>
          </a:xfrm>
          <a:prstGeom prst="rect">
            <a:avLst/>
          </a:prstGeom>
          <a:solidFill>
            <a:srgbClr val="E6E6E6"/>
          </a:solidFill>
          <a:ln/>
        </p:spPr>
      </p:sp>
      <p:sp>
        <p:nvSpPr>
          <p:cNvPr id="11" name="Text 8"/>
          <p:cNvSpPr/>
          <p:nvPr/>
        </p:nvSpPr>
        <p:spPr>
          <a:xfrm>
            <a:off x="1333500" y="3294261"/>
            <a:ext cx="1104900" cy="46474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A100FF"/>
                </a:solidFill>
                <a:latin typeface="Courier New" pitchFamily="34" charset="0"/>
                <a:ea typeface="Courier New" pitchFamily="34" charset="-122"/>
                <a:cs typeface="Courier New" pitchFamily="34" charset="-120"/>
              </a:rPr>
              <a:t>01</a:t>
            </a:r>
            <a:endParaRPr lang="en-US" sz="2100" dirty="0"/>
          </a:p>
        </p:txBody>
      </p:sp>
      <p:sp>
        <p:nvSpPr>
          <p:cNvPr id="12" name="Text 9"/>
          <p:cNvSpPr/>
          <p:nvPr/>
        </p:nvSpPr>
        <p:spPr>
          <a:xfrm>
            <a:off x="2686050" y="3349823"/>
            <a:ext cx="1218406" cy="342900"/>
          </a:xfrm>
          <a:prstGeom prst="rect">
            <a:avLst/>
          </a:prstGeom>
          <a:noFill/>
          <a:ln/>
        </p:spPr>
        <p:txBody>
          <a:bodyPr wrap="square" lIns="25400" tIns="25400" rIns="25400" bIns="25400" rtlCol="0" anchor="t">
            <a:normAutofit/>
          </a:bodyPr>
          <a:lstStyle/>
          <a:p>
            <a:pPr algn="l" indent="0" marL="0">
              <a:lnSpc>
                <a:spcPct val="113633"/>
              </a:lnSpc>
              <a:buNone/>
            </a:pPr>
            <a:r>
              <a:rPr lang="en-US" sz="2175" b="1" spc="-43" kern="0" dirty="0">
                <a:solidFill>
                  <a:srgbClr val="000000"/>
                </a:solidFill>
                <a:latin typeface="Arial" pitchFamily="34" charset="0"/>
                <a:ea typeface="Arial" pitchFamily="34" charset="-122"/>
                <a:cs typeface="Arial" pitchFamily="34" charset="-120"/>
              </a:rPr>
              <a:t>Assistant.</a:t>
            </a:r>
            <a:endParaRPr lang="en-US" sz="2175" dirty="0"/>
          </a:p>
        </p:txBody>
      </p:sp>
      <p:sp>
        <p:nvSpPr>
          <p:cNvPr id="13" name="Text 10"/>
          <p:cNvSpPr/>
          <p:nvPr/>
        </p:nvSpPr>
        <p:spPr>
          <a:xfrm>
            <a:off x="3891161" y="3356174"/>
            <a:ext cx="5599678" cy="342900"/>
          </a:xfrm>
          <a:prstGeom prst="rect">
            <a:avLst/>
          </a:prstGeom>
          <a:noFill/>
          <a:ln/>
        </p:spPr>
        <p:txBody>
          <a:bodyPr wrap="square" lIns="25400" tIns="25400" rIns="25400" bIns="25400" rtlCol="0" anchor="t">
            <a:normAutofit/>
          </a:bodyPr>
          <a:lstStyle/>
          <a:p>
            <a:pPr algn="l" indent="0" marL="0">
              <a:lnSpc>
                <a:spcPct val="113455"/>
              </a:lnSpc>
              <a:buNone/>
            </a:pPr>
            <a:r>
              <a:rPr lang="en-US" sz="1950" dirty="0">
                <a:solidFill>
                  <a:srgbClr val="4D4D4D"/>
                </a:solidFill>
                <a:latin typeface="Arial" pitchFamily="34" charset="0"/>
                <a:ea typeface="Arial" pitchFamily="34" charset="-122"/>
                <a:cs typeface="Arial" pitchFamily="34" charset="-120"/>
              </a:rPr>
              <a:t>Ask and answer. No access to your systems.</a:t>
            </a:r>
            <a:endParaRPr lang="en-US" sz="1950" dirty="0"/>
          </a:p>
        </p:txBody>
      </p:sp>
      <p:sp>
        <p:nvSpPr>
          <p:cNvPr id="14" name="Text 11"/>
          <p:cNvSpPr/>
          <p:nvPr/>
        </p:nvSpPr>
        <p:spPr>
          <a:xfrm>
            <a:off x="12858750" y="3341886"/>
            <a:ext cx="450532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spc="-43" kern="0" dirty="0">
                <a:solidFill>
                  <a:srgbClr val="460073"/>
                </a:solidFill>
                <a:latin typeface="Arial" pitchFamily="34" charset="0"/>
                <a:ea typeface="Arial" pitchFamily="34" charset="-122"/>
                <a:cs typeface="Arial" pitchFamily="34" charset="-120"/>
              </a:rPr>
              <a:t>Human in the loop</a:t>
            </a:r>
            <a:endParaRPr lang="en-US" sz="2175" dirty="0"/>
          </a:p>
        </p:txBody>
      </p:sp>
      <p:sp>
        <p:nvSpPr>
          <p:cNvPr id="15" name="Shape 12"/>
          <p:cNvSpPr/>
          <p:nvPr/>
        </p:nvSpPr>
        <p:spPr>
          <a:xfrm>
            <a:off x="1143000" y="4611092"/>
            <a:ext cx="16002000" cy="9525"/>
          </a:xfrm>
          <a:prstGeom prst="rect">
            <a:avLst/>
          </a:prstGeom>
          <a:solidFill>
            <a:srgbClr val="E6E6E6"/>
          </a:solidFill>
          <a:ln/>
        </p:spPr>
      </p:sp>
      <p:sp>
        <p:nvSpPr>
          <p:cNvPr id="16" name="Text 13"/>
          <p:cNvSpPr/>
          <p:nvPr/>
        </p:nvSpPr>
        <p:spPr>
          <a:xfrm>
            <a:off x="1333500" y="4032052"/>
            <a:ext cx="1104900" cy="46474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A100FF"/>
                </a:solidFill>
                <a:latin typeface="Courier New" pitchFamily="34" charset="0"/>
                <a:ea typeface="Courier New" pitchFamily="34" charset="-122"/>
                <a:cs typeface="Courier New" pitchFamily="34" charset="-120"/>
              </a:rPr>
              <a:t>02</a:t>
            </a:r>
            <a:endParaRPr lang="en-US" sz="2100" dirty="0"/>
          </a:p>
        </p:txBody>
      </p:sp>
      <p:sp>
        <p:nvSpPr>
          <p:cNvPr id="17" name="Text 14"/>
          <p:cNvSpPr/>
          <p:nvPr/>
        </p:nvSpPr>
        <p:spPr>
          <a:xfrm>
            <a:off x="2686050" y="4087614"/>
            <a:ext cx="2553236" cy="342900"/>
          </a:xfrm>
          <a:prstGeom prst="rect">
            <a:avLst/>
          </a:prstGeom>
          <a:noFill/>
          <a:ln/>
        </p:spPr>
        <p:txBody>
          <a:bodyPr wrap="square" lIns="25400" tIns="25400" rIns="25400" bIns="25400" rtlCol="0" anchor="t">
            <a:normAutofit/>
          </a:bodyPr>
          <a:lstStyle/>
          <a:p>
            <a:pPr algn="l" indent="0" marL="0">
              <a:lnSpc>
                <a:spcPct val="113633"/>
              </a:lnSpc>
              <a:buNone/>
            </a:pPr>
            <a:r>
              <a:rPr lang="en-US" sz="2175" b="1" spc="-43" kern="0" dirty="0">
                <a:solidFill>
                  <a:srgbClr val="000000"/>
                </a:solidFill>
                <a:latin typeface="Arial" pitchFamily="34" charset="0"/>
                <a:ea typeface="Arial" pitchFamily="34" charset="-122"/>
                <a:cs typeface="Arial" pitchFamily="34" charset="-120"/>
              </a:rPr>
              <a:t>Retrieval-grounded.</a:t>
            </a:r>
            <a:endParaRPr lang="en-US" sz="2175" dirty="0"/>
          </a:p>
        </p:txBody>
      </p:sp>
      <p:sp>
        <p:nvSpPr>
          <p:cNvPr id="18" name="Text 15"/>
          <p:cNvSpPr/>
          <p:nvPr/>
        </p:nvSpPr>
        <p:spPr>
          <a:xfrm>
            <a:off x="5070078" y="4093964"/>
            <a:ext cx="6259324" cy="342900"/>
          </a:xfrm>
          <a:prstGeom prst="rect">
            <a:avLst/>
          </a:prstGeom>
          <a:noFill/>
          <a:ln/>
        </p:spPr>
        <p:txBody>
          <a:bodyPr wrap="square" lIns="25400" tIns="25400" rIns="25400" bIns="25400" rtlCol="0" anchor="t">
            <a:normAutofit/>
          </a:bodyPr>
          <a:lstStyle/>
          <a:p>
            <a:pPr algn="l" indent="0" marL="0">
              <a:lnSpc>
                <a:spcPct val="113455"/>
              </a:lnSpc>
              <a:buNone/>
            </a:pPr>
            <a:r>
              <a:rPr lang="en-US" sz="1950" dirty="0">
                <a:solidFill>
                  <a:srgbClr val="4D4D4D"/>
                </a:solidFill>
                <a:latin typeface="Arial" pitchFamily="34" charset="0"/>
                <a:ea typeface="Arial" pitchFamily="34" charset="-122"/>
                <a:cs typeface="Arial" pitchFamily="34" charset="-120"/>
              </a:rPr>
              <a:t>Answers from your cleared corpus, with citations.</a:t>
            </a:r>
            <a:endParaRPr lang="en-US" sz="1950" dirty="0"/>
          </a:p>
        </p:txBody>
      </p:sp>
      <p:sp>
        <p:nvSpPr>
          <p:cNvPr id="19" name="Text 16"/>
          <p:cNvSpPr/>
          <p:nvPr/>
        </p:nvSpPr>
        <p:spPr>
          <a:xfrm>
            <a:off x="12858750" y="4079677"/>
            <a:ext cx="450532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spc="-43" kern="0" dirty="0">
                <a:solidFill>
                  <a:srgbClr val="460073"/>
                </a:solidFill>
                <a:latin typeface="Arial" pitchFamily="34" charset="0"/>
                <a:ea typeface="Arial" pitchFamily="34" charset="-122"/>
                <a:cs typeface="Arial" pitchFamily="34" charset="-120"/>
              </a:rPr>
              <a:t>Human in the loop</a:t>
            </a:r>
            <a:endParaRPr lang="en-US" sz="2175" dirty="0"/>
          </a:p>
        </p:txBody>
      </p:sp>
      <p:sp>
        <p:nvSpPr>
          <p:cNvPr id="20" name="Shape 17"/>
          <p:cNvSpPr/>
          <p:nvPr/>
        </p:nvSpPr>
        <p:spPr>
          <a:xfrm>
            <a:off x="1143000" y="5348883"/>
            <a:ext cx="16002000" cy="9525"/>
          </a:xfrm>
          <a:prstGeom prst="rect">
            <a:avLst/>
          </a:prstGeom>
          <a:solidFill>
            <a:srgbClr val="E6E6E6"/>
          </a:solidFill>
          <a:ln/>
        </p:spPr>
      </p:sp>
      <p:sp>
        <p:nvSpPr>
          <p:cNvPr id="21" name="Text 18"/>
          <p:cNvSpPr/>
          <p:nvPr/>
        </p:nvSpPr>
        <p:spPr>
          <a:xfrm>
            <a:off x="1333500" y="4769842"/>
            <a:ext cx="1104900" cy="46474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A100FF"/>
                </a:solidFill>
                <a:latin typeface="Courier New" pitchFamily="34" charset="0"/>
                <a:ea typeface="Courier New" pitchFamily="34" charset="-122"/>
                <a:cs typeface="Courier New" pitchFamily="34" charset="-120"/>
              </a:rPr>
              <a:t>03</a:t>
            </a:r>
            <a:endParaRPr lang="en-US" sz="2100" dirty="0"/>
          </a:p>
        </p:txBody>
      </p:sp>
      <p:sp>
        <p:nvSpPr>
          <p:cNvPr id="22" name="Text 19"/>
          <p:cNvSpPr/>
          <p:nvPr/>
        </p:nvSpPr>
        <p:spPr>
          <a:xfrm>
            <a:off x="2686050" y="4825405"/>
            <a:ext cx="1402566" cy="342900"/>
          </a:xfrm>
          <a:prstGeom prst="rect">
            <a:avLst/>
          </a:prstGeom>
          <a:noFill/>
          <a:ln/>
        </p:spPr>
        <p:txBody>
          <a:bodyPr wrap="square" lIns="25400" tIns="25400" rIns="25400" bIns="25400" rtlCol="0" anchor="t">
            <a:normAutofit/>
          </a:bodyPr>
          <a:lstStyle/>
          <a:p>
            <a:pPr algn="l" indent="0" marL="0">
              <a:lnSpc>
                <a:spcPct val="113633"/>
              </a:lnSpc>
              <a:buNone/>
            </a:pPr>
            <a:r>
              <a:rPr lang="en-US" sz="2175" b="1" spc="-43" kern="0" dirty="0">
                <a:solidFill>
                  <a:srgbClr val="000000"/>
                </a:solidFill>
                <a:latin typeface="Arial" pitchFamily="34" charset="0"/>
                <a:ea typeface="Arial" pitchFamily="34" charset="-122"/>
                <a:cs typeface="Arial" pitchFamily="34" charset="-120"/>
              </a:rPr>
              <a:t>Tool-using.</a:t>
            </a:r>
            <a:endParaRPr lang="en-US" sz="2175" dirty="0"/>
          </a:p>
        </p:txBody>
      </p:sp>
      <p:sp>
        <p:nvSpPr>
          <p:cNvPr id="23" name="Text 20"/>
          <p:cNvSpPr/>
          <p:nvPr/>
        </p:nvSpPr>
        <p:spPr>
          <a:xfrm>
            <a:off x="4024015" y="4831755"/>
            <a:ext cx="6768574" cy="342900"/>
          </a:xfrm>
          <a:prstGeom prst="rect">
            <a:avLst/>
          </a:prstGeom>
          <a:noFill/>
          <a:ln/>
        </p:spPr>
        <p:txBody>
          <a:bodyPr wrap="square" lIns="25400" tIns="25400" rIns="25400" bIns="25400" rtlCol="0" anchor="t">
            <a:normAutofit/>
          </a:bodyPr>
          <a:lstStyle/>
          <a:p>
            <a:pPr algn="l" indent="0" marL="0">
              <a:lnSpc>
                <a:spcPct val="113455"/>
              </a:lnSpc>
              <a:buNone/>
            </a:pPr>
            <a:r>
              <a:rPr lang="en-US" sz="1950" dirty="0">
                <a:solidFill>
                  <a:srgbClr val="4D4D4D"/>
                </a:solidFill>
                <a:latin typeface="Arial" pitchFamily="34" charset="0"/>
                <a:ea typeface="Arial" pitchFamily="34" charset="-122"/>
                <a:cs typeface="Arial" pitchFamily="34" charset="-120"/>
              </a:rPr>
              <a:t>Calls systems under supervision, one action at a time.</a:t>
            </a:r>
            <a:endParaRPr lang="en-US" sz="1950" dirty="0"/>
          </a:p>
        </p:txBody>
      </p:sp>
      <p:sp>
        <p:nvSpPr>
          <p:cNvPr id="24" name="Text 21"/>
          <p:cNvSpPr/>
          <p:nvPr/>
        </p:nvSpPr>
        <p:spPr>
          <a:xfrm>
            <a:off x="12858750" y="4817467"/>
            <a:ext cx="450532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spc="-43" kern="0" dirty="0">
                <a:solidFill>
                  <a:srgbClr val="460073"/>
                </a:solidFill>
                <a:latin typeface="Arial" pitchFamily="34" charset="0"/>
                <a:ea typeface="Arial" pitchFamily="34" charset="-122"/>
                <a:cs typeface="Arial" pitchFamily="34" charset="-120"/>
              </a:rPr>
              <a:t>Human in the loop, per action</a:t>
            </a:r>
            <a:endParaRPr lang="en-US" sz="2175" dirty="0"/>
          </a:p>
        </p:txBody>
      </p:sp>
      <p:sp>
        <p:nvSpPr>
          <p:cNvPr id="25" name="Shape 22"/>
          <p:cNvSpPr/>
          <p:nvPr/>
        </p:nvSpPr>
        <p:spPr>
          <a:xfrm>
            <a:off x="1143000" y="5355233"/>
            <a:ext cx="16002000" cy="731441"/>
          </a:xfrm>
          <a:prstGeom prst="rect">
            <a:avLst/>
          </a:prstGeom>
          <a:solidFill>
            <a:srgbClr val="A100FF"/>
          </a:solidFill>
          <a:ln/>
        </p:spPr>
      </p:sp>
      <p:sp>
        <p:nvSpPr>
          <p:cNvPr id="26" name="Text 23"/>
          <p:cNvSpPr/>
          <p:nvPr/>
        </p:nvSpPr>
        <p:spPr>
          <a:xfrm>
            <a:off x="1333500" y="5507633"/>
            <a:ext cx="1104900" cy="46474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FFFFFF">
                    <a:alpha val="80000"/>
                  </a:srgbClr>
                </a:solidFill>
                <a:latin typeface="Courier New" pitchFamily="34" charset="0"/>
                <a:ea typeface="Courier New" pitchFamily="34" charset="-122"/>
                <a:cs typeface="Courier New" pitchFamily="34" charset="-120"/>
              </a:rPr>
              <a:t>04</a:t>
            </a:r>
            <a:endParaRPr lang="en-US" sz="2100" dirty="0"/>
          </a:p>
        </p:txBody>
      </p:sp>
      <p:sp>
        <p:nvSpPr>
          <p:cNvPr id="27" name="Text 24"/>
          <p:cNvSpPr/>
          <p:nvPr/>
        </p:nvSpPr>
        <p:spPr>
          <a:xfrm>
            <a:off x="2686050" y="5563195"/>
            <a:ext cx="3098612" cy="342900"/>
          </a:xfrm>
          <a:prstGeom prst="rect">
            <a:avLst/>
          </a:prstGeom>
          <a:noFill/>
          <a:ln/>
        </p:spPr>
        <p:txBody>
          <a:bodyPr wrap="square" lIns="25400" tIns="25400" rIns="25400" bIns="25400" rtlCol="0" anchor="t">
            <a:normAutofit/>
          </a:bodyPr>
          <a:lstStyle/>
          <a:p>
            <a:pPr algn="l" indent="0" marL="0">
              <a:lnSpc>
                <a:spcPct val="113633"/>
              </a:lnSpc>
              <a:buNone/>
            </a:pPr>
            <a:r>
              <a:rPr lang="en-US" sz="2175" b="1" spc="-43" kern="0" dirty="0">
                <a:solidFill>
                  <a:srgbClr val="FFFFFF"/>
                </a:solidFill>
                <a:latin typeface="Arial" pitchFamily="34" charset="0"/>
                <a:ea typeface="Arial" pitchFamily="34" charset="-122"/>
                <a:cs typeface="Arial" pitchFamily="34" charset="-120"/>
              </a:rPr>
              <a:t>Read-only autonomous.</a:t>
            </a:r>
            <a:endParaRPr lang="en-US" sz="2175" dirty="0"/>
          </a:p>
        </p:txBody>
      </p:sp>
      <p:sp>
        <p:nvSpPr>
          <p:cNvPr id="28" name="Text 25"/>
          <p:cNvSpPr/>
          <p:nvPr/>
        </p:nvSpPr>
        <p:spPr>
          <a:xfrm>
            <a:off x="5565874" y="5569546"/>
            <a:ext cx="7227729" cy="342900"/>
          </a:xfrm>
          <a:prstGeom prst="rect">
            <a:avLst/>
          </a:prstGeom>
          <a:noFill/>
          <a:ln/>
        </p:spPr>
        <p:txBody>
          <a:bodyPr wrap="square" lIns="25400" tIns="25400" rIns="25400" bIns="25400" rtlCol="0" anchor="t">
            <a:normAutofit/>
          </a:bodyPr>
          <a:lstStyle/>
          <a:p>
            <a:pPr algn="l" indent="0" marL="0">
              <a:lnSpc>
                <a:spcPct val="113455"/>
              </a:lnSpc>
              <a:buNone/>
            </a:pPr>
            <a:r>
              <a:rPr lang="en-US" sz="1950" dirty="0">
                <a:solidFill>
                  <a:srgbClr val="FFFFFF">
                    <a:alpha val="90000"/>
                  </a:srgbClr>
                </a:solidFill>
                <a:latin typeface="Arial" pitchFamily="34" charset="0"/>
                <a:ea typeface="Arial" pitchFamily="34" charset="-122"/>
                <a:cs typeface="Arial" pitchFamily="34" charset="-120"/>
              </a:rPr>
              <a:t>Runs continuously, observes and briefs, changes nothing.</a:t>
            </a:r>
            <a:endParaRPr lang="en-US" sz="1950" dirty="0"/>
          </a:p>
        </p:txBody>
      </p:sp>
      <p:sp>
        <p:nvSpPr>
          <p:cNvPr id="29" name="Text 26"/>
          <p:cNvSpPr/>
          <p:nvPr/>
        </p:nvSpPr>
        <p:spPr>
          <a:xfrm>
            <a:off x="12858750" y="5555258"/>
            <a:ext cx="450532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spc="-43" kern="0" dirty="0">
                <a:solidFill>
                  <a:srgbClr val="FFFFFF"/>
                </a:solidFill>
                <a:latin typeface="Arial" pitchFamily="34" charset="0"/>
                <a:ea typeface="Arial" pitchFamily="34" charset="-122"/>
                <a:cs typeface="Arial" pitchFamily="34" charset="-120"/>
              </a:rPr>
              <a:t>Human </a:t>
            </a:r>
            <a:pPr algn="l" indent="0" marL="0">
              <a:lnSpc>
                <a:spcPct val="106531"/>
              </a:lnSpc>
              <a:buNone/>
            </a:pPr>
            <a:r>
              <a:rPr lang="en-US" sz="2175" b="1" u="heavy" spc="-43" kern="0" dirty="0">
                <a:solidFill>
                  <a:srgbClr val="FFFFFF"/>
                </a:solidFill>
                <a:latin typeface="Arial" pitchFamily="34" charset="0"/>
                <a:ea typeface="Arial" pitchFamily="34" charset="-122"/>
                <a:cs typeface="Arial" pitchFamily="34" charset="-120"/>
              </a:rPr>
              <a:t>on </a:t>
            </a:r>
            <a:pPr algn="l" indent="0" marL="0">
              <a:lnSpc>
                <a:spcPct val="106531"/>
              </a:lnSpc>
              <a:buNone/>
            </a:pPr>
            <a:r>
              <a:rPr lang="en-US" sz="2175" b="1" spc="-43" kern="0" dirty="0">
                <a:solidFill>
                  <a:srgbClr val="FFFFFF"/>
                </a:solidFill>
                <a:latin typeface="Arial" pitchFamily="34" charset="0"/>
                <a:ea typeface="Arial" pitchFamily="34" charset="-122"/>
                <a:cs typeface="Arial" pitchFamily="34" charset="-120"/>
              </a:rPr>
              <a:t>the loop</a:t>
            </a:r>
            <a:endParaRPr lang="en-US" sz="2175" dirty="0"/>
          </a:p>
        </p:txBody>
      </p:sp>
      <p:sp>
        <p:nvSpPr>
          <p:cNvPr id="30" name="Shape 27"/>
          <p:cNvSpPr/>
          <p:nvPr/>
        </p:nvSpPr>
        <p:spPr>
          <a:xfrm>
            <a:off x="1143000" y="6086674"/>
            <a:ext cx="16002000" cy="938609"/>
          </a:xfrm>
          <a:prstGeom prst="rect">
            <a:avLst/>
          </a:prstGeom>
          <a:solidFill>
            <a:srgbClr val="F1E4FF"/>
          </a:solidFill>
          <a:ln/>
        </p:spPr>
      </p:sp>
      <p:pic>
        <p:nvPicPr>
          <p:cNvPr id="31"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33500" y="6455966"/>
            <a:ext cx="190500" cy="200025"/>
          </a:xfrm>
          <a:prstGeom prst="rect">
            <a:avLst/>
          </a:prstGeom>
        </p:spPr>
      </p:pic>
      <p:sp>
        <p:nvSpPr>
          <p:cNvPr id="32" name="Text 28"/>
          <p:cNvSpPr/>
          <p:nvPr/>
        </p:nvSpPr>
        <p:spPr>
          <a:xfrm>
            <a:off x="1714500" y="6239074"/>
            <a:ext cx="15697200" cy="671909"/>
          </a:xfrm>
          <a:prstGeom prst="rect">
            <a:avLst/>
          </a:prstGeom>
          <a:noFill/>
          <a:ln/>
        </p:spPr>
        <p:txBody>
          <a:bodyPr wrap="square" lIns="25400" tIns="25400" rIns="25400" bIns="25400" rtlCol="0" anchor="t">
            <a:normAutofit/>
          </a:bodyPr>
          <a:lstStyle/>
          <a:p>
            <a:pPr algn="l" indent="0" marL="0">
              <a:lnSpc>
                <a:spcPct val="113455"/>
              </a:lnSpc>
              <a:buNone/>
            </a:pPr>
            <a:r>
              <a:rPr lang="en-US" sz="1950" b="1" dirty="0">
                <a:solidFill>
                  <a:srgbClr val="250038"/>
                </a:solidFill>
                <a:latin typeface="Arial" pitchFamily="34" charset="0"/>
                <a:ea typeface="Arial" pitchFamily="34" charset="-122"/>
                <a:cs typeface="Arial" pitchFamily="34" charset="-120"/>
              </a:rPr>
              <a:t>This is the line an authorizing official cares about. Level 4 is the highest value per unit of risk: continuous work, nothing committed to an authoritative record. When risk is high you stay on the loop and never out of it.</a:t>
            </a:r>
            <a:endParaRPr lang="en-US" sz="1950" dirty="0"/>
          </a:p>
        </p:txBody>
      </p:sp>
      <p:sp>
        <p:nvSpPr>
          <p:cNvPr id="33" name="Shape 29"/>
          <p:cNvSpPr/>
          <p:nvPr/>
        </p:nvSpPr>
        <p:spPr>
          <a:xfrm>
            <a:off x="1143000" y="7756723"/>
            <a:ext cx="16002000" cy="9525"/>
          </a:xfrm>
          <a:prstGeom prst="rect">
            <a:avLst/>
          </a:prstGeom>
          <a:solidFill>
            <a:srgbClr val="E6E6E6"/>
          </a:solidFill>
          <a:ln/>
        </p:spPr>
      </p:sp>
      <p:sp>
        <p:nvSpPr>
          <p:cNvPr id="34" name="Text 30"/>
          <p:cNvSpPr/>
          <p:nvPr/>
        </p:nvSpPr>
        <p:spPr>
          <a:xfrm>
            <a:off x="1333500" y="7177683"/>
            <a:ext cx="1104900" cy="46474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A100FF"/>
                </a:solidFill>
                <a:latin typeface="Courier New" pitchFamily="34" charset="0"/>
                <a:ea typeface="Courier New" pitchFamily="34" charset="-122"/>
                <a:cs typeface="Courier New" pitchFamily="34" charset="-120"/>
              </a:rPr>
              <a:t>05</a:t>
            </a:r>
            <a:endParaRPr lang="en-US" sz="2100" dirty="0"/>
          </a:p>
        </p:txBody>
      </p:sp>
      <p:sp>
        <p:nvSpPr>
          <p:cNvPr id="35" name="Text 31"/>
          <p:cNvSpPr/>
          <p:nvPr/>
        </p:nvSpPr>
        <p:spPr>
          <a:xfrm>
            <a:off x="2686050" y="7233246"/>
            <a:ext cx="1755854" cy="342900"/>
          </a:xfrm>
          <a:prstGeom prst="rect">
            <a:avLst/>
          </a:prstGeom>
          <a:noFill/>
          <a:ln/>
        </p:spPr>
        <p:txBody>
          <a:bodyPr wrap="square" lIns="25400" tIns="25400" rIns="25400" bIns="25400" rtlCol="0" anchor="t">
            <a:normAutofit/>
          </a:bodyPr>
          <a:lstStyle/>
          <a:p>
            <a:pPr algn="l" indent="0" marL="0">
              <a:lnSpc>
                <a:spcPct val="113633"/>
              </a:lnSpc>
              <a:buNone/>
            </a:pPr>
            <a:r>
              <a:rPr lang="en-US" sz="2175" b="1" spc="-43" kern="0" dirty="0">
                <a:solidFill>
                  <a:srgbClr val="000000"/>
                </a:solidFill>
                <a:latin typeface="Arial" pitchFamily="34" charset="0"/>
                <a:ea typeface="Arial" pitchFamily="34" charset="-122"/>
                <a:cs typeface="Arial" pitchFamily="34" charset="-120"/>
              </a:rPr>
              <a:t>Action-taking.</a:t>
            </a:r>
            <a:endParaRPr lang="en-US" sz="2175" dirty="0"/>
          </a:p>
        </p:txBody>
      </p:sp>
      <p:sp>
        <p:nvSpPr>
          <p:cNvPr id="36" name="Text 32"/>
          <p:cNvSpPr/>
          <p:nvPr/>
        </p:nvSpPr>
        <p:spPr>
          <a:xfrm>
            <a:off x="4345186" y="7239595"/>
            <a:ext cx="8406884" cy="342900"/>
          </a:xfrm>
          <a:prstGeom prst="rect">
            <a:avLst/>
          </a:prstGeom>
          <a:noFill/>
          <a:ln/>
        </p:spPr>
        <p:txBody>
          <a:bodyPr wrap="square" lIns="25400" tIns="25400" rIns="25400" bIns="25400" rtlCol="0" anchor="t">
            <a:normAutofit/>
          </a:bodyPr>
          <a:lstStyle/>
          <a:p>
            <a:pPr algn="l" indent="0" marL="0">
              <a:lnSpc>
                <a:spcPct val="113455"/>
              </a:lnSpc>
              <a:buNone/>
            </a:pPr>
            <a:r>
              <a:rPr lang="en-US" sz="1950" dirty="0">
                <a:solidFill>
                  <a:srgbClr val="4D4D4D"/>
                </a:solidFill>
                <a:latin typeface="Arial" pitchFamily="34" charset="0"/>
                <a:ea typeface="Arial" pitchFamily="34" charset="-122"/>
                <a:cs typeface="Arial" pitchFamily="34" charset="-120"/>
              </a:rPr>
              <a:t>Alters systems of record. Requires everything below it proven first.</a:t>
            </a:r>
            <a:endParaRPr lang="en-US" sz="1950" dirty="0"/>
          </a:p>
        </p:txBody>
      </p:sp>
      <p:sp>
        <p:nvSpPr>
          <p:cNvPr id="37" name="Text 33"/>
          <p:cNvSpPr/>
          <p:nvPr/>
        </p:nvSpPr>
        <p:spPr>
          <a:xfrm>
            <a:off x="12858750" y="7225308"/>
            <a:ext cx="4505325" cy="369491"/>
          </a:xfrm>
          <a:prstGeom prst="rect">
            <a:avLst/>
          </a:prstGeom>
          <a:noFill/>
          <a:ln/>
        </p:spPr>
        <p:txBody>
          <a:bodyPr wrap="square" lIns="25400" tIns="25400" rIns="25400" bIns="25400" rtlCol="0" anchor="t">
            <a:normAutofit/>
          </a:bodyPr>
          <a:lstStyle/>
          <a:p>
            <a:pPr algn="l" indent="0" marL="0">
              <a:lnSpc>
                <a:spcPct val="106531"/>
              </a:lnSpc>
              <a:buNone/>
            </a:pPr>
            <a:r>
              <a:rPr lang="en-US" sz="2175" b="1" spc="-43" kern="0" dirty="0">
                <a:solidFill>
                  <a:srgbClr val="460073"/>
                </a:solidFill>
                <a:latin typeface="Arial" pitchFamily="34" charset="0"/>
                <a:ea typeface="Arial" pitchFamily="34" charset="-122"/>
                <a:cs typeface="Arial" pitchFamily="34" charset="-120"/>
              </a:rPr>
              <a:t>Human </a:t>
            </a:r>
            <a:pPr algn="l" indent="0" marL="0">
              <a:lnSpc>
                <a:spcPct val="106531"/>
              </a:lnSpc>
              <a:buNone/>
            </a:pPr>
            <a:r>
              <a:rPr lang="en-US" sz="2175" b="1" u="heavy" spc="-43" kern="0" dirty="0">
                <a:solidFill>
                  <a:srgbClr val="460073"/>
                </a:solidFill>
                <a:latin typeface="Arial" pitchFamily="34" charset="0"/>
                <a:ea typeface="Arial" pitchFamily="34" charset="-122"/>
                <a:cs typeface="Arial" pitchFamily="34" charset="-120"/>
              </a:rPr>
              <a:t>out of </a:t>
            </a:r>
            <a:pPr algn="l" indent="0" marL="0">
              <a:lnSpc>
                <a:spcPct val="106531"/>
              </a:lnSpc>
              <a:buNone/>
            </a:pPr>
            <a:r>
              <a:rPr lang="en-US" sz="2175" b="1" spc="-43" kern="0" dirty="0">
                <a:solidFill>
                  <a:srgbClr val="460073"/>
                </a:solidFill>
                <a:latin typeface="Arial" pitchFamily="34" charset="0"/>
                <a:ea typeface="Arial" pitchFamily="34" charset="-122"/>
                <a:cs typeface="Arial" pitchFamily="34" charset="-120"/>
              </a:rPr>
              <a:t>the loop</a:t>
            </a:r>
            <a:endParaRPr lang="en-US" sz="2175" dirty="0"/>
          </a:p>
        </p:txBody>
      </p:sp>
      <p:sp>
        <p:nvSpPr>
          <p:cNvPr id="38" name="Text 34"/>
          <p:cNvSpPr/>
          <p:nvPr/>
        </p:nvSpPr>
        <p:spPr>
          <a:xfrm>
            <a:off x="1143000" y="8302030"/>
            <a:ext cx="16482060" cy="685800"/>
          </a:xfrm>
          <a:prstGeom prst="rect">
            <a:avLst/>
          </a:prstGeom>
          <a:noFill/>
          <a:ln/>
        </p:spPr>
        <p:txBody>
          <a:bodyPr wrap="square" lIns="25400" tIns="25400" rIns="25400" bIns="25400" rtlCol="0" anchor="t">
            <a:normAutofit/>
          </a:bodyPr>
          <a:lstStyle/>
          <a:p>
            <a:pPr algn="l" indent="0" marL="0">
              <a:lnSpc>
                <a:spcPct val="115714"/>
              </a:lnSpc>
              <a:buNone/>
            </a:pPr>
            <a:r>
              <a:rPr lang="en-US" sz="1800" dirty="0">
                <a:solidFill>
                  <a:srgbClr val="4D4D4D"/>
                </a:solidFill>
                <a:latin typeface="Arial" pitchFamily="34" charset="0"/>
                <a:ea typeface="Arial" pitchFamily="34" charset="-122"/>
                <a:cs typeface="Arial" pitchFamily="34" charset="-120"/>
              </a:rPr>
              <a:t>Levels of autonomy are our synthesis. Reduced from the two-axis autonomy and agency design space in </a:t>
            </a:r>
            <a:pPr algn="l" indent="0" marL="0">
              <a:lnSpc>
                <a:spcPct val="115714"/>
              </a:lnSpc>
              <a:buNone/>
            </a:pPr>
            <a:r>
              <a:rPr lang="en-US" sz="1800" dirty="0">
                <a:solidFill>
                  <a:srgbClr val="7500C0"/>
                </a:solidFill>
                <a:latin typeface="Courier New" pitchFamily="34" charset="0"/>
                <a:ea typeface="Courier New" pitchFamily="34" charset="-122"/>
                <a:cs typeface="Courier New" pitchFamily="34" charset="-120"/>
              </a:rPr>
              <a:t>S17 </a:t>
            </a:r>
            <a:pPr algn="l" indent="0" marL="0">
              <a:lnSpc>
                <a:spcPct val="115714"/>
              </a:lnSpc>
              <a:buNone/>
            </a:pPr>
            <a:r>
              <a:rPr lang="en-US" sz="1800" dirty="0">
                <a:solidFill>
                  <a:srgbClr val="4D4D4D"/>
                </a:solidFill>
                <a:latin typeface="Arial" pitchFamily="34" charset="0"/>
                <a:ea typeface="Arial" pitchFamily="34" charset="-122"/>
                <a:cs typeface="Arial" pitchFamily="34" charset="-120"/>
              </a:rPr>
              <a:t>. Control posture follows Department usage: Air Force doctrine directs that commanders calibrate the level of autonomy to mission risk. </a:t>
            </a:r>
            <a:pPr algn="l" indent="0" marL="0">
              <a:lnSpc>
                <a:spcPct val="115714"/>
              </a:lnSpc>
              <a:buNone/>
            </a:pPr>
            <a:r>
              <a:rPr lang="en-US" sz="1800" dirty="0">
                <a:solidFill>
                  <a:srgbClr val="7500C0"/>
                </a:solidFill>
                <a:latin typeface="Courier New" pitchFamily="34" charset="0"/>
                <a:ea typeface="Courier New" pitchFamily="34" charset="-122"/>
                <a:cs typeface="Courier New" pitchFamily="34" charset="-120"/>
              </a:rPr>
              <a:t>S16</a:t>
            </a:r>
            <a:endParaRPr lang="en-US" sz="1800" dirty="0"/>
          </a:p>
        </p:txBody>
      </p:sp>
      <p:sp>
        <p:nvSpPr>
          <p:cNvPr id="39" name="Text 35"/>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40" name="Text 36"/>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41" name="Text 37"/>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2958039"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WHAT WE COVERED</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739265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What we covered</a:t>
            </a:r>
            <a:endParaRPr lang="en-US" sz="4200" dirty="0"/>
          </a:p>
        </p:txBody>
      </p:sp>
      <p:sp>
        <p:nvSpPr>
          <p:cNvPr id="5" name="Shape 2"/>
          <p:cNvSpPr/>
          <p:nvPr/>
        </p:nvSpPr>
        <p:spPr>
          <a:xfrm>
            <a:off x="1143000" y="3013968"/>
            <a:ext cx="16002000" cy="19050"/>
          </a:xfrm>
          <a:prstGeom prst="rect">
            <a:avLst/>
          </a:prstGeom>
          <a:solidFill>
            <a:srgbClr val="000000"/>
          </a:solidFill>
          <a:ln/>
        </p:spPr>
      </p:sp>
      <p:sp>
        <p:nvSpPr>
          <p:cNvPr id="6" name="Text 3"/>
          <p:cNvSpPr/>
          <p:nvPr/>
        </p:nvSpPr>
        <p:spPr>
          <a:xfrm>
            <a:off x="1143000" y="3261618"/>
            <a:ext cx="533499" cy="419100"/>
          </a:xfrm>
          <a:prstGeom prst="rect">
            <a:avLst/>
          </a:prstGeom>
          <a:noFill/>
          <a:ln/>
        </p:spPr>
        <p:txBody>
          <a:bodyPr wrap="square" lIns="25400" tIns="25400" rIns="25400" bIns="25400" rtlCol="0" anchor="t">
            <a:normAutofit/>
          </a:bodyPr>
          <a:lstStyle/>
          <a:p>
            <a:pPr algn="l" indent="0" marL="0">
              <a:lnSpc>
                <a:spcPct val="88235"/>
              </a:lnSpc>
              <a:buNone/>
            </a:pPr>
            <a:r>
              <a:rPr lang="en-US" sz="3000" b="1" dirty="0">
                <a:solidFill>
                  <a:srgbClr val="A100FF"/>
                </a:solidFill>
                <a:latin typeface="Courier New" pitchFamily="34" charset="0"/>
                <a:ea typeface="Courier New" pitchFamily="34" charset="-122"/>
                <a:cs typeface="Courier New" pitchFamily="34" charset="-120"/>
              </a:rPr>
              <a:t>01</a:t>
            </a:r>
            <a:endParaRPr lang="en-US" sz="3000" dirty="0"/>
          </a:p>
        </p:txBody>
      </p:sp>
      <p:sp>
        <p:nvSpPr>
          <p:cNvPr id="7" name="Text 4"/>
          <p:cNvSpPr/>
          <p:nvPr/>
        </p:nvSpPr>
        <p:spPr>
          <a:xfrm>
            <a:off x="1886049" y="3261618"/>
            <a:ext cx="16784846" cy="464741"/>
          </a:xfrm>
          <a:prstGeom prst="rect">
            <a:avLst/>
          </a:prstGeom>
          <a:noFill/>
          <a:ln/>
        </p:spPr>
        <p:txBody>
          <a:bodyPr wrap="square" lIns="25400" tIns="25400" rIns="25400" bIns="25400" rtlCol="0" anchor="t">
            <a:normAutofit/>
          </a:bodyPr>
          <a:lstStyle/>
          <a:p>
            <a:pPr algn="l" indent="0" marL="0">
              <a:lnSpc>
                <a:spcPct val="97391"/>
              </a:lnSpc>
              <a:buNone/>
            </a:pPr>
            <a:r>
              <a:rPr lang="en-US" sz="3000" b="1" spc="-60" kern="0" dirty="0">
                <a:solidFill>
                  <a:srgbClr val="000000"/>
                </a:solidFill>
                <a:latin typeface="Arial" pitchFamily="34" charset="0"/>
                <a:ea typeface="Arial" pitchFamily="34" charset="-122"/>
                <a:cs typeface="Arial" pitchFamily="34" charset="-120"/>
              </a:rPr>
              <a:t>Knowledge to skill to outcome</a:t>
            </a:r>
            <a:endParaRPr lang="en-US" sz="3000" dirty="0"/>
          </a:p>
        </p:txBody>
      </p:sp>
      <p:sp>
        <p:nvSpPr>
          <p:cNvPr id="8" name="Text 5"/>
          <p:cNvSpPr/>
          <p:nvPr/>
        </p:nvSpPr>
        <p:spPr>
          <a:xfrm>
            <a:off x="1886049" y="3783509"/>
            <a:ext cx="15716720" cy="727273"/>
          </a:xfrm>
          <a:prstGeom prst="rect">
            <a:avLst/>
          </a:prstGeom>
          <a:noFill/>
          <a:ln/>
        </p:spPr>
        <p:txBody>
          <a:bodyPr wrap="square" lIns="25400" tIns="25400" rIns="25400" bIns="25400" rtlCol="0" anchor="t">
            <a:normAutofit/>
          </a:bodyPr>
          <a:lstStyle/>
          <a:p>
            <a:pPr algn="l" indent="0" marL="0">
              <a:lnSpc>
                <a:spcPct val="115468"/>
              </a:lnSpc>
              <a:buNone/>
            </a:pPr>
            <a:r>
              <a:rPr lang="en-US" sz="2025" dirty="0">
                <a:solidFill>
                  <a:srgbClr val="4D4D4D"/>
                </a:solidFill>
                <a:latin typeface="Arial" pitchFamily="34" charset="0"/>
                <a:ea typeface="Arial" pitchFamily="34" charset="-122"/>
                <a:cs typeface="Arial" pitchFamily="34" charset="-120"/>
              </a:rPr>
              <a:t>Knowledge training is necessary and it is not competency. General skill transfers and is worth having on its own. Context-specific outcomes are what your plan is asking for.</a:t>
            </a:r>
            <a:endParaRPr lang="en-US" sz="2025" dirty="0"/>
          </a:p>
        </p:txBody>
      </p:sp>
      <p:sp>
        <p:nvSpPr>
          <p:cNvPr id="9" name="Shape 6"/>
          <p:cNvSpPr/>
          <p:nvPr/>
        </p:nvSpPr>
        <p:spPr>
          <a:xfrm>
            <a:off x="1143000" y="4796532"/>
            <a:ext cx="16002000" cy="19050"/>
          </a:xfrm>
          <a:prstGeom prst="rect">
            <a:avLst/>
          </a:prstGeom>
          <a:solidFill>
            <a:srgbClr val="000000"/>
          </a:solidFill>
          <a:ln/>
        </p:spPr>
      </p:sp>
      <p:sp>
        <p:nvSpPr>
          <p:cNvPr id="10" name="Text 7"/>
          <p:cNvSpPr/>
          <p:nvPr/>
        </p:nvSpPr>
        <p:spPr>
          <a:xfrm>
            <a:off x="1143000" y="5044182"/>
            <a:ext cx="533499" cy="419100"/>
          </a:xfrm>
          <a:prstGeom prst="rect">
            <a:avLst/>
          </a:prstGeom>
          <a:noFill/>
          <a:ln/>
        </p:spPr>
        <p:txBody>
          <a:bodyPr wrap="square" lIns="25400" tIns="25400" rIns="25400" bIns="25400" rtlCol="0" anchor="t">
            <a:normAutofit/>
          </a:bodyPr>
          <a:lstStyle/>
          <a:p>
            <a:pPr algn="l" indent="0" marL="0">
              <a:lnSpc>
                <a:spcPct val="88235"/>
              </a:lnSpc>
              <a:buNone/>
            </a:pPr>
            <a:r>
              <a:rPr lang="en-US" sz="3000" b="1" dirty="0">
                <a:solidFill>
                  <a:srgbClr val="A100FF"/>
                </a:solidFill>
                <a:latin typeface="Courier New" pitchFamily="34" charset="0"/>
                <a:ea typeface="Courier New" pitchFamily="34" charset="-122"/>
                <a:cs typeface="Courier New" pitchFamily="34" charset="-120"/>
              </a:rPr>
              <a:t>02</a:t>
            </a:r>
            <a:endParaRPr lang="en-US" sz="3000" dirty="0"/>
          </a:p>
        </p:txBody>
      </p:sp>
      <p:sp>
        <p:nvSpPr>
          <p:cNvPr id="11" name="Text 8"/>
          <p:cNvSpPr/>
          <p:nvPr/>
        </p:nvSpPr>
        <p:spPr>
          <a:xfrm>
            <a:off x="1886049" y="5044182"/>
            <a:ext cx="16784846" cy="464741"/>
          </a:xfrm>
          <a:prstGeom prst="rect">
            <a:avLst/>
          </a:prstGeom>
          <a:noFill/>
          <a:ln/>
        </p:spPr>
        <p:txBody>
          <a:bodyPr wrap="square" lIns="25400" tIns="25400" rIns="25400" bIns="25400" rtlCol="0" anchor="t">
            <a:normAutofit/>
          </a:bodyPr>
          <a:lstStyle/>
          <a:p>
            <a:pPr algn="l" indent="0" marL="0">
              <a:lnSpc>
                <a:spcPct val="97391"/>
              </a:lnSpc>
              <a:buNone/>
            </a:pPr>
            <a:r>
              <a:rPr lang="en-US" sz="3000" b="1" spc="-60" kern="0" dirty="0">
                <a:solidFill>
                  <a:srgbClr val="000000"/>
                </a:solidFill>
                <a:latin typeface="Arial" pitchFamily="34" charset="0"/>
                <a:ea typeface="Arial" pitchFamily="34" charset="-122"/>
                <a:cs typeface="Arial" pitchFamily="34" charset="-120"/>
              </a:rPr>
              <a:t>You measure it with a capstone</a:t>
            </a:r>
            <a:endParaRPr lang="en-US" sz="3000" dirty="0"/>
          </a:p>
        </p:txBody>
      </p:sp>
      <p:sp>
        <p:nvSpPr>
          <p:cNvPr id="12" name="Text 9"/>
          <p:cNvSpPr/>
          <p:nvPr/>
        </p:nvSpPr>
        <p:spPr>
          <a:xfrm>
            <a:off x="1886049" y="5566073"/>
            <a:ext cx="15716720" cy="727273"/>
          </a:xfrm>
          <a:prstGeom prst="rect">
            <a:avLst/>
          </a:prstGeom>
          <a:noFill/>
          <a:ln/>
        </p:spPr>
        <p:txBody>
          <a:bodyPr wrap="square" lIns="25400" tIns="25400" rIns="25400" bIns="25400" rtlCol="0" anchor="t">
            <a:normAutofit/>
          </a:bodyPr>
          <a:lstStyle/>
          <a:p>
            <a:pPr algn="l" indent="0" marL="0">
              <a:lnSpc>
                <a:spcPct val="115468"/>
              </a:lnSpc>
              <a:buNone/>
            </a:pPr>
            <a:r>
              <a:rPr lang="en-US" sz="2025" dirty="0">
                <a:solidFill>
                  <a:srgbClr val="4D4D4D"/>
                </a:solidFill>
                <a:latin typeface="Arial" pitchFamily="34" charset="0"/>
                <a:ea typeface="Arial" pitchFamily="34" charset="-122"/>
                <a:cs typeface="Arial" pitchFamily="34" charset="-120"/>
              </a:rPr>
              <a:t>In their environment, on their workflow, with their tools, measured against the workflow’s own existing measures. Assessed before and after, against the same standard.</a:t>
            </a:r>
            <a:endParaRPr lang="en-US" sz="2025" dirty="0"/>
          </a:p>
        </p:txBody>
      </p:sp>
      <p:sp>
        <p:nvSpPr>
          <p:cNvPr id="13" name="Shape 10"/>
          <p:cNvSpPr/>
          <p:nvPr/>
        </p:nvSpPr>
        <p:spPr>
          <a:xfrm>
            <a:off x="1143000" y="6579096"/>
            <a:ext cx="16002000" cy="19050"/>
          </a:xfrm>
          <a:prstGeom prst="rect">
            <a:avLst/>
          </a:prstGeom>
          <a:solidFill>
            <a:srgbClr val="000000"/>
          </a:solidFill>
          <a:ln/>
        </p:spPr>
      </p:sp>
      <p:sp>
        <p:nvSpPr>
          <p:cNvPr id="14" name="Text 11"/>
          <p:cNvSpPr/>
          <p:nvPr/>
        </p:nvSpPr>
        <p:spPr>
          <a:xfrm>
            <a:off x="1143000" y="6826746"/>
            <a:ext cx="533499" cy="419100"/>
          </a:xfrm>
          <a:prstGeom prst="rect">
            <a:avLst/>
          </a:prstGeom>
          <a:noFill/>
          <a:ln/>
        </p:spPr>
        <p:txBody>
          <a:bodyPr wrap="square" lIns="25400" tIns="25400" rIns="25400" bIns="25400" rtlCol="0" anchor="t">
            <a:normAutofit/>
          </a:bodyPr>
          <a:lstStyle/>
          <a:p>
            <a:pPr algn="l" indent="0" marL="0">
              <a:lnSpc>
                <a:spcPct val="88235"/>
              </a:lnSpc>
              <a:buNone/>
            </a:pPr>
            <a:r>
              <a:rPr lang="en-US" sz="3000" b="1" dirty="0">
                <a:solidFill>
                  <a:srgbClr val="A100FF"/>
                </a:solidFill>
                <a:latin typeface="Courier New" pitchFamily="34" charset="0"/>
                <a:ea typeface="Courier New" pitchFamily="34" charset="-122"/>
                <a:cs typeface="Courier New" pitchFamily="34" charset="-120"/>
              </a:rPr>
              <a:t>03</a:t>
            </a:r>
            <a:endParaRPr lang="en-US" sz="3000" dirty="0"/>
          </a:p>
        </p:txBody>
      </p:sp>
      <p:sp>
        <p:nvSpPr>
          <p:cNvPr id="15" name="Text 12"/>
          <p:cNvSpPr/>
          <p:nvPr/>
        </p:nvSpPr>
        <p:spPr>
          <a:xfrm>
            <a:off x="1886049" y="6826746"/>
            <a:ext cx="16784846" cy="464741"/>
          </a:xfrm>
          <a:prstGeom prst="rect">
            <a:avLst/>
          </a:prstGeom>
          <a:noFill/>
          <a:ln/>
        </p:spPr>
        <p:txBody>
          <a:bodyPr wrap="square" lIns="25400" tIns="25400" rIns="25400" bIns="25400" rtlCol="0" anchor="t">
            <a:normAutofit/>
          </a:bodyPr>
          <a:lstStyle/>
          <a:p>
            <a:pPr algn="l" indent="0" marL="0">
              <a:lnSpc>
                <a:spcPct val="97391"/>
              </a:lnSpc>
              <a:buNone/>
            </a:pPr>
            <a:r>
              <a:rPr lang="en-US" sz="3000" b="1" spc="-60" kern="0" dirty="0">
                <a:solidFill>
                  <a:srgbClr val="000000"/>
                </a:solidFill>
                <a:latin typeface="Arial" pitchFamily="34" charset="0"/>
                <a:ea typeface="Arial" pitchFamily="34" charset="-122"/>
                <a:cs typeface="Arial" pitchFamily="34" charset="-120"/>
              </a:rPr>
              <a:t>And what people believe about AI that is no longer true</a:t>
            </a:r>
            <a:endParaRPr lang="en-US" sz="3000" dirty="0"/>
          </a:p>
        </p:txBody>
      </p:sp>
      <p:sp>
        <p:nvSpPr>
          <p:cNvPr id="16" name="Text 13"/>
          <p:cNvSpPr/>
          <p:nvPr/>
        </p:nvSpPr>
        <p:spPr>
          <a:xfrm>
            <a:off x="1886049" y="7348637"/>
            <a:ext cx="15716720" cy="1071860"/>
          </a:xfrm>
          <a:prstGeom prst="rect">
            <a:avLst/>
          </a:prstGeom>
          <a:noFill/>
          <a:ln/>
        </p:spPr>
        <p:txBody>
          <a:bodyPr wrap="square" lIns="25400" tIns="25400" rIns="25400" bIns="25400" rtlCol="0" anchor="t">
            <a:normAutofit/>
          </a:bodyPr>
          <a:lstStyle/>
          <a:p>
            <a:pPr algn="l" indent="0" marL="0">
              <a:lnSpc>
                <a:spcPct val="115468"/>
              </a:lnSpc>
              <a:buNone/>
            </a:pPr>
            <a:r>
              <a:rPr lang="en-US" sz="2025" dirty="0">
                <a:solidFill>
                  <a:srgbClr val="4D4D4D"/>
                </a:solidFill>
                <a:latin typeface="Arial" pitchFamily="34" charset="0"/>
                <a:ea typeface="Arial" pitchFamily="34" charset="-122"/>
                <a:cs typeface="Arial" pitchFamily="34" charset="-120"/>
              </a:rPr>
              <a:t>Adoption fails on workflows nobody redesigned. The gate decides where to point this. AI amplifies what you already have. A guardrail the model enforces on itself is not a guardrail. And hallucinations can be mitigated to a large degree when you run your own agents.</a:t>
            </a:r>
            <a:endParaRPr lang="en-US" sz="2025" dirty="0"/>
          </a:p>
        </p:txBody>
      </p:sp>
      <p:sp>
        <p:nvSpPr>
          <p:cNvPr id="17" name="Text 14"/>
          <p:cNvSpPr/>
          <p:nvPr/>
        </p:nvSpPr>
        <p:spPr>
          <a:xfrm>
            <a:off x="1143000" y="9197380"/>
            <a:ext cx="1559183"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DAFITC 2026</a:t>
            </a:r>
            <a:endParaRPr lang="en-US" sz="1800" dirty="0"/>
          </a:p>
        </p:txBody>
      </p:sp>
      <p:sp>
        <p:nvSpPr>
          <p:cNvPr id="18" name="Text 15"/>
          <p:cNvSpPr/>
          <p:nvPr/>
        </p:nvSpPr>
        <p:spPr>
          <a:xfrm>
            <a:off x="2693789" y="9197380"/>
            <a:ext cx="17780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C8C8C2"/>
                </a:solidFill>
                <a:latin typeface="Arial" pitchFamily="34" charset="0"/>
                <a:ea typeface="Arial" pitchFamily="34" charset="-122"/>
                <a:cs typeface="Arial" pitchFamily="34" charset="-120"/>
              </a:rPr>
              <a:t>/</a:t>
            </a:r>
            <a:endParaRPr lang="en-US" sz="1800" dirty="0"/>
          </a:p>
        </p:txBody>
      </p:sp>
      <p:sp>
        <p:nvSpPr>
          <p:cNvPr id="19" name="Text 16"/>
          <p:cNvSpPr/>
          <p:nvPr/>
        </p:nvSpPr>
        <p:spPr>
          <a:xfrm>
            <a:off x="2928739" y="9197380"/>
            <a:ext cx="854670"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Track 4</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6000"/>
            <a:extLst>
              <a:ext uri="{96DAC541-7B7A-43D3-8B79-37D633B846F1}">
                <asvg:svgBlip xmlns:asvg="http://schemas.microsoft.com/office/drawing/2016/SVG/main" r:embed="rId2"/>
              </a:ext>
            </a:extLst>
          </a:blip>
          <a:stretch>
            <a:fillRect/>
          </a:stretch>
        </p:blipFill>
        <p:spPr>
          <a:xfrm>
            <a:off x="8662194" y="1333500"/>
            <a:ext cx="10578307" cy="11239500"/>
          </a:xfrm>
          <a:prstGeom prst="rect">
            <a:avLst/>
          </a:prstGeom>
        </p:spPr>
      </p:pic>
      <p:pic>
        <p:nvPicPr>
          <p:cNvPr id="3" name="Image 1" descr="preencoded.png">    </p:cNvPr>
          <p:cNvPicPr>
            <a:picLocks noChangeAspect="1"/>
          </p:cNvPicPr>
          <p:nvPr/>
        </p:nvPicPr>
        <p:blipFill>
          <a:blip r:embed="rId3"/>
          <a:stretch>
            <a:fillRect/>
          </a:stretch>
        </p:blipFill>
        <p:spPr>
          <a:xfrm>
            <a:off x="1143000" y="762000"/>
            <a:ext cx="1590576" cy="419100"/>
          </a:xfrm>
          <a:prstGeom prst="rect">
            <a:avLst/>
          </a:prstGeom>
        </p:spPr>
      </p:pic>
      <p:sp>
        <p:nvSpPr>
          <p:cNvPr id="4" name="Text 0"/>
          <p:cNvSpPr/>
          <p:nvPr/>
        </p:nvSpPr>
        <p:spPr>
          <a:xfrm>
            <a:off x="1143000" y="1181100"/>
            <a:ext cx="14716125" cy="1543645"/>
          </a:xfrm>
          <a:prstGeom prst="rect">
            <a:avLst/>
          </a:prstGeom>
          <a:noFill/>
          <a:ln/>
        </p:spPr>
        <p:txBody>
          <a:bodyPr wrap="square" lIns="25400" tIns="25400" rIns="25400" bIns="25400" rtlCol="0" anchor="t">
            <a:normAutofit/>
          </a:bodyPr>
          <a:lstStyle/>
          <a:p>
            <a:pPr algn="l" indent="0" marL="0">
              <a:lnSpc>
                <a:spcPct val="90504"/>
              </a:lnSpc>
              <a:buNone/>
            </a:pPr>
            <a:r>
              <a:rPr lang="en-US" sz="5700" b="1" spc="-114" kern="0" dirty="0">
                <a:solidFill>
                  <a:srgbClr val="FFFFFF"/>
                </a:solidFill>
                <a:latin typeface="Arial" pitchFamily="34" charset="0"/>
                <a:ea typeface="Arial" pitchFamily="34" charset="-122"/>
                <a:cs typeface="Arial" pitchFamily="34" charset="-120"/>
              </a:rPr>
              <a:t>AI-Ready Warfighters. Commercial power. Mission speed.</a:t>
            </a:r>
            <a:endParaRPr lang="en-US" sz="5700" dirty="0"/>
          </a:p>
        </p:txBody>
      </p:sp>
      <p:sp>
        <p:nvSpPr>
          <p:cNvPr id="5" name="Text 1"/>
          <p:cNvSpPr/>
          <p:nvPr/>
        </p:nvSpPr>
        <p:spPr>
          <a:xfrm>
            <a:off x="1143000" y="2972395"/>
            <a:ext cx="13735050" cy="89138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FFFFFF">
                    <a:alpha val="88000"/>
                  </a:srgbClr>
                </a:solidFill>
                <a:latin typeface="Arial" pitchFamily="34" charset="0"/>
                <a:ea typeface="Arial" pitchFamily="34" charset="-122"/>
                <a:cs typeface="Arial" pitchFamily="34" charset="-120"/>
              </a:rPr>
              <a:t>A force that learns faster, adapts faster, and employs AI safely at the digital edge. Faster to competency. Grounded in your doctrine. Governable by design.</a:t>
            </a:r>
            <a:endParaRPr lang="en-US" sz="24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3000" y="4331395"/>
            <a:ext cx="228600" cy="238125"/>
          </a:xfrm>
          <a:prstGeom prst="rect">
            <a:avLst/>
          </a:prstGeom>
        </p:spPr>
      </p:pic>
      <p:sp>
        <p:nvSpPr>
          <p:cNvPr id="7" name="Text 2"/>
          <p:cNvSpPr/>
          <p:nvPr/>
        </p:nvSpPr>
        <p:spPr>
          <a:xfrm>
            <a:off x="1562100" y="4206677"/>
            <a:ext cx="11199465" cy="525760"/>
          </a:xfrm>
          <a:prstGeom prst="rect">
            <a:avLst/>
          </a:prstGeom>
          <a:noFill/>
          <a:ln/>
        </p:spPr>
        <p:txBody>
          <a:bodyPr wrap="square" lIns="25400" tIns="25400" rIns="25400" bIns="25400" rtlCol="0" anchor="t">
            <a:normAutofit/>
          </a:bodyPr>
          <a:lstStyle/>
          <a:p>
            <a:pPr algn="l" indent="0" marL="0">
              <a:lnSpc>
                <a:spcPct val="139636"/>
              </a:lnSpc>
              <a:buNone/>
            </a:pPr>
            <a:r>
              <a:rPr lang="en-US" sz="2400" b="1" dirty="0">
                <a:solidFill>
                  <a:srgbClr val="FFFFFF"/>
                </a:solidFill>
                <a:latin typeface="Arial" pitchFamily="34" charset="0"/>
                <a:ea typeface="Arial" pitchFamily="34" charset="-122"/>
                <a:cs typeface="Arial" pitchFamily="34" charset="-120"/>
              </a:rPr>
              <a:t>Connect with me to discuss speed-to-competency for AI-intensive missions.</a:t>
            </a:r>
            <a:endParaRPr lang="en-US" sz="24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43000" y="5104805"/>
            <a:ext cx="228600" cy="238125"/>
          </a:xfrm>
          <a:prstGeom prst="rect">
            <a:avLst/>
          </a:prstGeom>
        </p:spPr>
      </p:pic>
      <p:sp>
        <p:nvSpPr>
          <p:cNvPr id="9" name="Text 3"/>
          <p:cNvSpPr/>
          <p:nvPr/>
        </p:nvSpPr>
        <p:spPr>
          <a:xfrm>
            <a:off x="1562100" y="4980087"/>
            <a:ext cx="12655402" cy="525760"/>
          </a:xfrm>
          <a:prstGeom prst="rect">
            <a:avLst/>
          </a:prstGeom>
          <a:noFill/>
          <a:ln/>
        </p:spPr>
        <p:txBody>
          <a:bodyPr wrap="square" lIns="25400" tIns="25400" rIns="25400" bIns="25400" rtlCol="0" anchor="t">
            <a:normAutofit/>
          </a:bodyPr>
          <a:lstStyle/>
          <a:p>
            <a:pPr algn="l" indent="0" marL="0">
              <a:lnSpc>
                <a:spcPct val="139636"/>
              </a:lnSpc>
              <a:buNone/>
            </a:pPr>
            <a:r>
              <a:rPr lang="en-US" sz="2400" b="1" dirty="0">
                <a:solidFill>
                  <a:srgbClr val="FFFFFF"/>
                </a:solidFill>
                <a:latin typeface="Arial" pitchFamily="34" charset="0"/>
                <a:ea typeface="Arial" pitchFamily="34" charset="-122"/>
                <a:cs typeface="Arial" pitchFamily="34" charset="-120"/>
              </a:rPr>
              <a:t>See it live: the coach and its guardrails, running at booth 150, closest to the entrance.</a:t>
            </a:r>
            <a:endParaRPr lang="en-US" sz="2400" dirty="0"/>
          </a:p>
        </p:txBody>
      </p:sp>
      <p:sp>
        <p:nvSpPr>
          <p:cNvPr id="10" name="Text 4"/>
          <p:cNvSpPr/>
          <p:nvPr/>
        </p:nvSpPr>
        <p:spPr>
          <a:xfrm>
            <a:off x="1143000" y="5753497"/>
            <a:ext cx="16482060" cy="647700"/>
          </a:xfrm>
          <a:prstGeom prst="rect">
            <a:avLst/>
          </a:prstGeom>
          <a:noFill/>
          <a:ln/>
        </p:spPr>
        <p:txBody>
          <a:bodyPr wrap="square" lIns="25400" tIns="25400" rIns="25400" bIns="25400" rtlCol="0" anchor="t">
            <a:normAutofit/>
          </a:bodyPr>
          <a:lstStyle/>
          <a:p>
            <a:pPr algn="l" indent="0" marL="0">
              <a:lnSpc>
                <a:spcPct val="139130"/>
              </a:lnSpc>
              <a:buNone/>
            </a:pPr>
            <a:r>
              <a:rPr lang="en-US" sz="3000" b="1" spc="-60" kern="0" dirty="0">
                <a:solidFill>
                  <a:srgbClr val="DCAFFF"/>
                </a:solidFill>
                <a:latin typeface="Arial" pitchFamily="34" charset="0"/>
                <a:ea typeface="Arial" pitchFamily="34" charset="-122"/>
                <a:cs typeface="Arial" pitchFamily="34" charset="-120"/>
              </a:rPr>
              <a:t>Come break it.</a:t>
            </a:r>
            <a:endParaRPr lang="en-US" sz="3000" dirty="0"/>
          </a:p>
        </p:txBody>
      </p:sp>
      <p:pic>
        <p:nvPicPr>
          <p:cNvPr id="11"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43000" y="7017445"/>
            <a:ext cx="228600" cy="238125"/>
          </a:xfrm>
          <a:prstGeom prst="rect">
            <a:avLst/>
          </a:prstGeom>
        </p:spPr>
      </p:pic>
      <p:sp>
        <p:nvSpPr>
          <p:cNvPr id="12" name="Text 5"/>
          <p:cNvSpPr/>
          <p:nvPr/>
        </p:nvSpPr>
        <p:spPr>
          <a:xfrm>
            <a:off x="1562100" y="6648847"/>
            <a:ext cx="16050387" cy="1013420"/>
          </a:xfrm>
          <a:prstGeom prst="rect">
            <a:avLst/>
          </a:prstGeom>
          <a:noFill/>
          <a:ln/>
        </p:spPr>
        <p:txBody>
          <a:bodyPr wrap="square" lIns="25400" tIns="25400" rIns="25400" bIns="25400" rtlCol="0" anchor="t">
            <a:normAutofit/>
          </a:bodyPr>
          <a:lstStyle/>
          <a:p>
            <a:pPr algn="l" indent="0" marL="0">
              <a:lnSpc>
                <a:spcPct val="139636"/>
              </a:lnSpc>
              <a:buNone/>
            </a:pPr>
            <a:r>
              <a:rPr lang="en-US" sz="2400" b="1" dirty="0">
                <a:solidFill>
                  <a:srgbClr val="FFFFFF"/>
                </a:solidFill>
                <a:latin typeface="Arial" pitchFamily="34" charset="0"/>
                <a:ea typeface="Arial" pitchFamily="34" charset="-122"/>
                <a:cs typeface="Arial" pitchFamily="34" charset="-120"/>
              </a:rPr>
              <a:t>The leave-behind carries the gate as a worksheet, the proficiency codes, both learning paths, and every source in this deck.</a:t>
            </a:r>
            <a:endParaRPr lang="en-US" sz="2400" dirty="0"/>
          </a:p>
        </p:txBody>
      </p:sp>
      <p:sp>
        <p:nvSpPr>
          <p:cNvPr id="13" name="Text 6"/>
          <p:cNvSpPr/>
          <p:nvPr/>
        </p:nvSpPr>
        <p:spPr>
          <a:xfrm>
            <a:off x="1143000" y="7948017"/>
            <a:ext cx="17602200" cy="464741"/>
          </a:xfrm>
          <a:prstGeom prst="rect">
            <a:avLst/>
          </a:prstGeom>
          <a:noFill/>
          <a:ln/>
        </p:spPr>
        <p:txBody>
          <a:bodyPr wrap="square" lIns="25400" tIns="25400" rIns="25400" bIns="25400" rtlCol="0" anchor="t">
            <a:normAutofit/>
          </a:bodyPr>
          <a:lstStyle/>
          <a:p>
            <a:pPr algn="l" indent="0" marL="0">
              <a:lnSpc>
                <a:spcPct val="140000"/>
              </a:lnSpc>
              <a:buNone/>
            </a:pPr>
            <a:r>
              <a:rPr lang="en-US" sz="2100" b="1" dirty="0">
                <a:solidFill>
                  <a:srgbClr val="FFFFFF">
                    <a:alpha val="95000"/>
                  </a:srgbClr>
                </a:solidFill>
                <a:latin typeface="Arial" pitchFamily="34" charset="0"/>
                <a:ea typeface="Arial" pitchFamily="34" charset="-122"/>
                <a:cs typeface="Arial" pitchFamily="34" charset="-120"/>
              </a:rPr>
              <a:t>Accenture Federal Services delivers results that move the force forward.</a:t>
            </a:r>
            <a:endParaRPr lang="en-US" sz="2100" dirty="0"/>
          </a:p>
        </p:txBody>
      </p:sp>
      <p:sp>
        <p:nvSpPr>
          <p:cNvPr id="14" name="Text 7"/>
          <p:cNvSpPr/>
          <p:nvPr/>
        </p:nvSpPr>
        <p:spPr>
          <a:xfrm>
            <a:off x="1143000" y="8717558"/>
            <a:ext cx="2188597" cy="708620"/>
          </a:xfrm>
          <a:prstGeom prst="rect">
            <a:avLst/>
          </a:prstGeom>
          <a:noFill/>
          <a:ln/>
        </p:spPr>
        <p:txBody>
          <a:bodyPr wrap="square" lIns="25400" tIns="25400" rIns="25400" bIns="25400" rtlCol="0" anchor="t">
            <a:normAutofit/>
          </a:bodyPr>
          <a:lstStyle/>
          <a:p>
            <a:pPr algn="l" indent="0" marL="0">
              <a:lnSpc>
                <a:spcPct val="138947"/>
              </a:lnSpc>
              <a:buNone/>
            </a:pPr>
            <a:r>
              <a:rPr lang="en-US" sz="3300" b="1" spc="-66" kern="0" dirty="0">
                <a:solidFill>
                  <a:srgbClr val="FFFFFF"/>
                </a:solidFill>
                <a:latin typeface="Arial" pitchFamily="34" charset="0"/>
                <a:ea typeface="Arial" pitchFamily="34" charset="-122"/>
                <a:cs typeface="Arial" pitchFamily="34" charset="-120"/>
              </a:rPr>
              <a:t>Thank you.</a:t>
            </a:r>
            <a:endParaRPr lang="en-US" sz="3300" dirty="0"/>
          </a:p>
        </p:txBody>
      </p:sp>
      <p:sp>
        <p:nvSpPr>
          <p:cNvPr id="15" name="Text 8"/>
          <p:cNvSpPr/>
          <p:nvPr/>
        </p:nvSpPr>
        <p:spPr>
          <a:xfrm>
            <a:off x="3361234" y="8889008"/>
            <a:ext cx="4286607" cy="464741"/>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FFFFFF">
                    <a:alpha val="85000"/>
                  </a:srgbClr>
                </a:solidFill>
                <a:latin typeface="Arial" pitchFamily="34" charset="0"/>
                <a:ea typeface="Arial" pitchFamily="34" charset="-122"/>
                <a:cs typeface="Arial" pitchFamily="34" charset="-120"/>
              </a:rPr>
              <a:t>Questions, now or at booth 150.</a:t>
            </a:r>
            <a:endParaRPr lang="en-US" sz="2100" dirty="0"/>
          </a:p>
        </p:txBody>
      </p:sp>
      <p:sp>
        <p:nvSpPr>
          <p:cNvPr id="16" name="Text 9"/>
          <p:cNvSpPr/>
          <p:nvPr/>
        </p:nvSpPr>
        <p:spPr>
          <a:xfrm>
            <a:off x="1143000" y="9673828"/>
            <a:ext cx="17602200" cy="434280"/>
          </a:xfrm>
          <a:prstGeom prst="rect">
            <a:avLst/>
          </a:prstGeom>
          <a:noFill/>
          <a:ln/>
        </p:spPr>
        <p:txBody>
          <a:bodyPr wrap="square" lIns="25400" tIns="25400" rIns="25400" bIns="25400" rtlCol="0" anchor="t">
            <a:normAutofit/>
          </a:bodyPr>
          <a:lstStyle/>
          <a:p>
            <a:pPr algn="l" indent="0" marL="0">
              <a:lnSpc>
                <a:spcPct val="141818"/>
              </a:lnSpc>
              <a:buNone/>
            </a:pPr>
            <a:r>
              <a:rPr lang="en-US" sz="1950" dirty="0">
                <a:solidFill>
                  <a:srgbClr val="FFFFFF">
                    <a:alpha val="75000"/>
                  </a:srgbClr>
                </a:solidFill>
                <a:latin typeface="Arial" pitchFamily="34" charset="0"/>
                <a:ea typeface="Arial" pitchFamily="34" charset="-122"/>
                <a:cs typeface="Arial" pitchFamily="34" charset="-120"/>
              </a:rPr>
              <a:t>Michael Forrester / Accenture Federal Services / michael.r.forrester@accenture.com</a:t>
            </a:r>
            <a:endParaRPr lang="en-US" sz="1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1513126"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APPENDIX</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760220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Sources, S1 to S8</a:t>
            </a:r>
            <a:endParaRPr lang="en-US" sz="4200" dirty="0"/>
          </a:p>
        </p:txBody>
      </p:sp>
      <p:sp>
        <p:nvSpPr>
          <p:cNvPr id="5" name="Shape 2"/>
          <p:cNvSpPr/>
          <p:nvPr/>
        </p:nvSpPr>
        <p:spPr>
          <a:xfrm>
            <a:off x="1143000" y="3885506"/>
            <a:ext cx="477639" cy="317500"/>
          </a:xfrm>
          <a:prstGeom prst="roundRect">
            <a:avLst>
              <a:gd name="adj" fmla="val 6000"/>
            </a:avLst>
          </a:prstGeom>
          <a:ln w="6350">
            <a:solidFill>
              <a:srgbClr val="DCAFFF"/>
            </a:solidFill>
            <a:prstDash val="solid"/>
          </a:ln>
        </p:spPr>
      </p:sp>
      <p:sp>
        <p:nvSpPr>
          <p:cNvPr id="6" name="Text 3"/>
          <p:cNvSpPr/>
          <p:nvPr/>
        </p:nvSpPr>
        <p:spPr>
          <a:xfrm>
            <a:off x="1244600" y="3929956"/>
            <a:ext cx="322203"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a:t>
            </a:r>
            <a:endParaRPr lang="en-US" sz="1800" dirty="0"/>
          </a:p>
        </p:txBody>
      </p:sp>
      <p:sp>
        <p:nvSpPr>
          <p:cNvPr id="7" name="Text 4"/>
          <p:cNvSpPr/>
          <p:nvPr/>
        </p:nvSpPr>
        <p:spPr>
          <a:xfrm>
            <a:off x="1773039" y="3866456"/>
            <a:ext cx="4478812" cy="66159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DAF launches plan to bolster AI workforce.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af.mil, April 2026</a:t>
            </a:r>
            <a:endParaRPr lang="en-US" sz="1800" dirty="0"/>
          </a:p>
        </p:txBody>
      </p:sp>
      <p:sp>
        <p:nvSpPr>
          <p:cNvPr id="8" name="Shape 5"/>
          <p:cNvSpPr/>
          <p:nvPr/>
        </p:nvSpPr>
        <p:spPr>
          <a:xfrm>
            <a:off x="1143000" y="5116017"/>
            <a:ext cx="477639" cy="317500"/>
          </a:xfrm>
          <a:prstGeom prst="roundRect">
            <a:avLst>
              <a:gd name="adj" fmla="val 6000"/>
            </a:avLst>
          </a:prstGeom>
          <a:ln w="6350">
            <a:solidFill>
              <a:srgbClr val="DCAFFF"/>
            </a:solidFill>
            <a:prstDash val="solid"/>
          </a:ln>
        </p:spPr>
      </p:sp>
      <p:sp>
        <p:nvSpPr>
          <p:cNvPr id="9" name="Text 6"/>
          <p:cNvSpPr/>
          <p:nvPr/>
        </p:nvSpPr>
        <p:spPr>
          <a:xfrm>
            <a:off x="1244600" y="5160467"/>
            <a:ext cx="322203"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S2</a:t>
            </a:r>
            <a:endParaRPr lang="en-US" sz="1800" dirty="0"/>
          </a:p>
        </p:txBody>
      </p:sp>
      <p:sp>
        <p:nvSpPr>
          <p:cNvPr id="10" name="Text 7"/>
          <p:cNvSpPr/>
          <p:nvPr/>
        </p:nvSpPr>
        <p:spPr>
          <a:xfrm>
            <a:off x="1773039" y="5096967"/>
            <a:ext cx="4478812" cy="66794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AI Ready by 2025, AI Competitive by 2027.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MeriTalk</a:t>
            </a:r>
            <a:endParaRPr lang="en-US" sz="1800" dirty="0"/>
          </a:p>
        </p:txBody>
      </p:sp>
      <p:sp>
        <p:nvSpPr>
          <p:cNvPr id="11" name="Shape 8"/>
          <p:cNvSpPr/>
          <p:nvPr/>
        </p:nvSpPr>
        <p:spPr>
          <a:xfrm>
            <a:off x="1143000" y="6648748"/>
            <a:ext cx="477639" cy="317500"/>
          </a:xfrm>
          <a:prstGeom prst="roundRect">
            <a:avLst>
              <a:gd name="adj" fmla="val 6000"/>
            </a:avLst>
          </a:prstGeom>
          <a:ln w="6350">
            <a:solidFill>
              <a:srgbClr val="DCAFFF"/>
            </a:solidFill>
            <a:prstDash val="solid"/>
          </a:ln>
        </p:spPr>
      </p:sp>
      <p:sp>
        <p:nvSpPr>
          <p:cNvPr id="12" name="Text 9"/>
          <p:cNvSpPr/>
          <p:nvPr/>
        </p:nvSpPr>
        <p:spPr>
          <a:xfrm>
            <a:off x="1244600" y="6693198"/>
            <a:ext cx="322203"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S3</a:t>
            </a:r>
            <a:endParaRPr lang="en-US" sz="1800" dirty="0"/>
          </a:p>
        </p:txBody>
      </p:sp>
      <p:sp>
        <p:nvSpPr>
          <p:cNvPr id="13" name="Text 10"/>
          <p:cNvSpPr/>
          <p:nvPr/>
        </p:nvSpPr>
        <p:spPr>
          <a:xfrm>
            <a:off x="1773039" y="6629698"/>
            <a:ext cx="4478812" cy="97651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DoD adopts 5 principles of artificial intelligence ethics.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Army.mil, February 2020</a:t>
            </a:r>
            <a:endParaRPr lang="en-US" sz="1800" dirty="0"/>
          </a:p>
        </p:txBody>
      </p:sp>
      <p:sp>
        <p:nvSpPr>
          <p:cNvPr id="14" name="Shape 11"/>
          <p:cNvSpPr/>
          <p:nvPr/>
        </p:nvSpPr>
        <p:spPr>
          <a:xfrm>
            <a:off x="6654800" y="3885506"/>
            <a:ext cx="477639" cy="317500"/>
          </a:xfrm>
          <a:prstGeom prst="roundRect">
            <a:avLst>
              <a:gd name="adj" fmla="val 6000"/>
            </a:avLst>
          </a:prstGeom>
          <a:ln w="6350">
            <a:solidFill>
              <a:srgbClr val="DCAFFF"/>
            </a:solidFill>
            <a:prstDash val="solid"/>
          </a:ln>
        </p:spPr>
      </p:sp>
      <p:sp>
        <p:nvSpPr>
          <p:cNvPr id="15" name="Text 12"/>
          <p:cNvSpPr/>
          <p:nvPr/>
        </p:nvSpPr>
        <p:spPr>
          <a:xfrm>
            <a:off x="6756400" y="3929956"/>
            <a:ext cx="322203"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S4</a:t>
            </a:r>
            <a:endParaRPr lang="en-US" sz="1800" dirty="0"/>
          </a:p>
        </p:txBody>
      </p:sp>
      <p:sp>
        <p:nvSpPr>
          <p:cNvPr id="16" name="Text 13"/>
          <p:cNvSpPr/>
          <p:nvPr/>
        </p:nvSpPr>
        <p:spPr>
          <a:xfrm>
            <a:off x="7284839" y="3866456"/>
            <a:ext cx="4478812" cy="66794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Responsible AI Strategy and Implementation Pathway.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DoD, June 2022</a:t>
            </a:r>
            <a:endParaRPr lang="en-US" sz="1800" dirty="0"/>
          </a:p>
        </p:txBody>
      </p:sp>
      <p:sp>
        <p:nvSpPr>
          <p:cNvPr id="17" name="Shape 14"/>
          <p:cNvSpPr/>
          <p:nvPr/>
        </p:nvSpPr>
        <p:spPr>
          <a:xfrm>
            <a:off x="6654800" y="5116017"/>
            <a:ext cx="477639" cy="317500"/>
          </a:xfrm>
          <a:prstGeom prst="roundRect">
            <a:avLst>
              <a:gd name="adj" fmla="val 6000"/>
            </a:avLst>
          </a:prstGeom>
          <a:ln w="6350">
            <a:solidFill>
              <a:srgbClr val="DCAFFF"/>
            </a:solidFill>
            <a:prstDash val="solid"/>
          </a:ln>
        </p:spPr>
      </p:sp>
      <p:sp>
        <p:nvSpPr>
          <p:cNvPr id="18" name="Text 15"/>
          <p:cNvSpPr/>
          <p:nvPr/>
        </p:nvSpPr>
        <p:spPr>
          <a:xfrm>
            <a:off x="6756400" y="5160467"/>
            <a:ext cx="322203"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S5</a:t>
            </a:r>
            <a:endParaRPr lang="en-US" sz="1800" dirty="0"/>
          </a:p>
        </p:txBody>
      </p:sp>
      <p:sp>
        <p:nvSpPr>
          <p:cNvPr id="19" name="Text 16"/>
          <p:cNvSpPr/>
          <p:nvPr/>
        </p:nvSpPr>
        <p:spPr>
          <a:xfrm>
            <a:off x="7284839" y="5096967"/>
            <a:ext cx="4478812" cy="66159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Software Fast Track initiative, DoD CIO.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war.gov, 2025</a:t>
            </a:r>
            <a:endParaRPr lang="en-US" sz="1800" dirty="0"/>
          </a:p>
        </p:txBody>
      </p:sp>
      <p:sp>
        <p:nvSpPr>
          <p:cNvPr id="20" name="Shape 17"/>
          <p:cNvSpPr/>
          <p:nvPr/>
        </p:nvSpPr>
        <p:spPr>
          <a:xfrm>
            <a:off x="6654800" y="6648748"/>
            <a:ext cx="477639" cy="317500"/>
          </a:xfrm>
          <a:prstGeom prst="roundRect">
            <a:avLst>
              <a:gd name="adj" fmla="val 6000"/>
            </a:avLst>
          </a:prstGeom>
          <a:ln w="6350">
            <a:solidFill>
              <a:srgbClr val="DCAFFF"/>
            </a:solidFill>
            <a:prstDash val="solid"/>
          </a:ln>
        </p:spPr>
      </p:sp>
      <p:sp>
        <p:nvSpPr>
          <p:cNvPr id="21" name="Text 18"/>
          <p:cNvSpPr/>
          <p:nvPr/>
        </p:nvSpPr>
        <p:spPr>
          <a:xfrm>
            <a:off x="6756400" y="6693198"/>
            <a:ext cx="322203"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S6</a:t>
            </a:r>
            <a:endParaRPr lang="en-US" sz="1800" dirty="0"/>
          </a:p>
        </p:txBody>
      </p:sp>
      <p:sp>
        <p:nvSpPr>
          <p:cNvPr id="22" name="Text 19"/>
          <p:cNvSpPr/>
          <p:nvPr/>
        </p:nvSpPr>
        <p:spPr>
          <a:xfrm>
            <a:off x="7284839" y="6629698"/>
            <a:ext cx="4478812" cy="66794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The DoD SWFT Initiative and the Promise of cATO Fulfilled.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Anchore</a:t>
            </a:r>
            <a:endParaRPr lang="en-US" sz="1800" dirty="0"/>
          </a:p>
        </p:txBody>
      </p:sp>
      <p:sp>
        <p:nvSpPr>
          <p:cNvPr id="23" name="Shape 20"/>
          <p:cNvSpPr/>
          <p:nvPr/>
        </p:nvSpPr>
        <p:spPr>
          <a:xfrm>
            <a:off x="12166600" y="3885506"/>
            <a:ext cx="477639" cy="317500"/>
          </a:xfrm>
          <a:prstGeom prst="roundRect">
            <a:avLst>
              <a:gd name="adj" fmla="val 6000"/>
            </a:avLst>
          </a:prstGeom>
          <a:ln w="6350">
            <a:solidFill>
              <a:srgbClr val="DCAFFF"/>
            </a:solidFill>
            <a:prstDash val="solid"/>
          </a:ln>
        </p:spPr>
      </p:sp>
      <p:sp>
        <p:nvSpPr>
          <p:cNvPr id="24" name="Text 21"/>
          <p:cNvSpPr/>
          <p:nvPr/>
        </p:nvSpPr>
        <p:spPr>
          <a:xfrm>
            <a:off x="12268200" y="3929956"/>
            <a:ext cx="322203"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S7</a:t>
            </a:r>
            <a:endParaRPr lang="en-US" sz="1800" dirty="0"/>
          </a:p>
        </p:txBody>
      </p:sp>
      <p:sp>
        <p:nvSpPr>
          <p:cNvPr id="25" name="Text 22"/>
          <p:cNvSpPr/>
          <p:nvPr/>
        </p:nvSpPr>
        <p:spPr>
          <a:xfrm>
            <a:off x="12796640" y="3866456"/>
            <a:ext cx="4478812" cy="98286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Randomized controlled trial on experienced developer productivity with AI tools.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METR, arXiv:2507.09089, 2025</a:t>
            </a:r>
            <a:endParaRPr lang="en-US" sz="1800" dirty="0"/>
          </a:p>
        </p:txBody>
      </p:sp>
      <p:sp>
        <p:nvSpPr>
          <p:cNvPr id="26" name="Shape 23"/>
          <p:cNvSpPr/>
          <p:nvPr/>
        </p:nvSpPr>
        <p:spPr>
          <a:xfrm>
            <a:off x="12166600" y="5116017"/>
            <a:ext cx="477639" cy="317500"/>
          </a:xfrm>
          <a:prstGeom prst="roundRect">
            <a:avLst>
              <a:gd name="adj" fmla="val 6000"/>
            </a:avLst>
          </a:prstGeom>
          <a:ln w="6350">
            <a:solidFill>
              <a:srgbClr val="DCAFFF"/>
            </a:solidFill>
            <a:prstDash val="solid"/>
          </a:ln>
        </p:spPr>
      </p:sp>
      <p:sp>
        <p:nvSpPr>
          <p:cNvPr id="27" name="Text 24"/>
          <p:cNvSpPr/>
          <p:nvPr/>
        </p:nvSpPr>
        <p:spPr>
          <a:xfrm>
            <a:off x="12268200" y="5160467"/>
            <a:ext cx="322203"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S8</a:t>
            </a:r>
            <a:endParaRPr lang="en-US" sz="1800" dirty="0"/>
          </a:p>
        </p:txBody>
      </p:sp>
      <p:sp>
        <p:nvSpPr>
          <p:cNvPr id="28" name="Text 25"/>
          <p:cNvSpPr/>
          <p:nvPr/>
        </p:nvSpPr>
        <p:spPr>
          <a:xfrm>
            <a:off x="12796640" y="5096967"/>
            <a:ext cx="4478812" cy="128508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GenAI.mil at nearly 1.7M users and 100,000+ custom agents.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DoD CDAO Cameron Stanley, AWS Summit DC. Defense One, July 2, 2026</a:t>
            </a:r>
            <a:endParaRPr lang="en-US" sz="1800" dirty="0"/>
          </a:p>
        </p:txBody>
      </p:sp>
      <p:sp>
        <p:nvSpPr>
          <p:cNvPr id="29" name="Text 26"/>
          <p:cNvSpPr/>
          <p:nvPr/>
        </p:nvSpPr>
        <p:spPr>
          <a:xfrm>
            <a:off x="1143000" y="9197380"/>
            <a:ext cx="6440716"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Full citations and URLs in the run-of-show leave-behind</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1513126"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APPENDIX</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760220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Sources, S9 to S16</a:t>
            </a:r>
            <a:endParaRPr lang="en-US" sz="4200" dirty="0"/>
          </a:p>
        </p:txBody>
      </p:sp>
      <p:sp>
        <p:nvSpPr>
          <p:cNvPr id="5" name="Shape 2"/>
          <p:cNvSpPr/>
          <p:nvPr/>
        </p:nvSpPr>
        <p:spPr>
          <a:xfrm>
            <a:off x="1143000" y="3888681"/>
            <a:ext cx="477639" cy="317500"/>
          </a:xfrm>
          <a:prstGeom prst="roundRect">
            <a:avLst>
              <a:gd name="adj" fmla="val 6000"/>
            </a:avLst>
          </a:prstGeom>
          <a:ln w="6350">
            <a:solidFill>
              <a:srgbClr val="DCAFFF"/>
            </a:solidFill>
            <a:prstDash val="solid"/>
          </a:ln>
        </p:spPr>
      </p:sp>
      <p:sp>
        <p:nvSpPr>
          <p:cNvPr id="6" name="Text 3"/>
          <p:cNvSpPr/>
          <p:nvPr/>
        </p:nvSpPr>
        <p:spPr>
          <a:xfrm>
            <a:off x="1244600" y="3933131"/>
            <a:ext cx="322203"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S9</a:t>
            </a:r>
            <a:endParaRPr lang="en-US" sz="1800" dirty="0"/>
          </a:p>
        </p:txBody>
      </p:sp>
      <p:sp>
        <p:nvSpPr>
          <p:cNvPr id="7" name="Text 4"/>
          <p:cNvSpPr/>
          <p:nvPr/>
        </p:nvSpPr>
        <p:spPr>
          <a:xfrm>
            <a:off x="1773039" y="3869631"/>
            <a:ext cx="4478812" cy="97651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NSPM-11, Artificial Intelligence in the National Security Enterprise.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The White House, June 5, 2026</a:t>
            </a:r>
            <a:endParaRPr lang="en-US" sz="1800" dirty="0"/>
          </a:p>
        </p:txBody>
      </p:sp>
      <p:sp>
        <p:nvSpPr>
          <p:cNvPr id="8" name="Shape 5"/>
          <p:cNvSpPr/>
          <p:nvPr/>
        </p:nvSpPr>
        <p:spPr>
          <a:xfrm>
            <a:off x="1143000" y="5112841"/>
            <a:ext cx="614759" cy="317500"/>
          </a:xfrm>
          <a:prstGeom prst="roundRect">
            <a:avLst>
              <a:gd name="adj" fmla="val 6000"/>
            </a:avLst>
          </a:prstGeom>
          <a:ln w="6350">
            <a:solidFill>
              <a:srgbClr val="DCAFFF"/>
            </a:solidFill>
            <a:prstDash val="solid"/>
          </a:ln>
        </p:spPr>
      </p:sp>
      <p:sp>
        <p:nvSpPr>
          <p:cNvPr id="9" name="Text 6"/>
          <p:cNvSpPr/>
          <p:nvPr/>
        </p:nvSpPr>
        <p:spPr>
          <a:xfrm>
            <a:off x="1244600" y="5157291"/>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S10</a:t>
            </a:r>
            <a:endParaRPr lang="en-US" sz="1800" dirty="0"/>
          </a:p>
        </p:txBody>
      </p:sp>
      <p:sp>
        <p:nvSpPr>
          <p:cNvPr id="10" name="Text 7"/>
          <p:cNvSpPr/>
          <p:nvPr/>
        </p:nvSpPr>
        <p:spPr>
          <a:xfrm>
            <a:off x="1910159" y="5093791"/>
            <a:ext cx="4337578" cy="66794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Department of War AI strategy memoranda.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January 9, 2026</a:t>
            </a:r>
            <a:endParaRPr lang="en-US" sz="1800" dirty="0"/>
          </a:p>
        </p:txBody>
      </p:sp>
      <p:sp>
        <p:nvSpPr>
          <p:cNvPr id="11" name="Shape 8"/>
          <p:cNvSpPr/>
          <p:nvPr/>
        </p:nvSpPr>
        <p:spPr>
          <a:xfrm>
            <a:off x="1143000" y="6645573"/>
            <a:ext cx="614759" cy="317500"/>
          </a:xfrm>
          <a:prstGeom prst="roundRect">
            <a:avLst>
              <a:gd name="adj" fmla="val 6000"/>
            </a:avLst>
          </a:prstGeom>
          <a:ln w="6350">
            <a:solidFill>
              <a:srgbClr val="DCAFFF"/>
            </a:solidFill>
            <a:prstDash val="solid"/>
          </a:ln>
        </p:spPr>
      </p:sp>
      <p:sp>
        <p:nvSpPr>
          <p:cNvPr id="12" name="Text 9"/>
          <p:cNvSpPr/>
          <p:nvPr/>
        </p:nvSpPr>
        <p:spPr>
          <a:xfrm>
            <a:off x="1244600" y="6690023"/>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S11</a:t>
            </a:r>
            <a:endParaRPr lang="en-US" sz="1800" dirty="0"/>
          </a:p>
        </p:txBody>
      </p:sp>
      <p:sp>
        <p:nvSpPr>
          <p:cNvPr id="13" name="Text 10"/>
          <p:cNvSpPr/>
          <p:nvPr/>
        </p:nvSpPr>
        <p:spPr>
          <a:xfrm>
            <a:off x="1910159" y="6626523"/>
            <a:ext cx="4337578" cy="66159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DAF AI Strategy.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Cleared for open publication April 17, 2026</a:t>
            </a:r>
            <a:endParaRPr lang="en-US" sz="1800" dirty="0"/>
          </a:p>
        </p:txBody>
      </p:sp>
      <p:sp>
        <p:nvSpPr>
          <p:cNvPr id="14" name="Shape 11"/>
          <p:cNvSpPr/>
          <p:nvPr/>
        </p:nvSpPr>
        <p:spPr>
          <a:xfrm>
            <a:off x="6654800" y="3888681"/>
            <a:ext cx="614759" cy="317500"/>
          </a:xfrm>
          <a:prstGeom prst="roundRect">
            <a:avLst>
              <a:gd name="adj" fmla="val 6000"/>
            </a:avLst>
          </a:prstGeom>
          <a:ln w="6350">
            <a:solidFill>
              <a:srgbClr val="DCAFFF"/>
            </a:solidFill>
            <a:prstDash val="solid"/>
          </a:ln>
        </p:spPr>
      </p:sp>
      <p:sp>
        <p:nvSpPr>
          <p:cNvPr id="15" name="Text 12"/>
          <p:cNvSpPr/>
          <p:nvPr/>
        </p:nvSpPr>
        <p:spPr>
          <a:xfrm>
            <a:off x="6756400" y="3933131"/>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S12</a:t>
            </a:r>
            <a:endParaRPr lang="en-US" sz="1800" dirty="0"/>
          </a:p>
        </p:txBody>
      </p:sp>
      <p:sp>
        <p:nvSpPr>
          <p:cNvPr id="16" name="Text 13"/>
          <p:cNvSpPr/>
          <p:nvPr/>
        </p:nvSpPr>
        <p:spPr>
          <a:xfrm>
            <a:off x="7421960" y="3869631"/>
            <a:ext cx="4337578" cy="66794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DAF AI Hiring and Talent Development Plan, Total Force.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April 2026</a:t>
            </a:r>
            <a:endParaRPr lang="en-US" sz="1800" dirty="0"/>
          </a:p>
        </p:txBody>
      </p:sp>
      <p:sp>
        <p:nvSpPr>
          <p:cNvPr id="17" name="Shape 14"/>
          <p:cNvSpPr/>
          <p:nvPr/>
        </p:nvSpPr>
        <p:spPr>
          <a:xfrm>
            <a:off x="6654800" y="5112841"/>
            <a:ext cx="614759" cy="317500"/>
          </a:xfrm>
          <a:prstGeom prst="roundRect">
            <a:avLst>
              <a:gd name="adj" fmla="val 6000"/>
            </a:avLst>
          </a:prstGeom>
          <a:ln w="6350">
            <a:solidFill>
              <a:srgbClr val="DCAFFF"/>
            </a:solidFill>
            <a:prstDash val="solid"/>
          </a:ln>
        </p:spPr>
      </p:sp>
      <p:sp>
        <p:nvSpPr>
          <p:cNvPr id="18" name="Text 15"/>
          <p:cNvSpPr/>
          <p:nvPr/>
        </p:nvSpPr>
        <p:spPr>
          <a:xfrm>
            <a:off x="6756400" y="5157291"/>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S13</a:t>
            </a:r>
            <a:endParaRPr lang="en-US" sz="1800" dirty="0"/>
          </a:p>
        </p:txBody>
      </p:sp>
      <p:sp>
        <p:nvSpPr>
          <p:cNvPr id="19" name="Text 16"/>
          <p:cNvSpPr/>
          <p:nvPr/>
        </p:nvSpPr>
        <p:spPr>
          <a:xfrm>
            <a:off x="7421960" y="5093791"/>
            <a:ext cx="4337578" cy="128508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The GenAI Divide: State of AI in Business 2025.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MIT Project NANDA, July 2025. Cross-sectional industry study</a:t>
            </a:r>
            <a:endParaRPr lang="en-US" sz="1800" dirty="0"/>
          </a:p>
        </p:txBody>
      </p:sp>
      <p:sp>
        <p:nvSpPr>
          <p:cNvPr id="20" name="Shape 17"/>
          <p:cNvSpPr/>
          <p:nvPr/>
        </p:nvSpPr>
        <p:spPr>
          <a:xfrm>
            <a:off x="6654800" y="6645573"/>
            <a:ext cx="614759" cy="317500"/>
          </a:xfrm>
          <a:prstGeom prst="roundRect">
            <a:avLst>
              <a:gd name="adj" fmla="val 6000"/>
            </a:avLst>
          </a:prstGeom>
          <a:ln w="6350">
            <a:solidFill>
              <a:srgbClr val="DCAFFF"/>
            </a:solidFill>
            <a:prstDash val="solid"/>
          </a:ln>
        </p:spPr>
      </p:sp>
      <p:sp>
        <p:nvSpPr>
          <p:cNvPr id="21" name="Text 18"/>
          <p:cNvSpPr/>
          <p:nvPr/>
        </p:nvSpPr>
        <p:spPr>
          <a:xfrm>
            <a:off x="6756400" y="6690023"/>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S14</a:t>
            </a:r>
            <a:endParaRPr lang="en-US" sz="1800" dirty="0"/>
          </a:p>
        </p:txBody>
      </p:sp>
      <p:sp>
        <p:nvSpPr>
          <p:cNvPr id="22" name="Text 19"/>
          <p:cNvSpPr/>
          <p:nvPr/>
        </p:nvSpPr>
        <p:spPr>
          <a:xfrm>
            <a:off x="7421960" y="6626523"/>
            <a:ext cx="4337578" cy="97651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Over 40 percent of agentic AI projects will be canceled by end of 2027.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Gartner, June 25, 2025. Forecast</a:t>
            </a:r>
            <a:endParaRPr lang="en-US" sz="1800" dirty="0"/>
          </a:p>
        </p:txBody>
      </p:sp>
      <p:sp>
        <p:nvSpPr>
          <p:cNvPr id="23" name="Shape 20"/>
          <p:cNvSpPr/>
          <p:nvPr/>
        </p:nvSpPr>
        <p:spPr>
          <a:xfrm>
            <a:off x="12166600" y="3888681"/>
            <a:ext cx="614759" cy="317500"/>
          </a:xfrm>
          <a:prstGeom prst="roundRect">
            <a:avLst>
              <a:gd name="adj" fmla="val 6000"/>
            </a:avLst>
          </a:prstGeom>
          <a:ln w="6350">
            <a:solidFill>
              <a:srgbClr val="DCAFFF"/>
            </a:solidFill>
            <a:prstDash val="solid"/>
          </a:ln>
        </p:spPr>
      </p:sp>
      <p:sp>
        <p:nvSpPr>
          <p:cNvPr id="24" name="Text 21"/>
          <p:cNvSpPr/>
          <p:nvPr/>
        </p:nvSpPr>
        <p:spPr>
          <a:xfrm>
            <a:off x="12268200" y="3933131"/>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S15</a:t>
            </a:r>
            <a:endParaRPr lang="en-US" sz="1800" dirty="0"/>
          </a:p>
        </p:txBody>
      </p:sp>
      <p:sp>
        <p:nvSpPr>
          <p:cNvPr id="25" name="Text 22"/>
          <p:cNvSpPr/>
          <p:nvPr/>
        </p:nvSpPr>
        <p:spPr>
          <a:xfrm>
            <a:off x="12933759" y="3869631"/>
            <a:ext cx="4337578" cy="66159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Artificial Intelligence Acquisitions.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GAO-26-107859, April 13, 2026</a:t>
            </a:r>
            <a:endParaRPr lang="en-US" sz="1800" dirty="0"/>
          </a:p>
        </p:txBody>
      </p:sp>
      <p:sp>
        <p:nvSpPr>
          <p:cNvPr id="26" name="Shape 23"/>
          <p:cNvSpPr/>
          <p:nvPr/>
        </p:nvSpPr>
        <p:spPr>
          <a:xfrm>
            <a:off x="12166600" y="5112841"/>
            <a:ext cx="614759" cy="317500"/>
          </a:xfrm>
          <a:prstGeom prst="roundRect">
            <a:avLst>
              <a:gd name="adj" fmla="val 6000"/>
            </a:avLst>
          </a:prstGeom>
          <a:ln w="6350">
            <a:solidFill>
              <a:srgbClr val="DCAFFF"/>
            </a:solidFill>
            <a:prstDash val="solid"/>
          </a:ln>
        </p:spPr>
      </p:sp>
      <p:sp>
        <p:nvSpPr>
          <p:cNvPr id="27" name="Text 24"/>
          <p:cNvSpPr/>
          <p:nvPr/>
        </p:nvSpPr>
        <p:spPr>
          <a:xfrm>
            <a:off x="12268200" y="5157291"/>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S16</a:t>
            </a:r>
            <a:endParaRPr lang="en-US" sz="1800" dirty="0"/>
          </a:p>
        </p:txBody>
      </p:sp>
      <p:sp>
        <p:nvSpPr>
          <p:cNvPr id="28" name="Text 25"/>
          <p:cNvSpPr/>
          <p:nvPr/>
        </p:nvSpPr>
        <p:spPr>
          <a:xfrm>
            <a:off x="12933759" y="5093791"/>
            <a:ext cx="4337578" cy="66794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Air Force Doctrine Note 25-1, Artificial Intelligence.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Published April 8, 2025</a:t>
            </a:r>
            <a:endParaRPr lang="en-US" sz="1800" dirty="0"/>
          </a:p>
        </p:txBody>
      </p:sp>
      <p:sp>
        <p:nvSpPr>
          <p:cNvPr id="29" name="Text 26"/>
          <p:cNvSpPr/>
          <p:nvPr/>
        </p:nvSpPr>
        <p:spPr>
          <a:xfrm>
            <a:off x="1143000" y="9197380"/>
            <a:ext cx="6440716"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Full citations and URLs in the run-of-show leave-behind</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800100"/>
            <a:ext cx="1513126"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b="1" spc="216" kern="0" dirty="0">
                <a:solidFill>
                  <a:srgbClr val="A100FF"/>
                </a:solidFill>
                <a:latin typeface="Arial" pitchFamily="34" charset="0"/>
                <a:ea typeface="Arial" pitchFamily="34" charset="-122"/>
                <a:cs typeface="Arial" pitchFamily="34" charset="-120"/>
              </a:rPr>
              <a:t>APPENDIX</a:t>
            </a:r>
            <a:endParaRPr lang="en-US" sz="1800" dirty="0"/>
          </a:p>
        </p:txBody>
      </p:sp>
      <p:pic>
        <p:nvPicPr>
          <p:cNvPr id="3" name="Image 0" descr="preencoded.png">    </p:cNvPr>
          <p:cNvPicPr>
            <a:picLocks noChangeAspect="1"/>
          </p:cNvPicPr>
          <p:nvPr/>
        </p:nvPicPr>
        <p:blipFill>
          <a:blip r:embed="rId1"/>
          <a:stretch>
            <a:fillRect/>
          </a:stretch>
        </p:blipFill>
        <p:spPr>
          <a:xfrm>
            <a:off x="16132870" y="849610"/>
            <a:ext cx="1012131" cy="266700"/>
          </a:xfrm>
          <a:prstGeom prst="rect">
            <a:avLst/>
          </a:prstGeom>
        </p:spPr>
      </p:pic>
      <p:sp>
        <p:nvSpPr>
          <p:cNvPr id="4" name="Text 1"/>
          <p:cNvSpPr/>
          <p:nvPr/>
        </p:nvSpPr>
        <p:spPr>
          <a:xfrm>
            <a:off x="1143000" y="1584920"/>
            <a:ext cx="17602200" cy="614164"/>
          </a:xfrm>
          <a:prstGeom prst="rect">
            <a:avLst/>
          </a:prstGeom>
          <a:noFill/>
          <a:ln/>
        </p:spPr>
        <p:txBody>
          <a:bodyPr wrap="square" lIns="25400" tIns="25400" rIns="25400" bIns="25400" rtlCol="0" anchor="t">
            <a:normAutofit/>
          </a:bodyPr>
          <a:lstStyle/>
          <a:p>
            <a:pPr algn="l" indent="0" marL="0">
              <a:lnSpc>
                <a:spcPct val="93526"/>
              </a:lnSpc>
              <a:buNone/>
            </a:pPr>
            <a:r>
              <a:rPr lang="en-US" sz="4200" b="1" spc="-84" kern="0" dirty="0">
                <a:solidFill>
                  <a:srgbClr val="000000"/>
                </a:solidFill>
                <a:latin typeface="Arial" pitchFamily="34" charset="0"/>
                <a:ea typeface="Arial" pitchFamily="34" charset="-122"/>
                <a:cs typeface="Arial" pitchFamily="34" charset="-120"/>
              </a:rPr>
              <a:t>Sources, S17 to S24</a:t>
            </a:r>
            <a:endParaRPr lang="en-US" sz="4200" dirty="0"/>
          </a:p>
        </p:txBody>
      </p:sp>
      <p:sp>
        <p:nvSpPr>
          <p:cNvPr id="5" name="Shape 2"/>
          <p:cNvSpPr/>
          <p:nvPr/>
        </p:nvSpPr>
        <p:spPr>
          <a:xfrm>
            <a:off x="1143000" y="3632795"/>
            <a:ext cx="614759" cy="317500"/>
          </a:xfrm>
          <a:prstGeom prst="roundRect">
            <a:avLst>
              <a:gd name="adj" fmla="val 6000"/>
            </a:avLst>
          </a:prstGeom>
          <a:ln w="6350">
            <a:solidFill>
              <a:srgbClr val="DCAFFF"/>
            </a:solidFill>
            <a:prstDash val="solid"/>
          </a:ln>
        </p:spPr>
      </p:sp>
      <p:sp>
        <p:nvSpPr>
          <p:cNvPr id="6" name="Text 3"/>
          <p:cNvSpPr/>
          <p:nvPr/>
        </p:nvSpPr>
        <p:spPr>
          <a:xfrm>
            <a:off x="1244600" y="3677245"/>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S17</a:t>
            </a:r>
            <a:endParaRPr lang="en-US" sz="1800" dirty="0"/>
          </a:p>
        </p:txBody>
      </p:sp>
      <p:sp>
        <p:nvSpPr>
          <p:cNvPr id="7" name="Text 4"/>
          <p:cNvSpPr/>
          <p:nvPr/>
        </p:nvSpPr>
        <p:spPr>
          <a:xfrm>
            <a:off x="1910159" y="3613745"/>
            <a:ext cx="7058426" cy="97651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Autonomy and Agency in Agentic AI. Two-axis autonomy and agency design space, five levels each, plus six architectural tactics.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Safin and Balta, fortiss GmbH. arXiv 2605.12105, May 12, 2026</a:t>
            </a:r>
            <a:endParaRPr lang="en-US" sz="1800" dirty="0"/>
          </a:p>
        </p:txBody>
      </p:sp>
      <p:sp>
        <p:nvSpPr>
          <p:cNvPr id="8" name="Shape 5"/>
          <p:cNvSpPr/>
          <p:nvPr/>
        </p:nvSpPr>
        <p:spPr>
          <a:xfrm>
            <a:off x="1143000" y="4818856"/>
            <a:ext cx="614759" cy="317500"/>
          </a:xfrm>
          <a:prstGeom prst="roundRect">
            <a:avLst>
              <a:gd name="adj" fmla="val 6000"/>
            </a:avLst>
          </a:prstGeom>
          <a:ln w="6350">
            <a:solidFill>
              <a:srgbClr val="DCAFFF"/>
            </a:solidFill>
            <a:prstDash val="solid"/>
          </a:ln>
        </p:spPr>
      </p:sp>
      <p:sp>
        <p:nvSpPr>
          <p:cNvPr id="9" name="Text 6"/>
          <p:cNvSpPr/>
          <p:nvPr/>
        </p:nvSpPr>
        <p:spPr>
          <a:xfrm>
            <a:off x="1244600" y="4863306"/>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S18</a:t>
            </a:r>
            <a:endParaRPr lang="en-US" sz="1800" dirty="0"/>
          </a:p>
        </p:txBody>
      </p:sp>
      <p:sp>
        <p:nvSpPr>
          <p:cNvPr id="10" name="Text 7"/>
          <p:cNvSpPr/>
          <p:nvPr/>
        </p:nvSpPr>
        <p:spPr>
          <a:xfrm>
            <a:off x="1910159" y="4799806"/>
            <a:ext cx="4799132" cy="353020"/>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OWASP Top 10 for LLM Applications.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2025</a:t>
            </a:r>
            <a:endParaRPr lang="en-US" sz="1800" dirty="0"/>
          </a:p>
        </p:txBody>
      </p:sp>
      <p:sp>
        <p:nvSpPr>
          <p:cNvPr id="11" name="Shape 8"/>
          <p:cNvSpPr/>
          <p:nvPr/>
        </p:nvSpPr>
        <p:spPr>
          <a:xfrm>
            <a:off x="1143000" y="5689997"/>
            <a:ext cx="614759" cy="317500"/>
          </a:xfrm>
          <a:prstGeom prst="roundRect">
            <a:avLst>
              <a:gd name="adj" fmla="val 6000"/>
            </a:avLst>
          </a:prstGeom>
          <a:ln w="6350">
            <a:solidFill>
              <a:srgbClr val="DCAFFF"/>
            </a:solidFill>
            <a:prstDash val="solid"/>
          </a:ln>
        </p:spPr>
      </p:sp>
      <p:sp>
        <p:nvSpPr>
          <p:cNvPr id="12" name="Text 9"/>
          <p:cNvSpPr/>
          <p:nvPr/>
        </p:nvSpPr>
        <p:spPr>
          <a:xfrm>
            <a:off x="1244600" y="5734447"/>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S19</a:t>
            </a:r>
            <a:endParaRPr lang="en-US" sz="1800" dirty="0"/>
          </a:p>
        </p:txBody>
      </p:sp>
      <p:sp>
        <p:nvSpPr>
          <p:cNvPr id="13" name="Text 10"/>
          <p:cNvSpPr/>
          <p:nvPr/>
        </p:nvSpPr>
        <p:spPr>
          <a:xfrm>
            <a:off x="1910159" y="5670947"/>
            <a:ext cx="6470075" cy="353020"/>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NIST AI RMF, AI 100-1, and NIST SP 800-53 Rev. 5.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NIST</a:t>
            </a:r>
            <a:endParaRPr lang="en-US" sz="1800" dirty="0"/>
          </a:p>
        </p:txBody>
      </p:sp>
      <p:sp>
        <p:nvSpPr>
          <p:cNvPr id="14" name="Shape 11"/>
          <p:cNvSpPr/>
          <p:nvPr/>
        </p:nvSpPr>
        <p:spPr>
          <a:xfrm>
            <a:off x="1143000" y="6869708"/>
            <a:ext cx="614759" cy="317500"/>
          </a:xfrm>
          <a:prstGeom prst="roundRect">
            <a:avLst>
              <a:gd name="adj" fmla="val 6000"/>
            </a:avLst>
          </a:prstGeom>
          <a:ln w="6350">
            <a:solidFill>
              <a:srgbClr val="DCAFFF"/>
            </a:solidFill>
            <a:prstDash val="solid"/>
          </a:ln>
        </p:spPr>
      </p:sp>
      <p:sp>
        <p:nvSpPr>
          <p:cNvPr id="15" name="Text 12"/>
          <p:cNvSpPr/>
          <p:nvPr/>
        </p:nvSpPr>
        <p:spPr>
          <a:xfrm>
            <a:off x="1244600" y="6914158"/>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S20</a:t>
            </a:r>
            <a:endParaRPr lang="en-US" sz="1800" dirty="0"/>
          </a:p>
        </p:txBody>
      </p:sp>
      <p:sp>
        <p:nvSpPr>
          <p:cNvPr id="16" name="Text 13"/>
          <p:cNvSpPr/>
          <p:nvPr/>
        </p:nvSpPr>
        <p:spPr>
          <a:xfrm>
            <a:off x="1910159" y="6850658"/>
            <a:ext cx="7058426" cy="66159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Customer-facing ordering bot completes programming homework.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Media reporting, 2026</a:t>
            </a:r>
            <a:endParaRPr lang="en-US" sz="1800" dirty="0"/>
          </a:p>
        </p:txBody>
      </p:sp>
      <p:sp>
        <p:nvSpPr>
          <p:cNvPr id="17" name="Shape 14"/>
          <p:cNvSpPr/>
          <p:nvPr/>
        </p:nvSpPr>
        <p:spPr>
          <a:xfrm>
            <a:off x="9525000" y="3632795"/>
            <a:ext cx="614759" cy="317500"/>
          </a:xfrm>
          <a:prstGeom prst="roundRect">
            <a:avLst>
              <a:gd name="adj" fmla="val 6000"/>
            </a:avLst>
          </a:prstGeom>
          <a:ln w="6350">
            <a:solidFill>
              <a:srgbClr val="DCAFFF"/>
            </a:solidFill>
            <a:prstDash val="solid"/>
          </a:ln>
        </p:spPr>
      </p:sp>
      <p:sp>
        <p:nvSpPr>
          <p:cNvPr id="18" name="Text 15"/>
          <p:cNvSpPr/>
          <p:nvPr/>
        </p:nvSpPr>
        <p:spPr>
          <a:xfrm>
            <a:off x="9626600" y="3677245"/>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S21</a:t>
            </a:r>
            <a:endParaRPr lang="en-US" sz="1800" dirty="0"/>
          </a:p>
        </p:txBody>
      </p:sp>
      <p:sp>
        <p:nvSpPr>
          <p:cNvPr id="19" name="Text 16"/>
          <p:cNvSpPr/>
          <p:nvPr/>
        </p:nvSpPr>
        <p:spPr>
          <a:xfrm>
            <a:off x="10292160" y="3613745"/>
            <a:ext cx="7058426" cy="97651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PANDA, Predictive Analytics and Decision Assistant. Rapid Sustainment Office.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Selected as an Air Force system of record. DefenseScoop, May 10, 2023</a:t>
            </a:r>
            <a:endParaRPr lang="en-US" sz="1800" dirty="0"/>
          </a:p>
        </p:txBody>
      </p:sp>
      <p:sp>
        <p:nvSpPr>
          <p:cNvPr id="20" name="Shape 17"/>
          <p:cNvSpPr/>
          <p:nvPr/>
        </p:nvSpPr>
        <p:spPr>
          <a:xfrm>
            <a:off x="9525000" y="4818856"/>
            <a:ext cx="614759" cy="317500"/>
          </a:xfrm>
          <a:prstGeom prst="roundRect">
            <a:avLst>
              <a:gd name="adj" fmla="val 6000"/>
            </a:avLst>
          </a:prstGeom>
          <a:ln w="6350">
            <a:solidFill>
              <a:srgbClr val="DCAFFF"/>
            </a:solidFill>
            <a:prstDash val="solid"/>
          </a:ln>
        </p:spPr>
      </p:sp>
      <p:sp>
        <p:nvSpPr>
          <p:cNvPr id="21" name="Text 18"/>
          <p:cNvSpPr/>
          <p:nvPr/>
        </p:nvSpPr>
        <p:spPr>
          <a:xfrm>
            <a:off x="9626600" y="4863306"/>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S22</a:t>
            </a:r>
            <a:endParaRPr lang="en-US" sz="1800" dirty="0"/>
          </a:p>
        </p:txBody>
      </p:sp>
      <p:sp>
        <p:nvSpPr>
          <p:cNvPr id="22" name="Text 19"/>
          <p:cNvSpPr/>
          <p:nvPr/>
        </p:nvSpPr>
        <p:spPr>
          <a:xfrm>
            <a:off x="10292160" y="4799806"/>
            <a:ext cx="7058426" cy="66159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Air Force Proficiency Code Key.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CFETP 2R1X1 and CFETP 3S2X1. Confirmed 26 August 2026</a:t>
            </a:r>
            <a:endParaRPr lang="en-US" sz="1800" dirty="0"/>
          </a:p>
        </p:txBody>
      </p:sp>
      <p:sp>
        <p:nvSpPr>
          <p:cNvPr id="23" name="Shape 20"/>
          <p:cNvSpPr/>
          <p:nvPr/>
        </p:nvSpPr>
        <p:spPr>
          <a:xfrm>
            <a:off x="9525000" y="5689997"/>
            <a:ext cx="614759" cy="317500"/>
          </a:xfrm>
          <a:prstGeom prst="roundRect">
            <a:avLst>
              <a:gd name="adj" fmla="val 6000"/>
            </a:avLst>
          </a:prstGeom>
          <a:ln w="6350">
            <a:solidFill>
              <a:srgbClr val="DCAFFF"/>
            </a:solidFill>
            <a:prstDash val="solid"/>
          </a:ln>
        </p:spPr>
      </p:sp>
      <p:sp>
        <p:nvSpPr>
          <p:cNvPr id="24" name="Text 21"/>
          <p:cNvSpPr/>
          <p:nvPr/>
        </p:nvSpPr>
        <p:spPr>
          <a:xfrm>
            <a:off x="9626600" y="5734447"/>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S23</a:t>
            </a:r>
            <a:endParaRPr lang="en-US" sz="1800" dirty="0"/>
          </a:p>
        </p:txBody>
      </p:sp>
      <p:sp>
        <p:nvSpPr>
          <p:cNvPr id="25" name="Text 22"/>
          <p:cNvSpPr/>
          <p:nvPr/>
        </p:nvSpPr>
        <p:spPr>
          <a:xfrm>
            <a:off x="10292160" y="5670947"/>
            <a:ext cx="7058426" cy="97016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The 10-20-70 rule of AI transformation.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Boston Consulting Group. Roughly 10 percent algorithms, 20 percent technology and data, 70 percent people and process</a:t>
            </a:r>
            <a:endParaRPr lang="en-US" sz="1800" dirty="0"/>
          </a:p>
        </p:txBody>
      </p:sp>
      <p:sp>
        <p:nvSpPr>
          <p:cNvPr id="26" name="Shape 23"/>
          <p:cNvSpPr/>
          <p:nvPr/>
        </p:nvSpPr>
        <p:spPr>
          <a:xfrm>
            <a:off x="9525000" y="6869708"/>
            <a:ext cx="614759" cy="317500"/>
          </a:xfrm>
          <a:prstGeom prst="roundRect">
            <a:avLst>
              <a:gd name="adj" fmla="val 6000"/>
            </a:avLst>
          </a:prstGeom>
          <a:ln w="6350">
            <a:solidFill>
              <a:srgbClr val="DCAFFF"/>
            </a:solidFill>
            <a:prstDash val="solid"/>
          </a:ln>
        </p:spPr>
      </p:sp>
      <p:sp>
        <p:nvSpPr>
          <p:cNvPr id="27" name="Text 24"/>
          <p:cNvSpPr/>
          <p:nvPr/>
        </p:nvSpPr>
        <p:spPr>
          <a:xfrm>
            <a:off x="9626600" y="6914158"/>
            <a:ext cx="473035" cy="266700"/>
          </a:xfrm>
          <a:prstGeom prst="rect">
            <a:avLst/>
          </a:prstGeom>
          <a:noFill/>
          <a:ln/>
        </p:spPr>
        <p:txBody>
          <a:bodyPr wrap="none" lIns="25400" tIns="25400" rIns="25400" bIns="25400" rtlCol="0" anchor="t">
            <a:normAutofit/>
          </a:bodyPr>
          <a:lstStyle/>
          <a:p>
            <a:pPr algn="l" indent="0" marL="0">
              <a:lnSpc>
                <a:spcPct val="87805"/>
              </a:lnSpc>
              <a:buNone/>
            </a:pPr>
            <a:r>
              <a:rPr lang="en-US" sz="1800" dirty="0">
                <a:solidFill>
                  <a:srgbClr val="7500C0"/>
                </a:solidFill>
                <a:latin typeface="Courier New" pitchFamily="34" charset="0"/>
                <a:ea typeface="Courier New" pitchFamily="34" charset="-122"/>
                <a:cs typeface="Courier New" pitchFamily="34" charset="-120"/>
              </a:rPr>
              <a:t>S24</a:t>
            </a:r>
            <a:endParaRPr lang="en-US" sz="1800" dirty="0"/>
          </a:p>
        </p:txBody>
      </p:sp>
      <p:sp>
        <p:nvSpPr>
          <p:cNvPr id="28" name="Text 25"/>
          <p:cNvSpPr/>
          <p:nvPr/>
        </p:nvSpPr>
        <p:spPr>
          <a:xfrm>
            <a:off x="10292160" y="6850658"/>
            <a:ext cx="7058426" cy="970161"/>
          </a:xfrm>
          <a:prstGeom prst="rect">
            <a:avLst/>
          </a:prstGeom>
          <a:noFill/>
          <a:ln/>
        </p:spPr>
        <p:txBody>
          <a:bodyPr wrap="square" lIns="25400" tIns="25400" rIns="25400" bIns="25400" rtlCol="0" anchor="t">
            <a:normAutofit/>
          </a:bodyPr>
          <a:lstStyle/>
          <a:p>
            <a:pPr algn="l" indent="0" marL="0">
              <a:lnSpc>
                <a:spcPct val="115714"/>
              </a:lnSpc>
              <a:buNone/>
            </a:pPr>
            <a:r>
              <a:rPr lang="en-US" sz="1800" b="1" dirty="0">
                <a:solidFill>
                  <a:srgbClr val="000000"/>
                </a:solidFill>
                <a:latin typeface="Arial" pitchFamily="34" charset="0"/>
                <a:ea typeface="Arial" pitchFamily="34" charset="-122"/>
                <a:cs typeface="Arial" pitchFamily="34" charset="-120"/>
              </a:rPr>
              <a:t>Large reasoning models as autonomous jailbreak agents. </a:t>
            </a:r>
            <a:pPr algn="l" indent="0" marL="0">
              <a:lnSpc>
                <a:spcPct val="115714"/>
              </a:lnSpc>
              <a:buNone/>
            </a:pPr>
            <a:r>
              <a:rPr lang="en-US" sz="1800" dirty="0">
                <a:solidFill>
                  <a:srgbClr val="96968C"/>
                </a:solidFill>
                <a:latin typeface="Arial" pitchFamily="34" charset="0"/>
                <a:ea typeface="Arial" pitchFamily="34" charset="-122"/>
                <a:cs typeface="Arial" pitchFamily="34" charset="-120"/>
              </a:rPr>
              <a:t>Nature Communications, 2026. 97.14 percent jailbreak success rate across model combinations</a:t>
            </a:r>
            <a:endParaRPr lang="en-US" sz="1800" dirty="0"/>
          </a:p>
        </p:txBody>
      </p:sp>
      <p:sp>
        <p:nvSpPr>
          <p:cNvPr id="29" name="Text 26"/>
          <p:cNvSpPr/>
          <p:nvPr/>
        </p:nvSpPr>
        <p:spPr>
          <a:xfrm>
            <a:off x="1143000" y="9197380"/>
            <a:ext cx="6440716" cy="403820"/>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96968C"/>
                </a:solidFill>
                <a:latin typeface="Arial" pitchFamily="34" charset="0"/>
                <a:ea typeface="Arial" pitchFamily="34" charset="-122"/>
                <a:cs typeface="Arial" pitchFamily="34" charset="-120"/>
              </a:rPr>
              <a:t>Full citations and URLs in the run-of-show leave-behind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2026-08-26T11:40:47Z</dcterms:created>
  <dcterms:modified xsi:type="dcterms:W3CDTF">2026-08-26T11:40:47Z</dcterms:modified>
</cp:coreProperties>
</file>